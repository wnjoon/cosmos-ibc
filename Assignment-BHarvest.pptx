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66" r:id="rId4"/>
    <p:sldId id="260" r:id="rId5"/>
    <p:sldId id="259" r:id="rId6"/>
    <p:sldId id="261" r:id="rId7"/>
    <p:sldId id="274" r:id="rId8"/>
    <p:sldId id="262" r:id="rId9"/>
    <p:sldId id="263" r:id="rId10"/>
    <p:sldId id="264" r:id="rId11"/>
    <p:sldId id="265" r:id="rId12"/>
    <p:sldId id="258" r:id="rId13"/>
    <p:sldId id="267" r:id="rId14"/>
    <p:sldId id="268" r:id="rId15"/>
    <p:sldId id="269" r:id="rId16"/>
    <p:sldId id="270" r:id="rId17"/>
    <p:sldId id="271" r:id="rId18"/>
    <p:sldId id="272" r:id="rId19"/>
    <p:sldId id="273"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0B298E-2F0C-B54E-AC55-1AB704842103}">
          <p14:sldIdLst>
            <p14:sldId id="256"/>
            <p14:sldId id="257"/>
          </p14:sldIdLst>
        </p14:section>
        <p14:section name="1. IBC 프로토콜 보안 모델 분석" id="{2314732D-7DF6-854A-9CE7-AA72709FE850}">
          <p14:sldIdLst>
            <p14:sldId id="266"/>
            <p14:sldId id="260"/>
            <p14:sldId id="259"/>
            <p14:sldId id="261"/>
            <p14:sldId id="274"/>
            <p14:sldId id="262"/>
            <p14:sldId id="263"/>
            <p14:sldId id="264"/>
            <p14:sldId id="265"/>
          </p14:sldIdLst>
        </p14:section>
        <p14:section name="2. IBC와 타 Bridge와의 보안 모델 비교 분석" id="{2C77EA6C-D767-B44E-86C5-C3EB81E368CF}">
          <p14:sldIdLst>
            <p14:sldId id="258"/>
            <p14:sldId id="267"/>
            <p14:sldId id="268"/>
            <p14:sldId id="269"/>
          </p14:sldIdLst>
        </p14:section>
        <p14:section name="3. IBC 토큰 전송 절차 분석" id="{9D75E6F2-47BF-BF4B-898B-8F3FE1AA3E3C}">
          <p14:sldIdLst>
            <p14:sldId id="270"/>
            <p14:sldId id="271"/>
            <p14:sldId id="272"/>
            <p14:sldId id="273"/>
            <p14:sldId id="275"/>
            <p14:sldId id="276"/>
            <p14:sldId id="277"/>
            <p14:sldId id="278"/>
            <p14:sldId id="279"/>
            <p14:sldId id="280"/>
            <p14:sldId id="281"/>
            <p14:sldId id="282"/>
            <p14:sldId id="283"/>
            <p14:sldId id="284"/>
            <p14:sldId id="285"/>
            <p14:sldId id="286"/>
            <p14:sldId id="2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79"/>
    <p:restoredTop sz="58454"/>
  </p:normalViewPr>
  <p:slideViewPr>
    <p:cSldViewPr snapToGrid="0">
      <p:cViewPr>
        <p:scale>
          <a:sx n="80" d="100"/>
          <a:sy n="80" d="100"/>
        </p:scale>
        <p:origin x="928"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A4609-4C4E-0548-B268-48B13FFFD9F3}" type="datetimeFigureOut">
              <a:rPr lang="en-KR" smtClean="0"/>
              <a:t>8/27/24</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F19458-6438-6D4C-8871-C414D67D65FB}" type="slidenum">
              <a:rPr lang="en-KR" smtClean="0"/>
              <a:t>‹#›</a:t>
            </a:fld>
            <a:endParaRPr lang="en-KR"/>
          </a:p>
        </p:txBody>
      </p:sp>
    </p:spTree>
    <p:extLst>
      <p:ext uri="{BB962C8B-B14F-4D97-AF65-F5344CB8AC3E}">
        <p14:creationId xmlns:p14="http://schemas.microsoft.com/office/powerpoint/2010/main" val="3534183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cosmos/ibc/tree/master/spec/relayer/ics-018-relayer-algorithm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effectLst/>
                <a:latin typeface="Inter var"/>
              </a:rPr>
              <a:t>The chains depend on </a:t>
            </a:r>
            <a:r>
              <a:rPr lang="en-US" b="0" i="0" dirty="0" err="1">
                <a:effectLst/>
                <a:latin typeface="Inter var"/>
              </a:rPr>
              <a:t>relayers</a:t>
            </a:r>
            <a:r>
              <a:rPr lang="en-US" b="0" i="0" dirty="0">
                <a:effectLst/>
                <a:latin typeface="Inter var"/>
              </a:rPr>
              <a:t> to communicate. Relayer algorithms (</a:t>
            </a:r>
            <a:r>
              <a:rPr lang="en-US" b="0" i="0" u="sng" dirty="0">
                <a:effectLst/>
                <a:latin typeface="Inter var"/>
                <a:hlinkClick r:id="rId3"/>
              </a:rPr>
              <a:t>ICS-18 (opens new window)</a:t>
            </a:r>
            <a:r>
              <a:rPr lang="en-US" b="0" i="0" dirty="0">
                <a:effectLst/>
                <a:latin typeface="Inter var"/>
              </a:rPr>
              <a:t>) are the "physical" connection layer of IBC: off-chain processes responsible for relaying data between two chains running the IBC protocol by scanning the state of each chain, constructing appropriate datagrams, and executing them on the opposite chain as is allowed by the protocol.</a:t>
            </a:r>
          </a:p>
        </p:txBody>
      </p:sp>
      <p:sp>
        <p:nvSpPr>
          <p:cNvPr id="4" name="Slide Number Placeholder 3"/>
          <p:cNvSpPr>
            <a:spLocks noGrp="1"/>
          </p:cNvSpPr>
          <p:nvPr>
            <p:ph type="sldNum" sz="quarter" idx="5"/>
          </p:nvPr>
        </p:nvSpPr>
        <p:spPr/>
        <p:txBody>
          <a:bodyPr/>
          <a:lstStyle/>
          <a:p>
            <a:fld id="{68F19458-6438-6D4C-8871-C414D67D65FB}" type="slidenum">
              <a:rPr lang="en-KR" smtClean="0"/>
              <a:t>4</a:t>
            </a:fld>
            <a:endParaRPr lang="en-KR"/>
          </a:p>
        </p:txBody>
      </p:sp>
    </p:spTree>
    <p:extLst>
      <p:ext uri="{BB962C8B-B14F-4D97-AF65-F5344CB8AC3E}">
        <p14:creationId xmlns:p14="http://schemas.microsoft.com/office/powerpoint/2010/main" val="283847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Can be created for any number of machine types and upgrades to chains which increment the </a:t>
            </a:r>
            <a:r>
              <a:rPr lang="en-US" sz="1200" dirty="0" err="1">
                <a:latin typeface="NanumGothic" panose="020D0604000000000000" pitchFamily="34" charset="-127"/>
                <a:ea typeface="NanumGothic" panose="020D0604000000000000" pitchFamily="34" charset="-127"/>
              </a:rPr>
              <a:t>chainID</a:t>
            </a:r>
            <a:r>
              <a:rPr lang="en-US" sz="1200" dirty="0">
                <a:latin typeface="NanumGothic" panose="020D0604000000000000" pitchFamily="34" charset="-127"/>
                <a:ea typeface="NanumGothic" panose="020D0604000000000000" pitchFamily="34" charset="-127"/>
              </a:rPr>
              <a:t> do not break the underlying IBC client and connections.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a:t>
            </a:r>
            <a:r>
              <a:rPr lang="ko-KR" altLang="en-US" sz="1200" dirty="0">
                <a:latin typeface="NanumGothic" panose="020D0604000000000000" pitchFamily="34" charset="-127"/>
                <a:ea typeface="NanumGothic" panose="020D0604000000000000" pitchFamily="34" charset="-127"/>
              </a:rPr>
              <a:t>체인과 직접적인 연결고리가 없기 때문</a:t>
            </a:r>
            <a:endParaRPr lang="en-US" sz="1200" dirty="0">
              <a:latin typeface="NanumGothic" panose="020D0604000000000000" pitchFamily="34" charset="-127"/>
              <a:ea typeface="NanumGothic" panose="020D0604000000000000" pitchFamily="34" charset="-127"/>
            </a:endParaRPr>
          </a:p>
          <a:p>
            <a:pPr algn="l">
              <a:buFont typeface="Arial" panose="020B0604020202020204" pitchFamily="34" charset="0"/>
              <a:buChar char="•"/>
            </a:pPr>
            <a:endParaRPr lang="en-US" b="0" i="0" dirty="0">
              <a:effectLst/>
              <a:latin typeface="Inter var"/>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5</a:t>
            </a:fld>
            <a:endParaRPr lang="en-KR"/>
          </a:p>
        </p:txBody>
      </p:sp>
    </p:spTree>
    <p:extLst>
      <p:ext uri="{BB962C8B-B14F-4D97-AF65-F5344CB8AC3E}">
        <p14:creationId xmlns:p14="http://schemas.microsoft.com/office/powerpoint/2010/main" val="2455164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Can be created for any number of machine types and upgrades to chains which increment the </a:t>
            </a:r>
            <a:r>
              <a:rPr lang="en-US" sz="1200" dirty="0" err="1">
                <a:latin typeface="NanumGothic" panose="020D0604000000000000" pitchFamily="34" charset="-127"/>
                <a:ea typeface="NanumGothic" panose="020D0604000000000000" pitchFamily="34" charset="-127"/>
              </a:rPr>
              <a:t>chainID</a:t>
            </a:r>
            <a:r>
              <a:rPr lang="en-US" sz="1200" dirty="0">
                <a:latin typeface="NanumGothic" panose="020D0604000000000000" pitchFamily="34" charset="-127"/>
                <a:ea typeface="NanumGothic" panose="020D0604000000000000" pitchFamily="34" charset="-127"/>
              </a:rPr>
              <a:t> do not break the underlying IBC client and connections.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a:t>
            </a:r>
            <a:r>
              <a:rPr lang="ko-KR" altLang="en-US" sz="1200" dirty="0">
                <a:latin typeface="NanumGothic" panose="020D0604000000000000" pitchFamily="34" charset="-127"/>
                <a:ea typeface="NanumGothic" panose="020D0604000000000000" pitchFamily="34" charset="-127"/>
              </a:rPr>
              <a:t>체인과 직접적인 연결고리가 없기 때문</a:t>
            </a:r>
            <a:endParaRPr lang="en-US" sz="1200" dirty="0">
              <a:latin typeface="NanumGothic" panose="020D0604000000000000" pitchFamily="34" charset="-127"/>
              <a:ea typeface="NanumGothic" panose="020D0604000000000000" pitchFamily="34" charset="-127"/>
            </a:endParaRPr>
          </a:p>
          <a:p>
            <a:pPr algn="l">
              <a:buFont typeface="Arial" panose="020B0604020202020204" pitchFamily="34" charset="0"/>
              <a:buChar char="•"/>
            </a:pPr>
            <a:endParaRPr lang="en-US" b="0" i="0" dirty="0">
              <a:effectLst/>
              <a:latin typeface="Inter var"/>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6</a:t>
            </a:fld>
            <a:endParaRPr lang="en-KR"/>
          </a:p>
        </p:txBody>
      </p:sp>
    </p:spTree>
    <p:extLst>
      <p:ext uri="{BB962C8B-B14F-4D97-AF65-F5344CB8AC3E}">
        <p14:creationId xmlns:p14="http://schemas.microsoft.com/office/powerpoint/2010/main" val="1469246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Can be created for any number of machine types and upgrades to chains which increment the </a:t>
            </a:r>
            <a:r>
              <a:rPr lang="en-US" sz="1200" dirty="0" err="1">
                <a:latin typeface="NanumGothic" panose="020D0604000000000000" pitchFamily="34" charset="-127"/>
                <a:ea typeface="NanumGothic" panose="020D0604000000000000" pitchFamily="34" charset="-127"/>
              </a:rPr>
              <a:t>chainID</a:t>
            </a:r>
            <a:r>
              <a:rPr lang="en-US" sz="1200" dirty="0">
                <a:latin typeface="NanumGothic" panose="020D0604000000000000" pitchFamily="34" charset="-127"/>
                <a:ea typeface="NanumGothic" panose="020D0604000000000000" pitchFamily="34" charset="-127"/>
              </a:rPr>
              <a:t> do not break the underlying IBC client and connections.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a:t>
            </a:r>
            <a:r>
              <a:rPr lang="ko-KR" altLang="en-US" sz="1200" dirty="0">
                <a:latin typeface="NanumGothic" panose="020D0604000000000000" pitchFamily="34" charset="-127"/>
                <a:ea typeface="NanumGothic" panose="020D0604000000000000" pitchFamily="34" charset="-127"/>
              </a:rPr>
              <a:t>체인과 직접적인 연결고리가 없기 때문</a:t>
            </a:r>
            <a:endParaRPr lang="en-US" sz="1200" dirty="0">
              <a:latin typeface="NanumGothic" panose="020D0604000000000000" pitchFamily="34" charset="-127"/>
              <a:ea typeface="NanumGothic" panose="020D0604000000000000" pitchFamily="34" charset="-127"/>
            </a:endParaRPr>
          </a:p>
          <a:p>
            <a:pPr algn="l">
              <a:buFont typeface="Arial" panose="020B0604020202020204" pitchFamily="34" charset="0"/>
              <a:buChar char="•"/>
            </a:pPr>
            <a:endParaRPr lang="en-US" b="0" i="0" dirty="0">
              <a:effectLst/>
              <a:latin typeface="Inter var"/>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7</a:t>
            </a:fld>
            <a:endParaRPr lang="en-KR"/>
          </a:p>
        </p:txBody>
      </p:sp>
    </p:spTree>
    <p:extLst>
      <p:ext uri="{BB962C8B-B14F-4D97-AF65-F5344CB8AC3E}">
        <p14:creationId xmlns:p14="http://schemas.microsoft.com/office/powerpoint/2010/main" val="3013460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err="1">
                <a:solidFill>
                  <a:srgbClr val="0E0E0E"/>
                </a:solidFill>
                <a:effectLst/>
                <a:latin typeface=".SF NS"/>
              </a:rPr>
              <a:t>이전코스모스</a:t>
            </a:r>
            <a:r>
              <a:rPr lang="ko-KR" altLang="en-US" dirty="0">
                <a:solidFill>
                  <a:srgbClr val="0E0E0E"/>
                </a:solidFill>
                <a:effectLst/>
                <a:latin typeface=".SF NS"/>
              </a:rPr>
              <a:t> 네트워크의 </a:t>
            </a:r>
            <a:r>
              <a:rPr lang="en-US" b="1" dirty="0" err="1">
                <a:solidFill>
                  <a:srgbClr val="0E0E0E"/>
                </a:solidFill>
                <a:effectLst/>
                <a:latin typeface=".SF NS"/>
              </a:rPr>
              <a:t>Tendermint</a:t>
            </a:r>
            <a:r>
              <a:rPr lang="en-US" b="1" dirty="0">
                <a:solidFill>
                  <a:srgbClr val="0E0E0E"/>
                </a:solidFill>
                <a:effectLst/>
                <a:latin typeface=".SF NS"/>
              </a:rPr>
              <a:t> </a:t>
            </a:r>
            <a:r>
              <a:rPr lang="ko-KR" altLang="en-US" b="1" dirty="0">
                <a:solidFill>
                  <a:srgbClr val="0E0E0E"/>
                </a:solidFill>
                <a:effectLst/>
                <a:latin typeface=".SF NS"/>
              </a:rPr>
              <a:t>합의 알고리즘</a:t>
            </a:r>
            <a:r>
              <a:rPr lang="ko-KR" altLang="en-US" dirty="0">
                <a:solidFill>
                  <a:srgbClr val="0E0E0E"/>
                </a:solidFill>
                <a:effectLst/>
                <a:latin typeface=".SF NS"/>
              </a:rPr>
              <a:t>에서는 </a:t>
            </a:r>
            <a:r>
              <a:rPr lang="ko-KR" altLang="en-US" dirty="0" err="1">
                <a:solidFill>
                  <a:srgbClr val="0E0E0E"/>
                </a:solidFill>
                <a:effectLst/>
                <a:latin typeface=".SF NS"/>
              </a:rPr>
              <a:t>검증자</a:t>
            </a:r>
            <a:r>
              <a:rPr lang="ko-KR" altLang="en-US" dirty="0">
                <a:solidFill>
                  <a:srgbClr val="0E0E0E"/>
                </a:solidFill>
                <a:effectLst/>
                <a:latin typeface=".SF NS"/>
              </a:rPr>
              <a:t> 집합</a:t>
            </a:r>
            <a:r>
              <a:rPr lang="en-US" altLang="ko-KR" dirty="0">
                <a:solidFill>
                  <a:srgbClr val="0E0E0E"/>
                </a:solidFill>
                <a:effectLst/>
                <a:latin typeface=".SF NS"/>
              </a:rPr>
              <a:t>(</a:t>
            </a:r>
            <a:r>
              <a:rPr lang="en-US" dirty="0">
                <a:solidFill>
                  <a:srgbClr val="0E0E0E"/>
                </a:solidFill>
                <a:effectLst/>
                <a:latin typeface=".SF NS"/>
              </a:rPr>
              <a:t>validator set)</a:t>
            </a:r>
            <a:r>
              <a:rPr lang="ko-KR" altLang="en-US" dirty="0">
                <a:solidFill>
                  <a:srgbClr val="0E0E0E"/>
                </a:solidFill>
                <a:effectLst/>
                <a:latin typeface=".SF NS"/>
              </a:rPr>
              <a:t>이 </a:t>
            </a:r>
            <a:r>
              <a:rPr lang="ko-KR" altLang="en-US" b="1" dirty="0">
                <a:solidFill>
                  <a:srgbClr val="0E0E0E"/>
                </a:solidFill>
                <a:effectLst/>
                <a:latin typeface=".SF NS"/>
              </a:rPr>
              <a:t>현재 블록을 생성하고 합의하는 시점이 아니라</a:t>
            </a:r>
            <a:r>
              <a:rPr lang="en-US" altLang="ko-KR" b="1" dirty="0">
                <a:solidFill>
                  <a:srgbClr val="0E0E0E"/>
                </a:solidFill>
                <a:effectLst/>
                <a:latin typeface=".SF NS"/>
              </a:rPr>
              <a:t>, </a:t>
            </a:r>
            <a:r>
              <a:rPr lang="ko-KR" altLang="en-US" b="1" dirty="0">
                <a:solidFill>
                  <a:srgbClr val="0E0E0E"/>
                </a:solidFill>
                <a:effectLst/>
                <a:latin typeface=".SF NS"/>
              </a:rPr>
              <a:t>이전 블록이 생성될 때</a:t>
            </a:r>
            <a:r>
              <a:rPr lang="ko-KR" altLang="en-US" dirty="0">
                <a:solidFill>
                  <a:srgbClr val="0E0E0E"/>
                </a:solidFill>
                <a:effectLst/>
                <a:latin typeface=".SF NS"/>
              </a:rPr>
              <a:t> 미리 결정됩니다</a:t>
            </a:r>
            <a:r>
              <a:rPr lang="en-US" altLang="ko-KR" dirty="0">
                <a:solidFill>
                  <a:srgbClr val="0E0E0E"/>
                </a:solidFill>
                <a:effectLst/>
                <a:latin typeface=".SF NS"/>
              </a:rPr>
              <a:t>.</a:t>
            </a:r>
          </a:p>
          <a:p>
            <a:br>
              <a:rPr lang="en-US" altLang="ko-KR" dirty="0">
                <a:solidFill>
                  <a:srgbClr val="0E0E0E"/>
                </a:solidFill>
                <a:effectLst/>
                <a:latin typeface=".SF NS"/>
              </a:rPr>
            </a:br>
            <a:endParaRPr lang="en-US" altLang="ko-KR" dirty="0">
              <a:solidFill>
                <a:srgbClr val="0E0E0E"/>
              </a:solidFill>
              <a:effectLst/>
              <a:latin typeface=".SF NS"/>
            </a:endParaRPr>
          </a:p>
          <a:p>
            <a:r>
              <a:rPr lang="ko-KR" altLang="en-US" dirty="0">
                <a:solidFill>
                  <a:srgbClr val="0E0E0E"/>
                </a:solidFill>
                <a:effectLst/>
                <a:latin typeface=".SF NS"/>
              </a:rPr>
              <a:t>이 과정을 조금 더 구체적으로 설명하면</a:t>
            </a:r>
            <a:r>
              <a:rPr lang="en-US" altLang="ko-KR" dirty="0">
                <a:solidFill>
                  <a:srgbClr val="0E0E0E"/>
                </a:solidFill>
                <a:effectLst/>
                <a:latin typeface=".SF NS"/>
              </a:rPr>
              <a:t>:</a:t>
            </a:r>
          </a:p>
          <a:p>
            <a:br>
              <a:rPr lang="en-US" altLang="ko-KR" dirty="0">
                <a:solidFill>
                  <a:srgbClr val="0E0E0E"/>
                </a:solidFill>
                <a:effectLst/>
                <a:latin typeface=".SF NS"/>
              </a:rPr>
            </a:br>
            <a:endParaRPr lang="en-US" altLang="ko-KR" dirty="0">
              <a:solidFill>
                <a:srgbClr val="0E0E0E"/>
              </a:solidFill>
              <a:effectLst/>
              <a:latin typeface=".SF NS"/>
            </a:endParaRPr>
          </a:p>
          <a:p>
            <a:r>
              <a:rPr lang="en-US" altLang="ko-KR" dirty="0">
                <a:solidFill>
                  <a:srgbClr val="0E0E0E"/>
                </a:solidFill>
                <a:effectLst/>
                <a:latin typeface="Times New Roman" panose="02020603050405020304" pitchFamily="18" charset="0"/>
              </a:rPr>
              <a:t>1. </a:t>
            </a:r>
            <a:r>
              <a:rPr lang="ko-KR" altLang="en-US" b="1" dirty="0">
                <a:solidFill>
                  <a:srgbClr val="0E0E0E"/>
                </a:solidFill>
                <a:effectLst/>
                <a:latin typeface=".SF NS"/>
              </a:rPr>
              <a:t>블록 </a:t>
            </a:r>
            <a:r>
              <a:rPr lang="en-US" b="1" dirty="0">
                <a:solidFill>
                  <a:srgbClr val="0E0E0E"/>
                </a:solidFill>
                <a:effectLst/>
                <a:latin typeface=".SF NS"/>
              </a:rPr>
              <a:t>N</a:t>
            </a:r>
            <a:r>
              <a:rPr lang="ko-KR" altLang="en-US" b="1" dirty="0">
                <a:solidFill>
                  <a:srgbClr val="0E0E0E"/>
                </a:solidFill>
                <a:effectLst/>
                <a:latin typeface=".SF NS"/>
              </a:rPr>
              <a:t>이 생성될 때</a:t>
            </a:r>
            <a:r>
              <a:rPr lang="en-US" altLang="ko-KR" dirty="0">
                <a:solidFill>
                  <a:srgbClr val="0E0E0E"/>
                </a:solidFill>
                <a:effectLst/>
                <a:latin typeface=".SF NS"/>
              </a:rPr>
              <a:t>:</a:t>
            </a:r>
          </a:p>
          <a:p>
            <a:r>
              <a:rPr lang="en-US" altLang="ko-KR" dirty="0">
                <a:solidFill>
                  <a:srgbClr val="0E0E0E"/>
                </a:solidFill>
                <a:effectLst/>
                <a:latin typeface=".SF NS"/>
              </a:rPr>
              <a:t>• </a:t>
            </a:r>
            <a:r>
              <a:rPr lang="ko-KR" altLang="en-US" dirty="0">
                <a:solidFill>
                  <a:srgbClr val="0E0E0E"/>
                </a:solidFill>
                <a:effectLst/>
                <a:latin typeface=".SF NS"/>
              </a:rPr>
              <a:t>블록 </a:t>
            </a:r>
            <a:r>
              <a:rPr lang="en-US" dirty="0">
                <a:solidFill>
                  <a:srgbClr val="0E0E0E"/>
                </a:solidFill>
                <a:effectLst/>
                <a:latin typeface=".SF NS"/>
              </a:rPr>
              <a:t>N</a:t>
            </a:r>
            <a:r>
              <a:rPr lang="ko-KR" altLang="en-US" dirty="0">
                <a:solidFill>
                  <a:srgbClr val="0E0E0E"/>
                </a:solidFill>
                <a:effectLst/>
                <a:latin typeface=".SF NS"/>
              </a:rPr>
              <a:t>의 검증은 **이전 블록</a:t>
            </a:r>
            <a:r>
              <a:rPr lang="en-US" altLang="ko-KR" dirty="0">
                <a:solidFill>
                  <a:srgbClr val="0E0E0E"/>
                </a:solidFill>
                <a:effectLst/>
                <a:latin typeface=".SF NS"/>
              </a:rPr>
              <a:t>(</a:t>
            </a:r>
            <a:r>
              <a:rPr lang="en-US" dirty="0">
                <a:solidFill>
                  <a:srgbClr val="0E0E0E"/>
                </a:solidFill>
                <a:effectLst/>
                <a:latin typeface=".SF NS"/>
              </a:rPr>
              <a:t>N-1)**</a:t>
            </a:r>
            <a:r>
              <a:rPr lang="ko-KR" altLang="en-US" dirty="0">
                <a:solidFill>
                  <a:srgbClr val="0E0E0E"/>
                </a:solidFill>
                <a:effectLst/>
                <a:latin typeface=".SF NS"/>
              </a:rPr>
              <a:t>에서 결정된 </a:t>
            </a:r>
            <a:r>
              <a:rPr lang="ko-KR" altLang="en-US" dirty="0" err="1">
                <a:solidFill>
                  <a:srgbClr val="0E0E0E"/>
                </a:solidFill>
                <a:effectLst/>
                <a:latin typeface=".SF NS"/>
              </a:rPr>
              <a:t>검증자</a:t>
            </a:r>
            <a:r>
              <a:rPr lang="ko-KR" altLang="en-US" dirty="0">
                <a:solidFill>
                  <a:srgbClr val="0E0E0E"/>
                </a:solidFill>
                <a:effectLst/>
                <a:latin typeface=".SF NS"/>
              </a:rPr>
              <a:t> 집합에 의해 이루어집니다</a:t>
            </a:r>
            <a:r>
              <a:rPr lang="en-US" altLang="ko-KR" dirty="0">
                <a:solidFill>
                  <a:srgbClr val="0E0E0E"/>
                </a:solidFill>
                <a:effectLst/>
                <a:latin typeface=".SF NS"/>
              </a:rPr>
              <a:t>.</a:t>
            </a:r>
          </a:p>
          <a:p>
            <a:r>
              <a:rPr lang="en-US" altLang="ko-KR" dirty="0">
                <a:solidFill>
                  <a:srgbClr val="0E0E0E"/>
                </a:solidFill>
                <a:effectLst/>
                <a:latin typeface=".SF NS"/>
              </a:rPr>
              <a:t>• </a:t>
            </a:r>
            <a:r>
              <a:rPr lang="ko-KR" altLang="en-US" dirty="0">
                <a:solidFill>
                  <a:srgbClr val="0E0E0E"/>
                </a:solidFill>
                <a:effectLst/>
                <a:latin typeface=".SF NS"/>
              </a:rPr>
              <a:t>이때 블록 </a:t>
            </a:r>
            <a:r>
              <a:rPr lang="en-US" dirty="0">
                <a:solidFill>
                  <a:srgbClr val="0E0E0E"/>
                </a:solidFill>
                <a:effectLst/>
                <a:latin typeface=".SF NS"/>
              </a:rPr>
              <a:t>N</a:t>
            </a:r>
            <a:r>
              <a:rPr lang="ko-KR" altLang="en-US" dirty="0">
                <a:solidFill>
                  <a:srgbClr val="0E0E0E"/>
                </a:solidFill>
                <a:effectLst/>
                <a:latin typeface=".SF NS"/>
              </a:rPr>
              <a:t>의 합의 과정에서는 **다음 블록</a:t>
            </a:r>
            <a:r>
              <a:rPr lang="en-US" altLang="ko-KR" dirty="0">
                <a:solidFill>
                  <a:srgbClr val="0E0E0E"/>
                </a:solidFill>
                <a:effectLst/>
                <a:latin typeface=".SF NS"/>
              </a:rPr>
              <a:t>(</a:t>
            </a:r>
            <a:r>
              <a:rPr lang="en-US" dirty="0">
                <a:solidFill>
                  <a:srgbClr val="0E0E0E"/>
                </a:solidFill>
                <a:effectLst/>
                <a:latin typeface=".SF NS"/>
              </a:rPr>
              <a:t>N+1)**</a:t>
            </a:r>
            <a:r>
              <a:rPr lang="ko-KR" altLang="en-US" dirty="0">
                <a:solidFill>
                  <a:srgbClr val="0E0E0E"/>
                </a:solidFill>
                <a:effectLst/>
                <a:latin typeface=".SF NS"/>
              </a:rPr>
              <a:t>을 검증할 </a:t>
            </a:r>
            <a:r>
              <a:rPr lang="ko-KR" altLang="en-US" dirty="0" err="1">
                <a:solidFill>
                  <a:srgbClr val="0E0E0E"/>
                </a:solidFill>
                <a:effectLst/>
                <a:latin typeface=".SF NS"/>
              </a:rPr>
              <a:t>검증자</a:t>
            </a:r>
            <a:r>
              <a:rPr lang="ko-KR" altLang="en-US" dirty="0">
                <a:solidFill>
                  <a:srgbClr val="0E0E0E"/>
                </a:solidFill>
                <a:effectLst/>
                <a:latin typeface=".SF NS"/>
              </a:rPr>
              <a:t> 집합</a:t>
            </a:r>
            <a:r>
              <a:rPr lang="en-US" altLang="ko-KR" dirty="0">
                <a:solidFill>
                  <a:srgbClr val="0E0E0E"/>
                </a:solidFill>
                <a:effectLst/>
                <a:latin typeface=".SF NS"/>
              </a:rPr>
              <a:t>(</a:t>
            </a:r>
            <a:r>
              <a:rPr lang="en-US" dirty="0">
                <a:solidFill>
                  <a:srgbClr val="0E0E0E"/>
                </a:solidFill>
                <a:effectLst/>
                <a:latin typeface=".SF NS"/>
              </a:rPr>
              <a:t>validator set)</a:t>
            </a:r>
            <a:r>
              <a:rPr lang="ko-KR" altLang="en-US" dirty="0">
                <a:solidFill>
                  <a:srgbClr val="0E0E0E"/>
                </a:solidFill>
                <a:effectLst/>
                <a:latin typeface=".SF NS"/>
              </a:rPr>
              <a:t>이 미리 결정됩니다</a:t>
            </a:r>
            <a:r>
              <a:rPr lang="en-US" altLang="ko-KR" dirty="0">
                <a:solidFill>
                  <a:srgbClr val="0E0E0E"/>
                </a:solidFill>
                <a:effectLst/>
                <a:latin typeface=".SF NS"/>
              </a:rPr>
              <a:t>.</a:t>
            </a:r>
          </a:p>
          <a:p>
            <a:r>
              <a:rPr lang="en-US" altLang="ko-KR" dirty="0">
                <a:solidFill>
                  <a:srgbClr val="0E0E0E"/>
                </a:solidFill>
                <a:effectLst/>
                <a:latin typeface="Times New Roman" panose="02020603050405020304" pitchFamily="18" charset="0"/>
              </a:rPr>
              <a:t>2. </a:t>
            </a:r>
            <a:r>
              <a:rPr lang="ko-KR" altLang="en-US" b="1" dirty="0">
                <a:solidFill>
                  <a:srgbClr val="0E0E0E"/>
                </a:solidFill>
                <a:effectLst/>
                <a:latin typeface=".SF NS"/>
              </a:rPr>
              <a:t>블록 </a:t>
            </a:r>
            <a:r>
              <a:rPr lang="en-US" b="1" dirty="0">
                <a:solidFill>
                  <a:srgbClr val="0E0E0E"/>
                </a:solidFill>
                <a:effectLst/>
                <a:latin typeface=".SF NS"/>
              </a:rPr>
              <a:t>N+1</a:t>
            </a:r>
            <a:r>
              <a:rPr lang="ko-KR" altLang="en-US" b="1" dirty="0">
                <a:solidFill>
                  <a:srgbClr val="0E0E0E"/>
                </a:solidFill>
                <a:effectLst/>
                <a:latin typeface=".SF NS"/>
              </a:rPr>
              <a:t>이 생성될 때</a:t>
            </a:r>
            <a:r>
              <a:rPr lang="en-US" altLang="ko-KR" dirty="0">
                <a:solidFill>
                  <a:srgbClr val="0E0E0E"/>
                </a:solidFill>
                <a:effectLst/>
                <a:latin typeface=".SF NS"/>
              </a:rPr>
              <a:t>:</a:t>
            </a:r>
          </a:p>
          <a:p>
            <a:r>
              <a:rPr lang="en-US" altLang="ko-KR" dirty="0">
                <a:solidFill>
                  <a:srgbClr val="0E0E0E"/>
                </a:solidFill>
                <a:effectLst/>
                <a:latin typeface=".SF NS"/>
              </a:rPr>
              <a:t>• </a:t>
            </a:r>
            <a:r>
              <a:rPr lang="ko-KR" altLang="en-US" dirty="0">
                <a:solidFill>
                  <a:srgbClr val="0E0E0E"/>
                </a:solidFill>
                <a:effectLst/>
                <a:latin typeface=".SF NS"/>
              </a:rPr>
              <a:t>블록 </a:t>
            </a:r>
            <a:r>
              <a:rPr lang="en-US" dirty="0">
                <a:solidFill>
                  <a:srgbClr val="0E0E0E"/>
                </a:solidFill>
                <a:effectLst/>
                <a:latin typeface=".SF NS"/>
              </a:rPr>
              <a:t>N+1</a:t>
            </a:r>
            <a:r>
              <a:rPr lang="ko-KR" altLang="en-US" dirty="0">
                <a:solidFill>
                  <a:srgbClr val="0E0E0E"/>
                </a:solidFill>
                <a:effectLst/>
                <a:latin typeface=".SF NS"/>
              </a:rPr>
              <a:t>을 검증하는 검증자들은 </a:t>
            </a:r>
            <a:r>
              <a:rPr lang="ko-KR" altLang="en-US" b="1" dirty="0">
                <a:solidFill>
                  <a:srgbClr val="0E0E0E"/>
                </a:solidFill>
                <a:effectLst/>
                <a:latin typeface=".SF NS"/>
              </a:rPr>
              <a:t>블록 </a:t>
            </a:r>
            <a:r>
              <a:rPr lang="en-US" b="1" dirty="0">
                <a:solidFill>
                  <a:srgbClr val="0E0E0E"/>
                </a:solidFill>
                <a:effectLst/>
                <a:latin typeface=".SF NS"/>
              </a:rPr>
              <a:t>N</a:t>
            </a:r>
            <a:r>
              <a:rPr lang="ko-KR" altLang="en-US" b="1" dirty="0">
                <a:solidFill>
                  <a:srgbClr val="0E0E0E"/>
                </a:solidFill>
                <a:effectLst/>
                <a:latin typeface=".SF NS"/>
              </a:rPr>
              <a:t>의 합의 과정</a:t>
            </a:r>
            <a:r>
              <a:rPr lang="ko-KR" altLang="en-US" dirty="0">
                <a:solidFill>
                  <a:srgbClr val="0E0E0E"/>
                </a:solidFill>
                <a:effectLst/>
                <a:latin typeface=".SF NS"/>
              </a:rPr>
              <a:t>에서 이미 결정된 </a:t>
            </a:r>
            <a:r>
              <a:rPr lang="ko-KR" altLang="en-US" dirty="0" err="1">
                <a:solidFill>
                  <a:srgbClr val="0E0E0E"/>
                </a:solidFill>
                <a:effectLst/>
                <a:latin typeface=".SF NS"/>
              </a:rPr>
              <a:t>검증자들입니다</a:t>
            </a:r>
            <a:r>
              <a:rPr lang="en-US" altLang="ko-KR" dirty="0">
                <a:solidFill>
                  <a:srgbClr val="0E0E0E"/>
                </a:solidFill>
                <a:effectLst/>
                <a:latin typeface=".SF NS"/>
              </a:rPr>
              <a:t>.</a:t>
            </a:r>
          </a:p>
          <a:p>
            <a:br>
              <a:rPr lang="en-US" altLang="ko-KR" dirty="0">
                <a:solidFill>
                  <a:srgbClr val="0E0E0E"/>
                </a:solidFill>
                <a:effectLst/>
                <a:latin typeface=".SF NS"/>
              </a:rPr>
            </a:br>
            <a:endParaRPr lang="en-US" altLang="ko-KR" dirty="0">
              <a:solidFill>
                <a:srgbClr val="0E0E0E"/>
              </a:solidFill>
              <a:effectLst/>
              <a:latin typeface=".SF NS"/>
            </a:endParaRPr>
          </a:p>
          <a:p>
            <a:r>
              <a:rPr lang="ko-KR" altLang="en-US" dirty="0">
                <a:solidFill>
                  <a:srgbClr val="0E0E0E"/>
                </a:solidFill>
                <a:effectLst/>
                <a:latin typeface=".SF NS"/>
              </a:rPr>
              <a:t>이것이 의미하는 바는</a:t>
            </a:r>
            <a:r>
              <a:rPr lang="en-US" altLang="ko-KR" dirty="0">
                <a:solidFill>
                  <a:srgbClr val="0E0E0E"/>
                </a:solidFill>
                <a:effectLst/>
                <a:latin typeface=".SF NS"/>
              </a:rPr>
              <a:t>, </a:t>
            </a:r>
            <a:r>
              <a:rPr lang="ko-KR" altLang="en-US" dirty="0">
                <a:solidFill>
                  <a:srgbClr val="0E0E0E"/>
                </a:solidFill>
                <a:effectLst/>
                <a:latin typeface=".SF NS"/>
              </a:rPr>
              <a:t>블록 </a:t>
            </a:r>
            <a:r>
              <a:rPr lang="en-US" dirty="0">
                <a:solidFill>
                  <a:srgbClr val="0E0E0E"/>
                </a:solidFill>
                <a:effectLst/>
                <a:latin typeface=".SF NS"/>
              </a:rPr>
              <a:t>N</a:t>
            </a:r>
            <a:r>
              <a:rPr lang="ko-KR" altLang="en-US" dirty="0">
                <a:solidFill>
                  <a:srgbClr val="0E0E0E"/>
                </a:solidFill>
                <a:effectLst/>
                <a:latin typeface=".SF NS"/>
              </a:rPr>
              <a:t>에서 합의를 완료할 때</a:t>
            </a:r>
            <a:r>
              <a:rPr lang="en-US" altLang="ko-KR" dirty="0">
                <a:solidFill>
                  <a:srgbClr val="0E0E0E"/>
                </a:solidFill>
                <a:effectLst/>
                <a:latin typeface=".SF NS"/>
              </a:rPr>
              <a:t>, </a:t>
            </a:r>
            <a:r>
              <a:rPr lang="ko-KR" altLang="en-US" dirty="0">
                <a:solidFill>
                  <a:srgbClr val="0E0E0E"/>
                </a:solidFill>
                <a:effectLst/>
                <a:latin typeface=".SF NS"/>
              </a:rPr>
              <a:t>블록 </a:t>
            </a:r>
            <a:r>
              <a:rPr lang="en-US" dirty="0">
                <a:solidFill>
                  <a:srgbClr val="0E0E0E"/>
                </a:solidFill>
                <a:effectLst/>
                <a:latin typeface=".SF NS"/>
              </a:rPr>
              <a:t>N+1</a:t>
            </a:r>
            <a:r>
              <a:rPr lang="ko-KR" altLang="en-US" dirty="0">
                <a:solidFill>
                  <a:srgbClr val="0E0E0E"/>
                </a:solidFill>
                <a:effectLst/>
                <a:latin typeface=".SF NS"/>
              </a:rPr>
              <a:t>에서 사용될 </a:t>
            </a:r>
            <a:r>
              <a:rPr lang="ko-KR" altLang="en-US" dirty="0" err="1">
                <a:solidFill>
                  <a:srgbClr val="0E0E0E"/>
                </a:solidFill>
                <a:effectLst/>
                <a:latin typeface=".SF NS"/>
              </a:rPr>
              <a:t>검증자</a:t>
            </a:r>
            <a:r>
              <a:rPr lang="ko-KR" altLang="en-US" dirty="0">
                <a:solidFill>
                  <a:srgbClr val="0E0E0E"/>
                </a:solidFill>
                <a:effectLst/>
                <a:latin typeface=".SF NS"/>
              </a:rPr>
              <a:t> 세트가 이미 확정되어 있다는 것입니다</a:t>
            </a:r>
            <a:r>
              <a:rPr lang="en-US" altLang="ko-KR" dirty="0">
                <a:solidFill>
                  <a:srgbClr val="0E0E0E"/>
                </a:solidFill>
                <a:effectLst/>
                <a:latin typeface=".SF NS"/>
              </a:rPr>
              <a:t>. </a:t>
            </a:r>
            <a:r>
              <a:rPr lang="ko-KR" altLang="en-US" dirty="0">
                <a:solidFill>
                  <a:srgbClr val="0E0E0E"/>
                </a:solidFill>
                <a:effectLst/>
                <a:latin typeface=".SF NS"/>
              </a:rPr>
              <a:t>그래서 </a:t>
            </a:r>
            <a:r>
              <a:rPr lang="ko-KR" altLang="en-US" dirty="0" err="1">
                <a:solidFill>
                  <a:srgbClr val="0E0E0E"/>
                </a:solidFill>
                <a:effectLst/>
                <a:latin typeface=".SF NS"/>
              </a:rPr>
              <a:t>검증자</a:t>
            </a:r>
            <a:r>
              <a:rPr lang="ko-KR" altLang="en-US" dirty="0">
                <a:solidFill>
                  <a:srgbClr val="0E0E0E"/>
                </a:solidFill>
                <a:effectLst/>
                <a:latin typeface=".SF NS"/>
              </a:rPr>
              <a:t> 집합이 </a:t>
            </a:r>
            <a:r>
              <a:rPr lang="ko-KR" altLang="en-US" b="1" dirty="0">
                <a:solidFill>
                  <a:srgbClr val="0E0E0E"/>
                </a:solidFill>
                <a:effectLst/>
                <a:latin typeface=".SF NS"/>
              </a:rPr>
              <a:t>블록이 생성되는 시점이 아니라</a:t>
            </a:r>
            <a:r>
              <a:rPr lang="en-US" altLang="ko-KR" b="1" dirty="0">
                <a:solidFill>
                  <a:srgbClr val="0E0E0E"/>
                </a:solidFill>
                <a:effectLst/>
                <a:latin typeface=".SF NS"/>
              </a:rPr>
              <a:t>, </a:t>
            </a:r>
            <a:r>
              <a:rPr lang="ko-KR" altLang="en-US" b="1" dirty="0">
                <a:solidFill>
                  <a:srgbClr val="0E0E0E"/>
                </a:solidFill>
                <a:effectLst/>
                <a:latin typeface=".SF NS"/>
              </a:rPr>
              <a:t>이전 블록이 생성될 때 미리</a:t>
            </a:r>
            <a:r>
              <a:rPr lang="ko-KR" altLang="en-US" dirty="0">
                <a:solidFill>
                  <a:srgbClr val="0E0E0E"/>
                </a:solidFill>
                <a:effectLst/>
                <a:latin typeface=".SF NS"/>
              </a:rPr>
              <a:t> 정해지는 것이죠</a:t>
            </a:r>
            <a:r>
              <a:rPr lang="en-US" altLang="ko-KR" dirty="0">
                <a:solidFill>
                  <a:srgbClr val="0E0E0E"/>
                </a:solidFill>
                <a:effectLst/>
                <a:latin typeface=".SF NS"/>
              </a:rPr>
              <a:t>.</a:t>
            </a:r>
          </a:p>
          <a:p>
            <a:br>
              <a:rPr lang="en-US" altLang="ko-KR" dirty="0">
                <a:solidFill>
                  <a:srgbClr val="0E0E0E"/>
                </a:solidFill>
                <a:effectLst/>
                <a:latin typeface=".SF NS"/>
              </a:rPr>
            </a:br>
            <a:endParaRPr lang="en-US" altLang="ko-KR" dirty="0">
              <a:solidFill>
                <a:srgbClr val="0E0E0E"/>
              </a:solidFill>
              <a:effectLst/>
              <a:latin typeface=".SF NS"/>
            </a:endParaRPr>
          </a:p>
          <a:p>
            <a:r>
              <a:rPr lang="ko-KR" altLang="en-US" b="1" dirty="0">
                <a:solidFill>
                  <a:srgbClr val="0E0E0E"/>
                </a:solidFill>
                <a:effectLst/>
                <a:latin typeface=".SF NS"/>
              </a:rPr>
              <a:t>왜 이렇게 할까</a:t>
            </a:r>
            <a:r>
              <a:rPr lang="en-US" altLang="ko-KR" b="1" dirty="0">
                <a:solidFill>
                  <a:srgbClr val="0E0E0E"/>
                </a:solidFill>
                <a:effectLst/>
                <a:latin typeface=".SF NS"/>
              </a:rPr>
              <a:t>?</a:t>
            </a:r>
            <a:endParaRPr lang="ko-KR" altLang="en-US" dirty="0">
              <a:solidFill>
                <a:srgbClr val="0E0E0E"/>
              </a:solidFill>
              <a:effectLst/>
              <a:latin typeface=".SF NS"/>
            </a:endParaRPr>
          </a:p>
          <a:p>
            <a:br>
              <a:rPr lang="ko-KR" altLang="en-US" dirty="0">
                <a:solidFill>
                  <a:srgbClr val="0E0E0E"/>
                </a:solidFill>
                <a:effectLst/>
                <a:latin typeface=".SF NS"/>
              </a:rPr>
            </a:br>
            <a:endParaRPr lang="ko-KR" altLang="en-US" dirty="0">
              <a:solidFill>
                <a:srgbClr val="0E0E0E"/>
              </a:solidFill>
              <a:effectLst/>
              <a:latin typeface=".SF NS"/>
            </a:endParaRPr>
          </a:p>
          <a:p>
            <a:r>
              <a:rPr lang="ko-KR" altLang="en-US" dirty="0">
                <a:solidFill>
                  <a:srgbClr val="0E0E0E"/>
                </a:solidFill>
                <a:effectLst/>
                <a:latin typeface=".SF NS"/>
              </a:rPr>
              <a:t>이 구조는 </a:t>
            </a:r>
            <a:r>
              <a:rPr lang="ko-KR" altLang="en-US" b="1" dirty="0">
                <a:solidFill>
                  <a:srgbClr val="0E0E0E"/>
                </a:solidFill>
                <a:effectLst/>
                <a:latin typeface=".SF NS"/>
              </a:rPr>
              <a:t>네트워크의 안정성과 효율성</a:t>
            </a:r>
            <a:r>
              <a:rPr lang="ko-KR" altLang="en-US" dirty="0">
                <a:solidFill>
                  <a:srgbClr val="0E0E0E"/>
                </a:solidFill>
                <a:effectLst/>
                <a:latin typeface=".SF NS"/>
              </a:rPr>
              <a:t>을 높이기 </a:t>
            </a:r>
            <a:r>
              <a:rPr lang="ko-KR" altLang="en-US" dirty="0" err="1">
                <a:solidFill>
                  <a:srgbClr val="0E0E0E"/>
                </a:solidFill>
                <a:effectLst/>
                <a:latin typeface=".SF NS"/>
              </a:rPr>
              <a:t>위함입니다</a:t>
            </a:r>
            <a:r>
              <a:rPr lang="en-US" altLang="ko-KR" dirty="0">
                <a:solidFill>
                  <a:srgbClr val="0E0E0E"/>
                </a:solidFill>
                <a:effectLst/>
                <a:latin typeface=".SF NS"/>
              </a:rPr>
              <a:t>. </a:t>
            </a:r>
            <a:r>
              <a:rPr lang="ko-KR" altLang="en-US" dirty="0">
                <a:solidFill>
                  <a:srgbClr val="0E0E0E"/>
                </a:solidFill>
                <a:effectLst/>
                <a:latin typeface=".SF NS"/>
              </a:rPr>
              <a:t>블록 </a:t>
            </a:r>
            <a:r>
              <a:rPr lang="en-US" dirty="0">
                <a:solidFill>
                  <a:srgbClr val="0E0E0E"/>
                </a:solidFill>
                <a:effectLst/>
                <a:latin typeface=".SF NS"/>
              </a:rPr>
              <a:t>N</a:t>
            </a:r>
            <a:r>
              <a:rPr lang="ko-KR" altLang="en-US" dirty="0">
                <a:solidFill>
                  <a:srgbClr val="0E0E0E"/>
                </a:solidFill>
                <a:effectLst/>
                <a:latin typeface=".SF NS"/>
              </a:rPr>
              <a:t>이 생성될 때 블록 </a:t>
            </a:r>
            <a:r>
              <a:rPr lang="en-US" dirty="0">
                <a:solidFill>
                  <a:srgbClr val="0E0E0E"/>
                </a:solidFill>
                <a:effectLst/>
                <a:latin typeface=".SF NS"/>
              </a:rPr>
              <a:t>N+1</a:t>
            </a:r>
            <a:r>
              <a:rPr lang="ko-KR" altLang="en-US" dirty="0">
                <a:solidFill>
                  <a:srgbClr val="0E0E0E"/>
                </a:solidFill>
                <a:effectLst/>
                <a:latin typeface=".SF NS"/>
              </a:rPr>
              <a:t>에 대한 </a:t>
            </a:r>
            <a:r>
              <a:rPr lang="ko-KR" altLang="en-US" dirty="0" err="1">
                <a:solidFill>
                  <a:srgbClr val="0E0E0E"/>
                </a:solidFill>
                <a:effectLst/>
                <a:latin typeface=".SF NS"/>
              </a:rPr>
              <a:t>검증자</a:t>
            </a:r>
            <a:r>
              <a:rPr lang="ko-KR" altLang="en-US" dirty="0">
                <a:solidFill>
                  <a:srgbClr val="0E0E0E"/>
                </a:solidFill>
                <a:effectLst/>
                <a:latin typeface=".SF NS"/>
              </a:rPr>
              <a:t> 세트를 미리 준비해 두면</a:t>
            </a:r>
            <a:r>
              <a:rPr lang="en-US" altLang="ko-KR" dirty="0">
                <a:solidFill>
                  <a:srgbClr val="0E0E0E"/>
                </a:solidFill>
                <a:effectLst/>
                <a:latin typeface=".SF NS"/>
              </a:rPr>
              <a:t>, </a:t>
            </a:r>
            <a:r>
              <a:rPr lang="ko-KR" altLang="en-US" dirty="0">
                <a:solidFill>
                  <a:srgbClr val="0E0E0E"/>
                </a:solidFill>
                <a:effectLst/>
                <a:latin typeface=".SF NS"/>
              </a:rPr>
              <a:t>블록 생성 시점에서 추가적인 계산 없이도 바로 검증 절차에 들어갈 수 있어 </a:t>
            </a:r>
            <a:r>
              <a:rPr lang="ko-KR" altLang="en-US" b="1" dirty="0">
                <a:solidFill>
                  <a:srgbClr val="0E0E0E"/>
                </a:solidFill>
                <a:effectLst/>
                <a:latin typeface=".SF NS"/>
              </a:rPr>
              <a:t>합의 과정이 더 빠르게 진행</a:t>
            </a:r>
            <a:r>
              <a:rPr lang="ko-KR" altLang="en-US" dirty="0">
                <a:solidFill>
                  <a:srgbClr val="0E0E0E"/>
                </a:solidFill>
                <a:effectLst/>
                <a:latin typeface=".SF NS"/>
              </a:rPr>
              <a:t>될 수 있습니다</a:t>
            </a:r>
            <a:r>
              <a:rPr lang="en-US" altLang="ko-KR" dirty="0">
                <a:solidFill>
                  <a:srgbClr val="0E0E0E"/>
                </a:solidFill>
                <a:effectLst/>
                <a:latin typeface=".SF NS"/>
              </a:rPr>
              <a:t>.</a:t>
            </a:r>
          </a:p>
          <a:p>
            <a:br>
              <a:rPr lang="en-US" altLang="ko-KR" dirty="0">
                <a:solidFill>
                  <a:srgbClr val="0E0E0E"/>
                </a:solidFill>
                <a:effectLst/>
                <a:latin typeface=".SF NS"/>
              </a:rPr>
            </a:br>
            <a:endParaRPr lang="en-US" altLang="ko-KR" dirty="0">
              <a:solidFill>
                <a:srgbClr val="0E0E0E"/>
              </a:solidFill>
              <a:effectLst/>
              <a:latin typeface=".SF NS"/>
            </a:endParaRPr>
          </a:p>
          <a:p>
            <a:r>
              <a:rPr lang="ko-KR" altLang="en-US" dirty="0">
                <a:solidFill>
                  <a:srgbClr val="0E0E0E"/>
                </a:solidFill>
                <a:effectLst/>
                <a:latin typeface=".SF NS"/>
              </a:rPr>
              <a:t>또한</a:t>
            </a:r>
            <a:r>
              <a:rPr lang="en-US" altLang="ko-KR" dirty="0">
                <a:solidFill>
                  <a:srgbClr val="0E0E0E"/>
                </a:solidFill>
                <a:effectLst/>
                <a:latin typeface=".SF NS"/>
              </a:rPr>
              <a:t>, </a:t>
            </a:r>
            <a:r>
              <a:rPr lang="ko-KR" altLang="en-US" dirty="0" err="1">
                <a:solidFill>
                  <a:srgbClr val="0E0E0E"/>
                </a:solidFill>
                <a:effectLst/>
                <a:latin typeface=".SF NS"/>
              </a:rPr>
              <a:t>검증자</a:t>
            </a:r>
            <a:r>
              <a:rPr lang="ko-KR" altLang="en-US" dirty="0">
                <a:solidFill>
                  <a:srgbClr val="0E0E0E"/>
                </a:solidFill>
                <a:effectLst/>
                <a:latin typeface=".SF NS"/>
              </a:rPr>
              <a:t> 집합이 블록마다 동적으로 바뀔 수 있기 때문에</a:t>
            </a:r>
            <a:r>
              <a:rPr lang="en-US" altLang="ko-KR" dirty="0">
                <a:solidFill>
                  <a:srgbClr val="0E0E0E"/>
                </a:solidFill>
                <a:effectLst/>
                <a:latin typeface=".SF NS"/>
              </a:rPr>
              <a:t>, </a:t>
            </a:r>
            <a:r>
              <a:rPr lang="ko-KR" altLang="en-US" dirty="0">
                <a:solidFill>
                  <a:srgbClr val="0E0E0E"/>
                </a:solidFill>
                <a:effectLst/>
                <a:latin typeface=".SF NS"/>
              </a:rPr>
              <a:t>블록 </a:t>
            </a:r>
            <a:r>
              <a:rPr lang="en-US" dirty="0">
                <a:solidFill>
                  <a:srgbClr val="0E0E0E"/>
                </a:solidFill>
                <a:effectLst/>
                <a:latin typeface=".SF NS"/>
              </a:rPr>
              <a:t>N</a:t>
            </a:r>
            <a:r>
              <a:rPr lang="ko-KR" altLang="en-US" dirty="0">
                <a:solidFill>
                  <a:srgbClr val="0E0E0E"/>
                </a:solidFill>
                <a:effectLst/>
                <a:latin typeface=".SF NS"/>
              </a:rPr>
              <a:t>이 끝날 때 미리 다음 </a:t>
            </a:r>
            <a:r>
              <a:rPr lang="ko-KR" altLang="en-US" dirty="0" err="1">
                <a:solidFill>
                  <a:srgbClr val="0E0E0E"/>
                </a:solidFill>
                <a:effectLst/>
                <a:latin typeface=".SF NS"/>
              </a:rPr>
              <a:t>검증자</a:t>
            </a:r>
            <a:r>
              <a:rPr lang="ko-KR" altLang="en-US" dirty="0">
                <a:solidFill>
                  <a:srgbClr val="0E0E0E"/>
                </a:solidFill>
                <a:effectLst/>
                <a:latin typeface=".SF NS"/>
              </a:rPr>
              <a:t> 집합을 설정해 두는 것은 </a:t>
            </a:r>
            <a:r>
              <a:rPr lang="ko-KR" altLang="en-US" b="1" dirty="0">
                <a:solidFill>
                  <a:srgbClr val="0E0E0E"/>
                </a:solidFill>
                <a:effectLst/>
                <a:latin typeface=".SF NS"/>
              </a:rPr>
              <a:t>보안성</a:t>
            </a:r>
            <a:r>
              <a:rPr lang="ko-KR" altLang="en-US" dirty="0">
                <a:solidFill>
                  <a:srgbClr val="0E0E0E"/>
                </a:solidFill>
                <a:effectLst/>
                <a:latin typeface=".SF NS"/>
              </a:rPr>
              <a:t>과 </a:t>
            </a:r>
            <a:r>
              <a:rPr lang="ko-KR" altLang="en-US" b="1" dirty="0">
                <a:solidFill>
                  <a:srgbClr val="0E0E0E"/>
                </a:solidFill>
                <a:effectLst/>
                <a:latin typeface=".SF NS"/>
              </a:rPr>
              <a:t>공정성</a:t>
            </a:r>
            <a:r>
              <a:rPr lang="ko-KR" altLang="en-US" dirty="0">
                <a:solidFill>
                  <a:srgbClr val="0E0E0E"/>
                </a:solidFill>
                <a:effectLst/>
                <a:latin typeface=".SF NS"/>
              </a:rPr>
              <a:t>을 높이는 데 중요한 역할을 합니다</a:t>
            </a:r>
            <a:r>
              <a:rPr lang="en-US" altLang="ko-KR" dirty="0">
                <a:solidFill>
                  <a:srgbClr val="0E0E0E"/>
                </a:solidFill>
                <a:effectLst/>
                <a:latin typeface=".SF NS"/>
              </a:rPr>
              <a:t>.</a:t>
            </a:r>
          </a:p>
        </p:txBody>
      </p:sp>
      <p:sp>
        <p:nvSpPr>
          <p:cNvPr id="4" name="Slide Number Placeholder 3"/>
          <p:cNvSpPr>
            <a:spLocks noGrp="1"/>
          </p:cNvSpPr>
          <p:nvPr>
            <p:ph type="sldNum" sz="quarter" idx="5"/>
          </p:nvPr>
        </p:nvSpPr>
        <p:spPr/>
        <p:txBody>
          <a:bodyPr/>
          <a:lstStyle/>
          <a:p>
            <a:fld id="{68F19458-6438-6D4C-8871-C414D67D65FB}" type="slidenum">
              <a:rPr lang="en-KR" smtClean="0"/>
              <a:t>8</a:t>
            </a:fld>
            <a:endParaRPr lang="en-KR"/>
          </a:p>
        </p:txBody>
      </p:sp>
    </p:spTree>
    <p:extLst>
      <p:ext uri="{BB962C8B-B14F-4D97-AF65-F5344CB8AC3E}">
        <p14:creationId xmlns:p14="http://schemas.microsoft.com/office/powerpoint/2010/main" val="791743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Can be created for any number of machine types and upgrades to chains which increment the </a:t>
            </a:r>
            <a:r>
              <a:rPr lang="en-US" sz="1200" dirty="0" err="1">
                <a:latin typeface="NanumGothic" panose="020D0604000000000000" pitchFamily="34" charset="-127"/>
                <a:ea typeface="NanumGothic" panose="020D0604000000000000" pitchFamily="34" charset="-127"/>
              </a:rPr>
              <a:t>chainID</a:t>
            </a:r>
            <a:r>
              <a:rPr lang="en-US" sz="1200" dirty="0">
                <a:latin typeface="NanumGothic" panose="020D0604000000000000" pitchFamily="34" charset="-127"/>
                <a:ea typeface="NanumGothic" panose="020D0604000000000000" pitchFamily="34" charset="-127"/>
              </a:rPr>
              <a:t> do not break the underlying IBC client and connections.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NanumGothic" panose="020D0604000000000000" pitchFamily="34" charset="-127"/>
                <a:ea typeface="NanumGothic" panose="020D0604000000000000" pitchFamily="34" charset="-127"/>
              </a:rPr>
              <a:t> </a:t>
            </a:r>
            <a:r>
              <a:rPr lang="ko-KR" altLang="en-US" sz="1200" dirty="0">
                <a:latin typeface="NanumGothic" panose="020D0604000000000000" pitchFamily="34" charset="-127"/>
                <a:ea typeface="NanumGothic" panose="020D0604000000000000" pitchFamily="34" charset="-127"/>
              </a:rPr>
              <a:t>체인과 직접적인 연결고리가 없기 때문</a:t>
            </a:r>
            <a:endParaRPr lang="en-US" sz="1200" dirty="0">
              <a:latin typeface="NanumGothic" panose="020D0604000000000000" pitchFamily="34" charset="-127"/>
              <a:ea typeface="NanumGothic" panose="020D0604000000000000" pitchFamily="34" charset="-127"/>
            </a:endParaRPr>
          </a:p>
          <a:p>
            <a:pPr algn="l">
              <a:buFont typeface="Arial" panose="020B0604020202020204" pitchFamily="34" charset="0"/>
              <a:buChar char="•"/>
            </a:pPr>
            <a:endParaRPr lang="en-US" b="0" i="0" dirty="0">
              <a:effectLst/>
              <a:latin typeface="Inter var"/>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9</a:t>
            </a:fld>
            <a:endParaRPr lang="en-KR"/>
          </a:p>
        </p:txBody>
      </p:sp>
    </p:spTree>
    <p:extLst>
      <p:ext uri="{BB962C8B-B14F-4D97-AF65-F5344CB8AC3E}">
        <p14:creationId xmlns:p14="http://schemas.microsoft.com/office/powerpoint/2010/main" val="958935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err="1">
                <a:effectLst/>
                <a:latin typeface="Inter var"/>
              </a:rPr>
              <a:t>TrustedValidatorSet</a:t>
            </a:r>
            <a:r>
              <a:rPr lang="en-US" b="0" i="0" dirty="0">
                <a:effectLst/>
                <a:latin typeface="Inter var"/>
              </a:rPr>
              <a:t> : </a:t>
            </a:r>
            <a:r>
              <a:rPr lang="ko-KR" altLang="en-US" b="0" i="0" dirty="0">
                <a:effectLst/>
                <a:latin typeface="Inter var"/>
              </a:rPr>
              <a:t>이전 </a:t>
            </a:r>
            <a:r>
              <a:rPr lang="ko-KR" altLang="en-US" b="0" i="0" dirty="0" err="1">
                <a:effectLst/>
                <a:latin typeface="Inter var"/>
              </a:rPr>
              <a:t>검증자</a:t>
            </a:r>
            <a:r>
              <a:rPr lang="ko-KR" altLang="en-US" b="0" i="0" dirty="0">
                <a:effectLst/>
                <a:latin typeface="Inter var"/>
              </a:rPr>
              <a:t> 집합</a:t>
            </a:r>
            <a:endParaRPr lang="en-US" b="0" i="0" dirty="0">
              <a:effectLst/>
              <a:latin typeface="Inter var"/>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10</a:t>
            </a:fld>
            <a:endParaRPr lang="en-KR"/>
          </a:p>
        </p:txBody>
      </p:sp>
    </p:spTree>
    <p:extLst>
      <p:ext uri="{BB962C8B-B14F-4D97-AF65-F5344CB8AC3E}">
        <p14:creationId xmlns:p14="http://schemas.microsoft.com/office/powerpoint/2010/main" val="2864024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b="1" dirty="0">
                <a:solidFill>
                  <a:srgbClr val="569CD6"/>
                </a:solidFill>
                <a:effectLst/>
                <a:latin typeface="Menlo" panose="020B0609030804020204" pitchFamily="49" charset="0"/>
              </a:rPr>
              <a:t>### </a:t>
            </a:r>
            <a:r>
              <a:rPr lang="ko-KR" altLang="en-US" b="1" dirty="0">
                <a:solidFill>
                  <a:srgbClr val="569CD6"/>
                </a:solidFill>
                <a:effectLst/>
                <a:latin typeface="Menlo" panose="020B0609030804020204" pitchFamily="49" charset="0"/>
              </a:rPr>
              <a:t>잠긴 값</a:t>
            </a:r>
            <a:endParaRPr lang="ko-KR" altLang="en-US" b="0" dirty="0">
              <a:solidFill>
                <a:srgbClr val="D4D4D4"/>
              </a:solidFill>
              <a:effectLst/>
              <a:latin typeface="Menlo" panose="020B0609030804020204" pitchFamily="49" charset="0"/>
            </a:endParaRPr>
          </a:p>
          <a:p>
            <a:br>
              <a:rPr lang="ko-KR" altLang="en-US" b="0" dirty="0">
                <a:solidFill>
                  <a:srgbClr val="D4D4D4"/>
                </a:solidFill>
                <a:effectLst/>
                <a:latin typeface="Menlo" panose="020B0609030804020204" pitchFamily="49" charset="0"/>
              </a:rPr>
            </a:br>
            <a:r>
              <a:rPr lang="ko-KR" altLang="en-US" b="0" dirty="0">
                <a:solidFill>
                  <a:srgbClr val="D4D4D4"/>
                </a:solidFill>
                <a:effectLst/>
                <a:latin typeface="Menlo" panose="020B0609030804020204" pitchFamily="49" charset="0"/>
              </a:rPr>
              <a:t>노드들은 이미 잠긴 값이 존재하면</a:t>
            </a:r>
            <a:r>
              <a:rPr lang="en-US" altLang="ko-KR" b="0" dirty="0">
                <a:solidFill>
                  <a:srgbClr val="D4D4D4"/>
                </a:solidFill>
                <a:effectLst/>
                <a:latin typeface="Menlo" panose="020B0609030804020204" pitchFamily="49" charset="0"/>
              </a:rPr>
              <a:t>, </a:t>
            </a:r>
            <a:r>
              <a:rPr lang="ko-KR" altLang="en-US" b="0" dirty="0">
                <a:solidFill>
                  <a:srgbClr val="D4D4D4"/>
                </a:solidFill>
                <a:effectLst/>
                <a:latin typeface="Menlo" panose="020B0609030804020204" pitchFamily="49" charset="0"/>
              </a:rPr>
              <a:t>네트워크의 모든 노드가 동일한 잠긴 값에 대해 합의할 수 있도록 새로운 값이 제안되더라도 해당 잠긴 값을 그대로 유지한다</a:t>
            </a:r>
            <a:r>
              <a:rPr lang="en-US" altLang="ko-KR" b="0" dirty="0">
                <a:solidFill>
                  <a:srgbClr val="D4D4D4"/>
                </a:solidFill>
                <a:effectLst/>
                <a:latin typeface="Menlo" panose="020B0609030804020204" pitchFamily="49" charset="0"/>
              </a:rPr>
              <a:t>. </a:t>
            </a:r>
            <a:r>
              <a:rPr lang="ko-KR" altLang="en-US" b="0" dirty="0">
                <a:solidFill>
                  <a:srgbClr val="D4D4D4"/>
                </a:solidFill>
                <a:effectLst/>
                <a:latin typeface="Menlo" panose="020B0609030804020204" pitchFamily="49" charset="0"/>
              </a:rPr>
              <a:t>하지만 특정 조건에 대해서는 잠긴 값이 변경될 수 있는데</a:t>
            </a:r>
            <a:r>
              <a:rPr lang="en-US" altLang="ko-KR" b="0" dirty="0">
                <a:solidFill>
                  <a:srgbClr val="D4D4D4"/>
                </a:solidFill>
                <a:effectLst/>
                <a:latin typeface="Menlo" panose="020B0609030804020204" pitchFamily="49" charset="0"/>
              </a:rPr>
              <a:t>, </a:t>
            </a:r>
            <a:r>
              <a:rPr lang="ko-KR" altLang="en-US" b="0" dirty="0">
                <a:solidFill>
                  <a:srgbClr val="D4D4D4"/>
                </a:solidFill>
                <a:effectLst/>
                <a:latin typeface="Menlo" panose="020B0609030804020204" pitchFamily="49" charset="0"/>
              </a:rPr>
              <a:t>아래와 같다</a:t>
            </a:r>
            <a:r>
              <a:rPr lang="en-US" altLang="ko-KR" b="0" dirty="0">
                <a:solidFill>
                  <a:srgbClr val="D4D4D4"/>
                </a:solidFill>
                <a:effectLst/>
                <a:latin typeface="Menlo" panose="020B0609030804020204" pitchFamily="49" charset="0"/>
              </a:rPr>
              <a:t>.</a:t>
            </a:r>
          </a:p>
          <a:p>
            <a:r>
              <a:rPr lang="en-US" altLang="ko-KR" b="0" dirty="0">
                <a:solidFill>
                  <a:srgbClr val="6796E6"/>
                </a:solidFill>
                <a:effectLst/>
                <a:latin typeface="Menlo" panose="020B0609030804020204" pitchFamily="49" charset="0"/>
              </a:rPr>
              <a:t>-</a:t>
            </a:r>
            <a:r>
              <a:rPr lang="ko-KR" altLang="en-US" b="0" dirty="0">
                <a:solidFill>
                  <a:srgbClr val="D4D4D4"/>
                </a:solidFill>
                <a:effectLst/>
                <a:latin typeface="Menlo" panose="020B0609030804020204" pitchFamily="49" charset="0"/>
              </a:rPr>
              <a:t> 더 최근 라운드에서 합의된 값이 </a:t>
            </a:r>
            <a:r>
              <a:rPr lang="en-US" altLang="ko-KR" b="0" dirty="0">
                <a:solidFill>
                  <a:srgbClr val="D4D4D4"/>
                </a:solidFill>
                <a:effectLst/>
                <a:latin typeface="Menlo" panose="020B0609030804020204" pitchFamily="49" charset="0"/>
              </a:rPr>
              <a:t>2</a:t>
            </a:r>
            <a:r>
              <a:rPr lang="en-US" b="0" dirty="0">
                <a:solidFill>
                  <a:srgbClr val="D4D4D4"/>
                </a:solidFill>
                <a:effectLst/>
                <a:latin typeface="Menlo" panose="020B0609030804020204" pitchFamily="49" charset="0"/>
              </a:rPr>
              <a:t>f+1</a:t>
            </a:r>
            <a:r>
              <a:rPr lang="ko-KR" altLang="en-US" b="0" dirty="0">
                <a:solidFill>
                  <a:srgbClr val="D4D4D4"/>
                </a:solidFill>
                <a:effectLst/>
                <a:latin typeface="Menlo" panose="020B0609030804020204" pitchFamily="49" charset="0"/>
              </a:rPr>
              <a:t>개의 </a:t>
            </a:r>
            <a:r>
              <a:rPr lang="en-US" b="0" dirty="0" err="1">
                <a:solidFill>
                  <a:srgbClr val="D4D4D4"/>
                </a:solidFill>
                <a:effectLst/>
                <a:latin typeface="Menlo" panose="020B0609030804020204" pitchFamily="49" charset="0"/>
              </a:rPr>
              <a:t>prevote</a:t>
            </a:r>
            <a:r>
              <a:rPr lang="en-US" b="0" dirty="0">
                <a:solidFill>
                  <a:srgbClr val="D4D4D4"/>
                </a:solidFill>
                <a:effectLst/>
                <a:latin typeface="Menlo" panose="020B0609030804020204" pitchFamily="49" charset="0"/>
              </a:rPr>
              <a:t>, </a:t>
            </a:r>
            <a:r>
              <a:rPr lang="en-US" b="0" dirty="0" err="1">
                <a:solidFill>
                  <a:srgbClr val="D4D4D4"/>
                </a:solidFill>
                <a:effectLst/>
                <a:latin typeface="Menlo" panose="020B0609030804020204" pitchFamily="49" charset="0"/>
              </a:rPr>
              <a:t>precommit</a:t>
            </a:r>
            <a:r>
              <a:rPr lang="ko-KR" altLang="en-US" b="0" dirty="0">
                <a:solidFill>
                  <a:srgbClr val="D4D4D4"/>
                </a:solidFill>
                <a:effectLst/>
                <a:latin typeface="Menlo" panose="020B0609030804020204" pitchFamily="49" charset="0"/>
              </a:rPr>
              <a:t>을 받은 경우</a:t>
            </a:r>
            <a:r>
              <a:rPr lang="en-US" altLang="ko-KR" b="0" dirty="0">
                <a:solidFill>
                  <a:srgbClr val="D4D4D4"/>
                </a:solidFill>
                <a:effectLst/>
                <a:latin typeface="Menlo" panose="020B0609030804020204" pitchFamily="49" charset="0"/>
              </a:rPr>
              <a:t>, </a:t>
            </a:r>
            <a:r>
              <a:rPr lang="ko-KR" altLang="en-US" b="0" dirty="0">
                <a:solidFill>
                  <a:srgbClr val="D4D4D4"/>
                </a:solidFill>
                <a:effectLst/>
                <a:latin typeface="Menlo" panose="020B0609030804020204" pitchFamily="49" charset="0"/>
              </a:rPr>
              <a:t>이전 잠긴 값을 새로운 값으로 변경한다</a:t>
            </a:r>
            <a:r>
              <a:rPr lang="en-US" altLang="ko-KR" b="0" dirty="0">
                <a:solidFill>
                  <a:srgbClr val="D4D4D4"/>
                </a:solidFill>
                <a:effectLst/>
                <a:latin typeface="Menlo" panose="020B0609030804020204" pitchFamily="49" charset="0"/>
              </a:rPr>
              <a:t>.</a:t>
            </a:r>
          </a:p>
          <a:p>
            <a:r>
              <a:rPr lang="en-US" altLang="ko-KR" b="0" dirty="0">
                <a:solidFill>
                  <a:srgbClr val="6796E6"/>
                </a:solidFill>
                <a:effectLst/>
                <a:latin typeface="Menlo" panose="020B0609030804020204" pitchFamily="49" charset="0"/>
              </a:rPr>
              <a:t>-</a:t>
            </a:r>
            <a:r>
              <a:rPr lang="ko-KR" altLang="en-US" b="0" dirty="0">
                <a:solidFill>
                  <a:srgbClr val="D4D4D4"/>
                </a:solidFill>
                <a:effectLst/>
                <a:latin typeface="Menlo" panose="020B0609030804020204" pitchFamily="49" charset="0"/>
              </a:rPr>
              <a:t> 이전 잠긴 값이 무효화되거나 네트워크 상황에 따라 더 나은 값이 제안된 경우 변경 가능하다</a:t>
            </a:r>
            <a:r>
              <a:rPr lang="en-US" altLang="ko-KR" b="0" dirty="0">
                <a:solidFill>
                  <a:srgbClr val="D4D4D4"/>
                </a:solidFill>
                <a:effectLst/>
                <a:latin typeface="Menlo" panose="020B0609030804020204" pitchFamily="49" charset="0"/>
              </a:rPr>
              <a:t>.</a:t>
            </a:r>
          </a:p>
          <a:p>
            <a:br>
              <a:rPr lang="en-US" altLang="ko-KR" b="0" dirty="0">
                <a:solidFill>
                  <a:srgbClr val="D4D4D4"/>
                </a:solidFill>
                <a:effectLst/>
                <a:latin typeface="Menlo" panose="020B0609030804020204" pitchFamily="49" charset="0"/>
              </a:rPr>
            </a:br>
            <a:r>
              <a:rPr lang="ko-KR" altLang="en-US" b="0" dirty="0">
                <a:solidFill>
                  <a:srgbClr val="D4D4D4"/>
                </a:solidFill>
                <a:effectLst/>
                <a:latin typeface="Menlo" panose="020B0609030804020204" pitchFamily="49" charset="0"/>
              </a:rPr>
              <a:t>만약 새로운 블록이 생성된 경우</a:t>
            </a:r>
            <a:r>
              <a:rPr lang="en-US" altLang="ko-KR" b="0" dirty="0">
                <a:solidFill>
                  <a:srgbClr val="D4D4D4"/>
                </a:solidFill>
                <a:effectLst/>
                <a:latin typeface="Menlo" panose="020B0609030804020204" pitchFamily="49" charset="0"/>
              </a:rPr>
              <a:t>, </a:t>
            </a:r>
            <a:r>
              <a:rPr lang="ko-KR" altLang="en-US" b="0" dirty="0">
                <a:solidFill>
                  <a:srgbClr val="D4D4D4"/>
                </a:solidFill>
                <a:effectLst/>
                <a:latin typeface="Menlo" panose="020B0609030804020204" pitchFamily="49" charset="0"/>
              </a:rPr>
              <a:t>특정 노드에 잠긴 값이 없거나 새로운 라운드에서 제안된 값이 기존 값과 상충되지 않으면 새로운 블록이 제안되고 합의에 도달할 수 있다</a:t>
            </a:r>
            <a:r>
              <a:rPr lang="en-US" altLang="ko-KR" b="0" dirty="0">
                <a:solidFill>
                  <a:srgbClr val="D4D4D4"/>
                </a:solidFill>
                <a:effectLst/>
                <a:latin typeface="Menlo" panose="020B0609030804020204" pitchFamily="49" charset="0"/>
              </a:rPr>
              <a:t>.</a:t>
            </a:r>
          </a:p>
        </p:txBody>
      </p:sp>
      <p:sp>
        <p:nvSpPr>
          <p:cNvPr id="4" name="Slide Number Placeholder 3"/>
          <p:cNvSpPr>
            <a:spLocks noGrp="1"/>
          </p:cNvSpPr>
          <p:nvPr>
            <p:ph type="sldNum" sz="quarter" idx="5"/>
          </p:nvPr>
        </p:nvSpPr>
        <p:spPr/>
        <p:txBody>
          <a:bodyPr/>
          <a:lstStyle/>
          <a:p>
            <a:fld id="{68F19458-6438-6D4C-8871-C414D67D65FB}" type="slidenum">
              <a:rPr lang="en-KR" smtClean="0"/>
              <a:t>11</a:t>
            </a:fld>
            <a:endParaRPr lang="en-KR"/>
          </a:p>
        </p:txBody>
      </p:sp>
    </p:spTree>
    <p:extLst>
      <p:ext uri="{BB962C8B-B14F-4D97-AF65-F5344CB8AC3E}">
        <p14:creationId xmlns:p14="http://schemas.microsoft.com/office/powerpoint/2010/main" val="2525327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13</a:t>
            </a:fld>
            <a:endParaRPr lang="en-KR"/>
          </a:p>
        </p:txBody>
      </p:sp>
    </p:spTree>
    <p:extLst>
      <p:ext uri="{BB962C8B-B14F-4D97-AF65-F5344CB8AC3E}">
        <p14:creationId xmlns:p14="http://schemas.microsoft.com/office/powerpoint/2010/main" val="2283250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14</a:t>
            </a:fld>
            <a:endParaRPr lang="en-KR"/>
          </a:p>
        </p:txBody>
      </p:sp>
    </p:spTree>
    <p:extLst>
      <p:ext uri="{BB962C8B-B14F-4D97-AF65-F5344CB8AC3E}">
        <p14:creationId xmlns:p14="http://schemas.microsoft.com/office/powerpoint/2010/main" val="484283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ko-KR" b="1" i="0" dirty="0">
                <a:solidFill>
                  <a:srgbClr val="D4D4D4"/>
                </a:solidFill>
                <a:effectLst/>
                <a:latin typeface="-apple-system"/>
              </a:rPr>
              <a:t>1. </a:t>
            </a:r>
            <a:r>
              <a:rPr lang="ko-KR" altLang="en-US" b="1" i="0" dirty="0">
                <a:solidFill>
                  <a:srgbClr val="D4D4D4"/>
                </a:solidFill>
                <a:effectLst/>
                <a:latin typeface="-apple-system"/>
              </a:rPr>
              <a:t>탈중앙화</a:t>
            </a:r>
          </a:p>
          <a:p>
            <a:pPr algn="l"/>
            <a:r>
              <a:rPr lang="en-US" b="0" i="0" dirty="0">
                <a:solidFill>
                  <a:srgbClr val="D4D4D4"/>
                </a:solidFill>
                <a:effectLst/>
                <a:latin typeface="-apple-system"/>
              </a:rPr>
              <a:t>IBC</a:t>
            </a:r>
            <a:r>
              <a:rPr lang="ko-KR" altLang="en-US" b="0" i="0" dirty="0">
                <a:solidFill>
                  <a:srgbClr val="D4D4D4"/>
                </a:solidFill>
                <a:effectLst/>
                <a:latin typeface="-apple-system"/>
              </a:rPr>
              <a:t>는 체인 간 신뢰를 요구하지 않고 클라이언트를 기반으로 연결된 체인과 트랜잭션을 검증하기 때문에 가장 높은 탈중앙화 수준을 갖는다</a:t>
            </a:r>
            <a:r>
              <a:rPr lang="en-US" altLang="ko-KR" b="0" i="0" dirty="0">
                <a:solidFill>
                  <a:srgbClr val="D4D4D4"/>
                </a:solidFill>
                <a:effectLst/>
                <a:latin typeface="-apple-system"/>
              </a:rPr>
              <a:t>. </a:t>
            </a:r>
            <a:r>
              <a:rPr lang="ko-KR" altLang="en-US" b="0" i="0" dirty="0">
                <a:solidFill>
                  <a:srgbClr val="D4D4D4"/>
                </a:solidFill>
                <a:effectLst/>
                <a:latin typeface="-apple-system"/>
              </a:rPr>
              <a:t>다중 서명자의 경우 각 체인에서 스마트 </a:t>
            </a:r>
            <a:r>
              <a:rPr lang="ko-KR" altLang="en-US" b="0" i="0" dirty="0" err="1">
                <a:solidFill>
                  <a:srgbClr val="D4D4D4"/>
                </a:solidFill>
                <a:effectLst/>
                <a:latin typeface="-apple-system"/>
              </a:rPr>
              <a:t>컨트랙트</a:t>
            </a:r>
            <a:r>
              <a:rPr lang="ko-KR" altLang="en-US" b="0" i="0" dirty="0">
                <a:solidFill>
                  <a:srgbClr val="D4D4D4"/>
                </a:solidFill>
                <a:effectLst/>
                <a:latin typeface="-apple-system"/>
              </a:rPr>
              <a:t> 등을 활용하여 트랜잭션을 검증하기 때문에 </a:t>
            </a:r>
            <a:r>
              <a:rPr lang="ko-KR" altLang="en-US" b="0" i="0" dirty="0" err="1">
                <a:solidFill>
                  <a:srgbClr val="D4D4D4"/>
                </a:solidFill>
                <a:effectLst/>
                <a:latin typeface="-apple-system"/>
              </a:rPr>
              <a:t>중앙화된</a:t>
            </a:r>
            <a:r>
              <a:rPr lang="ko-KR" altLang="en-US" b="0" i="0" dirty="0">
                <a:solidFill>
                  <a:srgbClr val="D4D4D4"/>
                </a:solidFill>
                <a:effectLst/>
                <a:latin typeface="-apple-system"/>
              </a:rPr>
              <a:t> 시스템에 비해 높은 탈중앙화 수준을 가지나</a:t>
            </a:r>
            <a:r>
              <a:rPr lang="en-US" altLang="ko-KR" b="0" i="0" dirty="0">
                <a:solidFill>
                  <a:srgbClr val="D4D4D4"/>
                </a:solidFill>
                <a:effectLst/>
                <a:latin typeface="-apple-system"/>
              </a:rPr>
              <a:t>, </a:t>
            </a:r>
            <a:r>
              <a:rPr lang="ko-KR" altLang="en-US" b="0" i="0" dirty="0">
                <a:solidFill>
                  <a:srgbClr val="D4D4D4"/>
                </a:solidFill>
                <a:effectLst/>
                <a:latin typeface="-apple-system"/>
              </a:rPr>
              <a:t>서명자 네트워크에 대한 신뢰가 필요하기 때문에 </a:t>
            </a:r>
            <a:r>
              <a:rPr lang="en-US" b="0" i="0" dirty="0">
                <a:solidFill>
                  <a:srgbClr val="D4D4D4"/>
                </a:solidFill>
                <a:effectLst/>
                <a:latin typeface="-apple-system"/>
              </a:rPr>
              <a:t>IBC</a:t>
            </a:r>
            <a:r>
              <a:rPr lang="ko-KR" altLang="en-US" b="0" i="0" dirty="0">
                <a:solidFill>
                  <a:srgbClr val="D4D4D4"/>
                </a:solidFill>
                <a:effectLst/>
                <a:latin typeface="-apple-system"/>
              </a:rPr>
              <a:t>에 비해 부분적인 탈중앙화 수준을 갖는다</a:t>
            </a:r>
            <a:r>
              <a:rPr lang="en-US" altLang="ko-KR" b="0" i="0" dirty="0">
                <a:solidFill>
                  <a:srgbClr val="D4D4D4"/>
                </a:solidFill>
                <a:effectLst/>
                <a:latin typeface="-apple-system"/>
              </a:rPr>
              <a:t>.</a:t>
            </a:r>
          </a:p>
          <a:p>
            <a:pPr algn="l"/>
            <a:endParaRPr lang="en-US" altLang="ko-KR" b="0" i="0" dirty="0">
              <a:solidFill>
                <a:srgbClr val="D4D4D4"/>
              </a:solidFill>
              <a:effectLst/>
              <a:latin typeface="-apple-system"/>
            </a:endParaRPr>
          </a:p>
          <a:p>
            <a:pPr algn="l"/>
            <a:r>
              <a:rPr lang="en-US" altLang="ko-KR" b="1" i="0" dirty="0">
                <a:solidFill>
                  <a:srgbClr val="D4D4D4"/>
                </a:solidFill>
                <a:effectLst/>
                <a:latin typeface="-apple-system"/>
              </a:rPr>
              <a:t>2. </a:t>
            </a:r>
            <a:r>
              <a:rPr lang="ko-KR" altLang="en-US" b="1" i="0" dirty="0">
                <a:solidFill>
                  <a:srgbClr val="D4D4D4"/>
                </a:solidFill>
                <a:effectLst/>
                <a:latin typeface="-apple-system"/>
              </a:rPr>
              <a:t>보안 취약점</a:t>
            </a:r>
          </a:p>
          <a:p>
            <a:pPr algn="l"/>
            <a:r>
              <a:rPr lang="en-US" b="0" i="0" dirty="0">
                <a:solidFill>
                  <a:srgbClr val="D4D4D4"/>
                </a:solidFill>
                <a:effectLst/>
                <a:latin typeface="-apple-system"/>
              </a:rPr>
              <a:t>IBC</a:t>
            </a:r>
            <a:r>
              <a:rPr lang="ko-KR" altLang="en-US" b="0" i="0" dirty="0">
                <a:solidFill>
                  <a:srgbClr val="D4D4D4"/>
                </a:solidFill>
                <a:effectLst/>
                <a:latin typeface="-apple-system"/>
              </a:rPr>
              <a:t>는 체인을 직접적으로 신뢰하지 않고 클라이언트와 </a:t>
            </a:r>
            <a:r>
              <a:rPr lang="ko-KR" altLang="en-US" b="0" i="0" dirty="0" err="1">
                <a:solidFill>
                  <a:srgbClr val="D4D4D4"/>
                </a:solidFill>
                <a:effectLst/>
                <a:latin typeface="-apple-system"/>
              </a:rPr>
              <a:t>릴레이어를</a:t>
            </a:r>
            <a:r>
              <a:rPr lang="ko-KR" altLang="en-US" b="0" i="0" dirty="0">
                <a:solidFill>
                  <a:srgbClr val="D4D4D4"/>
                </a:solidFill>
                <a:effectLst/>
                <a:latin typeface="-apple-system"/>
              </a:rPr>
              <a:t> 통해 상대 체인을 지속적으로 검증하기 때문에</a:t>
            </a:r>
            <a:r>
              <a:rPr lang="en-US" altLang="ko-KR" b="0" i="0" dirty="0">
                <a:solidFill>
                  <a:srgbClr val="D4D4D4"/>
                </a:solidFill>
                <a:effectLst/>
                <a:latin typeface="-apple-system"/>
              </a:rPr>
              <a:t>, </a:t>
            </a:r>
            <a:r>
              <a:rPr lang="ko-KR" altLang="en-US" b="0" i="0" dirty="0">
                <a:solidFill>
                  <a:srgbClr val="D4D4D4"/>
                </a:solidFill>
                <a:effectLst/>
                <a:latin typeface="-apple-system"/>
              </a:rPr>
              <a:t>각 체인 별로 보안 문제가 발생하지 않을 경우 네트워크에 대한 보안 취약점이 발생하지 않는다</a:t>
            </a:r>
            <a:r>
              <a:rPr lang="en-US" altLang="ko-KR" b="0" i="0" dirty="0">
                <a:solidFill>
                  <a:srgbClr val="D4D4D4"/>
                </a:solidFill>
                <a:effectLst/>
                <a:latin typeface="-apple-system"/>
              </a:rPr>
              <a:t>. </a:t>
            </a:r>
            <a:r>
              <a:rPr lang="ko-KR" altLang="en-US" b="0" i="0" dirty="0">
                <a:solidFill>
                  <a:srgbClr val="D4D4D4"/>
                </a:solidFill>
                <a:effectLst/>
                <a:latin typeface="-apple-system"/>
              </a:rPr>
              <a:t>다중 서명자 방식의 경우 서명자 네트워크가 해킹될 경우 보안 취약점이 발생할 수 있는데</a:t>
            </a:r>
            <a:r>
              <a:rPr lang="en-US" altLang="ko-KR" b="0" i="0" dirty="0">
                <a:solidFill>
                  <a:srgbClr val="D4D4D4"/>
                </a:solidFill>
                <a:effectLst/>
                <a:latin typeface="-apple-system"/>
              </a:rPr>
              <a:t>, </a:t>
            </a:r>
            <a:r>
              <a:rPr lang="ko-KR" altLang="en-US" b="0" i="0" dirty="0">
                <a:solidFill>
                  <a:srgbClr val="D4D4D4"/>
                </a:solidFill>
                <a:effectLst/>
                <a:latin typeface="-apple-system"/>
              </a:rPr>
              <a:t>예로 </a:t>
            </a:r>
            <a:r>
              <a:rPr lang="en-US" b="0" i="0" dirty="0">
                <a:solidFill>
                  <a:srgbClr val="D4D4D4"/>
                </a:solidFill>
                <a:effectLst/>
                <a:latin typeface="-apple-system"/>
              </a:rPr>
              <a:t>Poly Network, Wormhole </a:t>
            </a:r>
            <a:r>
              <a:rPr lang="ko-KR" altLang="en-US" b="0" i="0" dirty="0">
                <a:solidFill>
                  <a:srgbClr val="D4D4D4"/>
                </a:solidFill>
                <a:effectLst/>
                <a:latin typeface="-apple-system"/>
              </a:rPr>
              <a:t>등에서 발생한 공격은 스마트 </a:t>
            </a:r>
            <a:r>
              <a:rPr lang="ko-KR" altLang="en-US" b="0" i="0" dirty="0" err="1">
                <a:solidFill>
                  <a:srgbClr val="D4D4D4"/>
                </a:solidFill>
                <a:effectLst/>
                <a:latin typeface="-apple-system"/>
              </a:rPr>
              <a:t>컨트랙트의</a:t>
            </a:r>
            <a:r>
              <a:rPr lang="ko-KR" altLang="en-US" b="0" i="0" dirty="0">
                <a:solidFill>
                  <a:srgbClr val="D4D4D4"/>
                </a:solidFill>
                <a:effectLst/>
                <a:latin typeface="-apple-system"/>
              </a:rPr>
              <a:t> 약점을 활용한 서명자 공격으로 인하여 발생한 사례이다</a:t>
            </a:r>
            <a:r>
              <a:rPr lang="en-US" altLang="ko-KR" b="0" i="0" dirty="0">
                <a:solidFill>
                  <a:srgbClr val="D4D4D4"/>
                </a:solidFill>
                <a:effectLst/>
                <a:latin typeface="-apple-system"/>
              </a:rPr>
              <a:t>. </a:t>
            </a:r>
            <a:r>
              <a:rPr lang="en-US" b="0" i="0" dirty="0">
                <a:solidFill>
                  <a:srgbClr val="D4D4D4"/>
                </a:solidFill>
                <a:effectLst/>
                <a:latin typeface="-apple-system"/>
              </a:rPr>
              <a:t>Custodian </a:t>
            </a:r>
            <a:r>
              <a:rPr lang="ko-KR" altLang="en-US" b="0" i="0" dirty="0">
                <a:solidFill>
                  <a:srgbClr val="D4D4D4"/>
                </a:solidFill>
                <a:effectLst/>
                <a:latin typeface="-apple-system"/>
              </a:rPr>
              <a:t>방식은 </a:t>
            </a:r>
            <a:r>
              <a:rPr lang="ko-KR" altLang="en-US" b="0" i="0" dirty="0" err="1">
                <a:solidFill>
                  <a:srgbClr val="D4D4D4"/>
                </a:solidFill>
                <a:effectLst/>
                <a:latin typeface="-apple-system"/>
              </a:rPr>
              <a:t>중앙화된</a:t>
            </a:r>
            <a:r>
              <a:rPr lang="ko-KR" altLang="en-US" b="0" i="0" dirty="0">
                <a:solidFill>
                  <a:srgbClr val="D4D4D4"/>
                </a:solidFill>
                <a:effectLst/>
                <a:latin typeface="-apple-system"/>
              </a:rPr>
              <a:t> 시스템이 </a:t>
            </a:r>
            <a:r>
              <a:rPr lang="ko-KR" altLang="en-US" b="0" i="0" dirty="0" err="1">
                <a:solidFill>
                  <a:srgbClr val="D4D4D4"/>
                </a:solidFill>
                <a:effectLst/>
                <a:latin typeface="-apple-system"/>
              </a:rPr>
              <a:t>해킹당할</a:t>
            </a:r>
            <a:r>
              <a:rPr lang="ko-KR" altLang="en-US" b="0" i="0" dirty="0">
                <a:solidFill>
                  <a:srgbClr val="D4D4D4"/>
                </a:solidFill>
                <a:effectLst/>
                <a:latin typeface="-apple-system"/>
              </a:rPr>
              <a:t> 경우 전체 자산이 위험해지는 문제가 발생할 수 있어 보안 취약점이 높다고 볼 수 있다</a:t>
            </a:r>
            <a:r>
              <a:rPr lang="en-US" altLang="ko-KR" b="0" i="0" dirty="0">
                <a:solidFill>
                  <a:srgbClr val="D4D4D4"/>
                </a:solidFill>
                <a:effectLst/>
                <a:latin typeface="-apple-system"/>
              </a:rPr>
              <a:t>.</a:t>
            </a:r>
          </a:p>
          <a:p>
            <a:pPr algn="l"/>
            <a:endParaRPr lang="en-US" altLang="ko-KR" b="0" i="0" dirty="0">
              <a:solidFill>
                <a:srgbClr val="D4D4D4"/>
              </a:solidFill>
              <a:effectLst/>
              <a:latin typeface="-apple-system"/>
            </a:endParaRPr>
          </a:p>
          <a:p>
            <a:pPr algn="l"/>
            <a:r>
              <a:rPr lang="en-US" altLang="ko-KR" b="1" i="0" dirty="0">
                <a:solidFill>
                  <a:srgbClr val="D4D4D4"/>
                </a:solidFill>
                <a:effectLst/>
                <a:latin typeface="-apple-system"/>
              </a:rPr>
              <a:t>3. </a:t>
            </a:r>
            <a:r>
              <a:rPr lang="ko-KR" altLang="en-US" b="1" i="0" dirty="0">
                <a:solidFill>
                  <a:srgbClr val="D4D4D4"/>
                </a:solidFill>
                <a:effectLst/>
                <a:latin typeface="-apple-system"/>
              </a:rPr>
              <a:t>확장성</a:t>
            </a:r>
          </a:p>
          <a:p>
            <a:pPr algn="l"/>
            <a:r>
              <a:rPr lang="en-US" b="0" i="0" dirty="0">
                <a:solidFill>
                  <a:srgbClr val="D4D4D4"/>
                </a:solidFill>
                <a:effectLst/>
                <a:latin typeface="-apple-system"/>
              </a:rPr>
              <a:t>IBC</a:t>
            </a:r>
            <a:r>
              <a:rPr lang="ko-KR" altLang="en-US" b="0" i="0" dirty="0">
                <a:solidFill>
                  <a:srgbClr val="D4D4D4"/>
                </a:solidFill>
                <a:effectLst/>
                <a:latin typeface="-apple-system"/>
              </a:rPr>
              <a:t>는 허브</a:t>
            </a:r>
            <a:r>
              <a:rPr lang="en-US" altLang="ko-KR" b="0" i="0" dirty="0">
                <a:solidFill>
                  <a:srgbClr val="D4D4D4"/>
                </a:solidFill>
                <a:effectLst/>
                <a:latin typeface="-apple-system"/>
              </a:rPr>
              <a:t>-</a:t>
            </a:r>
            <a:r>
              <a:rPr lang="ko-KR" altLang="en-US" b="0" i="0" dirty="0">
                <a:solidFill>
                  <a:srgbClr val="D4D4D4"/>
                </a:solidFill>
                <a:effectLst/>
                <a:latin typeface="-apple-system"/>
              </a:rPr>
              <a:t>존 방식을 통해 다수의 체인을 적은 연결 수와 손쉬운 방법으로 연결할 수 있다</a:t>
            </a:r>
            <a:r>
              <a:rPr lang="en-US" altLang="ko-KR" b="0" i="0" dirty="0">
                <a:solidFill>
                  <a:srgbClr val="D4D4D4"/>
                </a:solidFill>
                <a:effectLst/>
                <a:latin typeface="-apple-system"/>
              </a:rPr>
              <a:t>. </a:t>
            </a:r>
            <a:r>
              <a:rPr lang="ko-KR" altLang="en-US" b="0" i="0" dirty="0">
                <a:solidFill>
                  <a:srgbClr val="D4D4D4"/>
                </a:solidFill>
                <a:effectLst/>
                <a:latin typeface="-apple-system"/>
              </a:rPr>
              <a:t>또한 </a:t>
            </a:r>
            <a:r>
              <a:rPr lang="en-US" b="0" i="0" dirty="0">
                <a:solidFill>
                  <a:srgbClr val="D4D4D4"/>
                </a:solidFill>
                <a:effectLst/>
                <a:latin typeface="-apple-system"/>
              </a:rPr>
              <a:t>peg-zone </a:t>
            </a:r>
            <a:r>
              <a:rPr lang="ko-KR" altLang="en-US" b="0" i="0" dirty="0">
                <a:solidFill>
                  <a:srgbClr val="D4D4D4"/>
                </a:solidFill>
                <a:effectLst/>
                <a:latin typeface="-apple-system"/>
              </a:rPr>
              <a:t>방식을 통해 코스모스 기반이 아닌 체인을 연결할 수 있는 방법 또한 제공한다</a:t>
            </a:r>
            <a:r>
              <a:rPr lang="en-US" altLang="ko-KR" b="0" i="0" dirty="0">
                <a:solidFill>
                  <a:srgbClr val="D4D4D4"/>
                </a:solidFill>
                <a:effectLst/>
                <a:latin typeface="-apple-system"/>
              </a:rPr>
              <a:t>. </a:t>
            </a:r>
            <a:r>
              <a:rPr lang="ko-KR" altLang="en-US" b="0" i="0" dirty="0">
                <a:solidFill>
                  <a:srgbClr val="D4D4D4"/>
                </a:solidFill>
                <a:effectLst/>
                <a:latin typeface="-apple-system"/>
              </a:rPr>
              <a:t>다중 서명자 방식은 서명자 네트워크의 확장성과 성능에 따라 확장 여부가 결정되는데</a:t>
            </a:r>
            <a:r>
              <a:rPr lang="en-US" altLang="ko-KR" b="0" i="0" dirty="0">
                <a:solidFill>
                  <a:srgbClr val="D4D4D4"/>
                </a:solidFill>
                <a:effectLst/>
                <a:latin typeface="-apple-system"/>
              </a:rPr>
              <a:t>, </a:t>
            </a:r>
            <a:r>
              <a:rPr lang="ko-KR" altLang="en-US" b="0" i="0" dirty="0">
                <a:solidFill>
                  <a:srgbClr val="D4D4D4"/>
                </a:solidFill>
                <a:effectLst/>
                <a:latin typeface="-apple-system"/>
              </a:rPr>
              <a:t>서명자가 많아질수록 네트워크의 복잡도가 증가할 수 있다</a:t>
            </a:r>
            <a:r>
              <a:rPr lang="en-US" altLang="ko-KR" b="0" i="0" dirty="0">
                <a:solidFill>
                  <a:srgbClr val="D4D4D4"/>
                </a:solidFill>
                <a:effectLst/>
                <a:latin typeface="-apple-system"/>
              </a:rPr>
              <a:t>. </a:t>
            </a:r>
            <a:r>
              <a:rPr lang="en-US" b="0" i="0" dirty="0">
                <a:solidFill>
                  <a:srgbClr val="D4D4D4"/>
                </a:solidFill>
                <a:effectLst/>
                <a:latin typeface="-apple-system"/>
              </a:rPr>
              <a:t>Custodian </a:t>
            </a:r>
            <a:r>
              <a:rPr lang="ko-KR" altLang="en-US" b="0" i="0" dirty="0">
                <a:solidFill>
                  <a:srgbClr val="D4D4D4"/>
                </a:solidFill>
                <a:effectLst/>
                <a:latin typeface="-apple-system"/>
              </a:rPr>
              <a:t>방식은 </a:t>
            </a:r>
            <a:r>
              <a:rPr lang="ko-KR" altLang="en-US" b="0" i="0" dirty="0" err="1">
                <a:solidFill>
                  <a:srgbClr val="D4D4D4"/>
                </a:solidFill>
                <a:effectLst/>
                <a:latin typeface="-apple-system"/>
              </a:rPr>
              <a:t>중앙화된</a:t>
            </a:r>
            <a:r>
              <a:rPr lang="ko-KR" altLang="en-US" b="0" i="0" dirty="0">
                <a:solidFill>
                  <a:srgbClr val="D4D4D4"/>
                </a:solidFill>
                <a:effectLst/>
                <a:latin typeface="-apple-system"/>
              </a:rPr>
              <a:t> 시스템이 모든 체인을 관리하기 때문에</a:t>
            </a:r>
            <a:r>
              <a:rPr lang="en-US" altLang="ko-KR" b="0" i="0" dirty="0">
                <a:solidFill>
                  <a:srgbClr val="D4D4D4"/>
                </a:solidFill>
                <a:effectLst/>
                <a:latin typeface="-apple-system"/>
              </a:rPr>
              <a:t>, </a:t>
            </a:r>
            <a:r>
              <a:rPr lang="ko-KR" altLang="en-US" b="0" i="0" dirty="0">
                <a:solidFill>
                  <a:srgbClr val="D4D4D4"/>
                </a:solidFill>
                <a:effectLst/>
                <a:latin typeface="-apple-system"/>
              </a:rPr>
              <a:t>확장성이 크게 제한되는 구조를 갖는다</a:t>
            </a:r>
            <a:r>
              <a:rPr lang="en-US" altLang="ko-KR" b="0" i="0" dirty="0">
                <a:solidFill>
                  <a:srgbClr val="D4D4D4"/>
                </a:solidFill>
                <a:effectLst/>
                <a:latin typeface="-apple-system"/>
              </a:rPr>
              <a:t>. </a:t>
            </a:r>
            <a:r>
              <a:rPr lang="ko-KR" altLang="en-US" b="0" i="0" dirty="0">
                <a:solidFill>
                  <a:srgbClr val="D4D4D4"/>
                </a:solidFill>
                <a:effectLst/>
                <a:latin typeface="-apple-system"/>
              </a:rPr>
              <a:t>특히 시스템의 용량과 관리 범위에 따라 체인의 추가가 제한될 수 있는데</a:t>
            </a:r>
            <a:r>
              <a:rPr lang="en-US" altLang="ko-KR" b="0" i="0" dirty="0">
                <a:solidFill>
                  <a:srgbClr val="D4D4D4"/>
                </a:solidFill>
                <a:effectLst/>
                <a:latin typeface="-apple-system"/>
              </a:rPr>
              <a:t>, </a:t>
            </a:r>
            <a:r>
              <a:rPr lang="en-US" b="0" i="0" dirty="0">
                <a:solidFill>
                  <a:srgbClr val="D4D4D4"/>
                </a:solidFill>
                <a:effectLst/>
                <a:latin typeface="-apple-system"/>
              </a:rPr>
              <a:t>WBTC</a:t>
            </a:r>
            <a:r>
              <a:rPr lang="ko-KR" altLang="en-US" b="0" i="0" dirty="0">
                <a:solidFill>
                  <a:srgbClr val="D4D4D4"/>
                </a:solidFill>
                <a:effectLst/>
                <a:latin typeface="-apple-system"/>
              </a:rPr>
              <a:t>의 경우 </a:t>
            </a:r>
            <a:r>
              <a:rPr lang="en-US" b="0" i="0" dirty="0" err="1">
                <a:solidFill>
                  <a:srgbClr val="D4D4D4"/>
                </a:solidFill>
                <a:effectLst/>
                <a:latin typeface="-apple-system"/>
              </a:rPr>
              <a:t>bitgo</a:t>
            </a:r>
            <a:r>
              <a:rPr lang="ko-KR" altLang="en-US" b="0" i="0" dirty="0">
                <a:solidFill>
                  <a:srgbClr val="D4D4D4"/>
                </a:solidFill>
                <a:effectLst/>
                <a:latin typeface="-apple-system"/>
              </a:rPr>
              <a:t>라는 별도의 </a:t>
            </a:r>
            <a:r>
              <a:rPr lang="en-US" b="0" i="0" dirty="0">
                <a:solidFill>
                  <a:srgbClr val="D4D4D4"/>
                </a:solidFill>
                <a:effectLst/>
                <a:latin typeface="-apple-system"/>
              </a:rPr>
              <a:t>Custodian </a:t>
            </a:r>
            <a:r>
              <a:rPr lang="ko-KR" altLang="en-US" b="0" i="0" dirty="0">
                <a:solidFill>
                  <a:srgbClr val="D4D4D4"/>
                </a:solidFill>
                <a:effectLst/>
                <a:latin typeface="-apple-system"/>
              </a:rPr>
              <a:t>기관과 협업하여 자산을 교환하기 때문에 </a:t>
            </a:r>
            <a:r>
              <a:rPr lang="en-US" b="0" i="0" dirty="0" err="1">
                <a:solidFill>
                  <a:srgbClr val="D4D4D4"/>
                </a:solidFill>
                <a:effectLst/>
                <a:latin typeface="-apple-system"/>
              </a:rPr>
              <a:t>bitgo</a:t>
            </a:r>
            <a:r>
              <a:rPr lang="ko-KR" altLang="en-US" b="0" i="0" dirty="0">
                <a:solidFill>
                  <a:srgbClr val="D4D4D4"/>
                </a:solidFill>
                <a:effectLst/>
                <a:latin typeface="-apple-system"/>
              </a:rPr>
              <a:t>에 시스템에 의해 확장성이 결정된다</a:t>
            </a:r>
            <a:r>
              <a:rPr lang="en-US" altLang="ko-KR" b="0" i="0" dirty="0">
                <a:solidFill>
                  <a:srgbClr val="D4D4D4"/>
                </a:solidFill>
                <a:effectLst/>
                <a:latin typeface="-apple-system"/>
              </a:rPr>
              <a:t>.</a:t>
            </a:r>
          </a:p>
          <a:p>
            <a:pPr algn="l"/>
            <a:endParaRPr lang="en-US" altLang="ko-KR" b="0" i="0" dirty="0">
              <a:solidFill>
                <a:srgbClr val="D4D4D4"/>
              </a:solidFill>
              <a:effectLst/>
              <a:latin typeface="-apple-system"/>
            </a:endParaRPr>
          </a:p>
          <a:p>
            <a:pPr algn="l"/>
            <a:r>
              <a:rPr lang="en-US" altLang="ko-KR" b="1" i="0" dirty="0">
                <a:solidFill>
                  <a:srgbClr val="D4D4D4"/>
                </a:solidFill>
                <a:effectLst/>
                <a:latin typeface="-apple-system"/>
              </a:rPr>
              <a:t>4. </a:t>
            </a:r>
            <a:r>
              <a:rPr lang="ko-KR" altLang="en-US" b="1" i="0" dirty="0">
                <a:solidFill>
                  <a:srgbClr val="D4D4D4"/>
                </a:solidFill>
                <a:effectLst/>
                <a:latin typeface="-apple-system"/>
              </a:rPr>
              <a:t>속도</a:t>
            </a:r>
          </a:p>
          <a:p>
            <a:pPr algn="l"/>
            <a:r>
              <a:rPr lang="en-US" b="0" i="0" dirty="0">
                <a:solidFill>
                  <a:srgbClr val="D4D4D4"/>
                </a:solidFill>
                <a:effectLst/>
                <a:latin typeface="-apple-system"/>
              </a:rPr>
              <a:t>Custodian </a:t>
            </a:r>
            <a:r>
              <a:rPr lang="ko-KR" altLang="en-US" b="0" i="0" dirty="0">
                <a:solidFill>
                  <a:srgbClr val="D4D4D4"/>
                </a:solidFill>
                <a:effectLst/>
                <a:latin typeface="-apple-system"/>
              </a:rPr>
              <a:t>방식의 경우 </a:t>
            </a:r>
            <a:r>
              <a:rPr lang="ko-KR" altLang="en-US" b="0" i="0" dirty="0" err="1">
                <a:solidFill>
                  <a:srgbClr val="D4D4D4"/>
                </a:solidFill>
                <a:effectLst/>
                <a:latin typeface="-apple-system"/>
              </a:rPr>
              <a:t>중앙화된</a:t>
            </a:r>
            <a:r>
              <a:rPr lang="ko-KR" altLang="en-US" b="0" i="0" dirty="0">
                <a:solidFill>
                  <a:srgbClr val="D4D4D4"/>
                </a:solidFill>
                <a:effectLst/>
                <a:latin typeface="-apple-system"/>
              </a:rPr>
              <a:t> 시스템을 통해 데이터 교환을 처리하기 때문에</a:t>
            </a:r>
            <a:r>
              <a:rPr lang="en-US" altLang="ko-KR" b="0" i="0" dirty="0">
                <a:solidFill>
                  <a:srgbClr val="D4D4D4"/>
                </a:solidFill>
                <a:effectLst/>
                <a:latin typeface="-apple-system"/>
              </a:rPr>
              <a:t>, </a:t>
            </a:r>
            <a:r>
              <a:rPr lang="ko-KR" altLang="en-US" b="0" i="0" dirty="0">
                <a:solidFill>
                  <a:srgbClr val="D4D4D4"/>
                </a:solidFill>
                <a:effectLst/>
                <a:latin typeface="-apple-system"/>
              </a:rPr>
              <a:t>해당 시스템의 성능이 높을 수록 빠른 처리 속도를 가질 수 있다</a:t>
            </a:r>
            <a:r>
              <a:rPr lang="en-US" altLang="ko-KR" b="0" i="0" dirty="0">
                <a:solidFill>
                  <a:srgbClr val="D4D4D4"/>
                </a:solidFill>
                <a:effectLst/>
                <a:latin typeface="-apple-system"/>
              </a:rPr>
              <a:t>. </a:t>
            </a:r>
            <a:r>
              <a:rPr lang="ko-KR" altLang="en-US" b="0" i="0" dirty="0">
                <a:solidFill>
                  <a:srgbClr val="D4D4D4"/>
                </a:solidFill>
                <a:effectLst/>
                <a:latin typeface="-apple-system"/>
              </a:rPr>
              <a:t>하지만 </a:t>
            </a:r>
            <a:r>
              <a:rPr lang="ko-KR" altLang="en-US" b="0" i="0" dirty="0" err="1">
                <a:solidFill>
                  <a:srgbClr val="D4D4D4"/>
                </a:solidFill>
                <a:effectLst/>
                <a:latin typeface="-apple-system"/>
              </a:rPr>
              <a:t>중앙화된</a:t>
            </a:r>
            <a:r>
              <a:rPr lang="ko-KR" altLang="en-US" b="0" i="0" dirty="0">
                <a:solidFill>
                  <a:srgbClr val="D4D4D4"/>
                </a:solidFill>
                <a:effectLst/>
                <a:latin typeface="-apple-system"/>
              </a:rPr>
              <a:t> 구조의 특성상 낮은 유연성을 보이며 성능 개선 방식이 제한적일 수 있다</a:t>
            </a:r>
            <a:r>
              <a:rPr lang="en-US" altLang="ko-KR" b="0" i="0" dirty="0">
                <a:solidFill>
                  <a:srgbClr val="D4D4D4"/>
                </a:solidFill>
                <a:effectLst/>
                <a:latin typeface="-apple-system"/>
              </a:rPr>
              <a:t>. </a:t>
            </a:r>
            <a:r>
              <a:rPr lang="ko-KR" altLang="en-US" b="0" i="0" dirty="0">
                <a:solidFill>
                  <a:srgbClr val="D4D4D4"/>
                </a:solidFill>
                <a:effectLst/>
                <a:latin typeface="-apple-system"/>
              </a:rPr>
              <a:t>다중 서명자 방식은 </a:t>
            </a:r>
            <a:r>
              <a:rPr lang="en-US" b="0" i="0" dirty="0">
                <a:solidFill>
                  <a:srgbClr val="D4D4D4"/>
                </a:solidFill>
                <a:effectLst/>
                <a:latin typeface="-apple-system"/>
              </a:rPr>
              <a:t>IBC </a:t>
            </a:r>
            <a:r>
              <a:rPr lang="ko-KR" altLang="en-US" b="0" i="0" dirty="0">
                <a:solidFill>
                  <a:srgbClr val="D4D4D4"/>
                </a:solidFill>
                <a:effectLst/>
                <a:latin typeface="-apple-system"/>
              </a:rPr>
              <a:t>방식보다는 빠르나</a:t>
            </a:r>
            <a:r>
              <a:rPr lang="en-US" altLang="ko-KR" b="0" i="0" dirty="0">
                <a:solidFill>
                  <a:srgbClr val="D4D4D4"/>
                </a:solidFill>
                <a:effectLst/>
                <a:latin typeface="-apple-system"/>
              </a:rPr>
              <a:t>, </a:t>
            </a:r>
            <a:r>
              <a:rPr lang="ko-KR" altLang="en-US" b="0" i="0" dirty="0">
                <a:solidFill>
                  <a:srgbClr val="D4D4D4"/>
                </a:solidFill>
                <a:effectLst/>
                <a:latin typeface="-apple-system"/>
              </a:rPr>
              <a:t>서명자의 숫자 및 서명 속도에 따라 처리 속도가 결정된다</a:t>
            </a:r>
            <a:r>
              <a:rPr lang="en-US" altLang="ko-KR" b="0" i="0" dirty="0">
                <a:solidFill>
                  <a:srgbClr val="D4D4D4"/>
                </a:solidFill>
                <a:effectLst/>
                <a:latin typeface="-apple-system"/>
              </a:rPr>
              <a:t>. </a:t>
            </a:r>
            <a:r>
              <a:rPr lang="en-US" b="0" i="0" dirty="0">
                <a:solidFill>
                  <a:srgbClr val="D4D4D4"/>
                </a:solidFill>
                <a:effectLst/>
                <a:latin typeface="-apple-system"/>
              </a:rPr>
              <a:t>IBC</a:t>
            </a:r>
            <a:r>
              <a:rPr lang="ko-KR" altLang="en-US" b="0" i="0" dirty="0">
                <a:solidFill>
                  <a:srgbClr val="D4D4D4"/>
                </a:solidFill>
                <a:effectLst/>
                <a:latin typeface="-apple-system"/>
              </a:rPr>
              <a:t>는 릴레이어의 데이터 전송 및 클라이언트에서의 상대 체인 검증 등 추가적인 과정이 필요하기 때문에</a:t>
            </a:r>
            <a:r>
              <a:rPr lang="en-US" altLang="ko-KR" b="0" i="0" dirty="0">
                <a:solidFill>
                  <a:srgbClr val="D4D4D4"/>
                </a:solidFill>
                <a:effectLst/>
                <a:latin typeface="-apple-system"/>
              </a:rPr>
              <a:t>, </a:t>
            </a:r>
            <a:r>
              <a:rPr lang="ko-KR" altLang="en-US" b="0" i="0" dirty="0">
                <a:solidFill>
                  <a:srgbClr val="D4D4D4"/>
                </a:solidFill>
                <a:effectLst/>
                <a:latin typeface="-apple-system"/>
              </a:rPr>
              <a:t>다른 방식들에 비해 상대적으로 느린 속도를 가질 수 있다</a:t>
            </a:r>
            <a:r>
              <a:rPr lang="en-US" altLang="ko-KR" b="0" i="0" dirty="0">
                <a:solidFill>
                  <a:srgbClr val="D4D4D4"/>
                </a:solidFill>
                <a:effectLst/>
                <a:latin typeface="-apple-system"/>
              </a:rPr>
              <a:t>.</a:t>
            </a:r>
          </a:p>
          <a:p>
            <a:pPr algn="l"/>
            <a:endParaRPr lang="en-US" altLang="ko-KR" b="0" i="0" dirty="0">
              <a:solidFill>
                <a:srgbClr val="D4D4D4"/>
              </a:solidFill>
              <a:effectLst/>
              <a:latin typeface="-apple-system"/>
            </a:endParaRPr>
          </a:p>
          <a:p>
            <a:pPr algn="l"/>
            <a:r>
              <a:rPr lang="en-US" altLang="ko-KR" b="1" i="0" dirty="0">
                <a:solidFill>
                  <a:srgbClr val="D4D4D4"/>
                </a:solidFill>
                <a:effectLst/>
                <a:latin typeface="-apple-system"/>
              </a:rPr>
              <a:t>5. </a:t>
            </a:r>
            <a:r>
              <a:rPr lang="ko-KR" altLang="en-US" b="1" i="0" dirty="0">
                <a:solidFill>
                  <a:srgbClr val="D4D4D4"/>
                </a:solidFill>
                <a:effectLst/>
                <a:latin typeface="-apple-system"/>
              </a:rPr>
              <a:t>비용</a:t>
            </a:r>
          </a:p>
          <a:p>
            <a:pPr algn="l"/>
            <a:r>
              <a:rPr lang="en-US" b="0" i="0" dirty="0">
                <a:solidFill>
                  <a:srgbClr val="D4D4D4"/>
                </a:solidFill>
                <a:effectLst/>
                <a:latin typeface="-apple-system"/>
              </a:rPr>
              <a:t>IBC</a:t>
            </a:r>
            <a:r>
              <a:rPr lang="ko-KR" altLang="en-US" b="0" i="0" dirty="0">
                <a:solidFill>
                  <a:srgbClr val="D4D4D4"/>
                </a:solidFill>
                <a:effectLst/>
                <a:latin typeface="-apple-system"/>
              </a:rPr>
              <a:t>의 경우</a:t>
            </a:r>
            <a:r>
              <a:rPr lang="en-US" altLang="ko-KR" b="0" i="0" dirty="0">
                <a:solidFill>
                  <a:srgbClr val="D4D4D4"/>
                </a:solidFill>
                <a:effectLst/>
                <a:latin typeface="-apple-system"/>
              </a:rPr>
              <a:t>, </a:t>
            </a:r>
            <a:r>
              <a:rPr lang="ko-KR" altLang="en-US" b="0" i="0" dirty="0">
                <a:solidFill>
                  <a:srgbClr val="D4D4D4"/>
                </a:solidFill>
                <a:effectLst/>
                <a:latin typeface="-apple-system"/>
              </a:rPr>
              <a:t>현재는 릴레이어가 데이터 패킷을 전송할 때 발생하는 비용만 존재한다</a:t>
            </a:r>
            <a:r>
              <a:rPr lang="en-US" altLang="ko-KR" b="0" i="0" dirty="0">
                <a:solidFill>
                  <a:srgbClr val="D4D4D4"/>
                </a:solidFill>
                <a:effectLst/>
                <a:latin typeface="-apple-system"/>
              </a:rPr>
              <a:t>. </a:t>
            </a:r>
            <a:r>
              <a:rPr lang="ko-KR" altLang="en-US" b="0" i="0" dirty="0">
                <a:solidFill>
                  <a:srgbClr val="D4D4D4"/>
                </a:solidFill>
                <a:effectLst/>
                <a:latin typeface="-apple-system"/>
              </a:rPr>
              <a:t>다중 서명자 기반의 경우 서명자 네트워크의 보상 및 운영 비용이 발생할 수 있으며</a:t>
            </a:r>
            <a:r>
              <a:rPr lang="en-US" altLang="ko-KR" b="0" i="0" dirty="0">
                <a:solidFill>
                  <a:srgbClr val="D4D4D4"/>
                </a:solidFill>
                <a:effectLst/>
                <a:latin typeface="-apple-system"/>
              </a:rPr>
              <a:t>, </a:t>
            </a:r>
            <a:r>
              <a:rPr lang="ko-KR" altLang="en-US" b="0" i="0" dirty="0">
                <a:solidFill>
                  <a:srgbClr val="D4D4D4"/>
                </a:solidFill>
                <a:effectLst/>
                <a:latin typeface="-apple-system"/>
              </a:rPr>
              <a:t>서명자 수가 증가할 수록 비용이 증가할 수 있다</a:t>
            </a:r>
            <a:r>
              <a:rPr lang="en-US" altLang="ko-KR" b="0" i="0" dirty="0">
                <a:solidFill>
                  <a:srgbClr val="D4D4D4"/>
                </a:solidFill>
                <a:effectLst/>
                <a:latin typeface="-apple-system"/>
              </a:rPr>
              <a:t>. </a:t>
            </a:r>
            <a:r>
              <a:rPr lang="en-US" b="0" i="0" dirty="0">
                <a:solidFill>
                  <a:srgbClr val="D4D4D4"/>
                </a:solidFill>
                <a:effectLst/>
                <a:latin typeface="-apple-system"/>
              </a:rPr>
              <a:t>Custodian </a:t>
            </a:r>
            <a:r>
              <a:rPr lang="ko-KR" altLang="en-US" b="0" i="0" dirty="0">
                <a:solidFill>
                  <a:srgbClr val="D4D4D4"/>
                </a:solidFill>
                <a:effectLst/>
                <a:latin typeface="-apple-system"/>
              </a:rPr>
              <a:t>방식은 </a:t>
            </a:r>
            <a:r>
              <a:rPr lang="ko-KR" altLang="en-US" b="0" i="0" dirty="0" err="1">
                <a:solidFill>
                  <a:srgbClr val="D4D4D4"/>
                </a:solidFill>
                <a:effectLst/>
                <a:latin typeface="-apple-system"/>
              </a:rPr>
              <a:t>중앙화된</a:t>
            </a:r>
            <a:r>
              <a:rPr lang="ko-KR" altLang="en-US" b="0" i="0" dirty="0">
                <a:solidFill>
                  <a:srgbClr val="D4D4D4"/>
                </a:solidFill>
                <a:effectLst/>
                <a:latin typeface="-apple-system"/>
              </a:rPr>
              <a:t> 시스템을 관리하기 위한 비용이 필요하다</a:t>
            </a:r>
            <a:r>
              <a:rPr lang="en-US" altLang="ko-KR" b="0" i="0" dirty="0">
                <a:solidFill>
                  <a:srgbClr val="D4D4D4"/>
                </a:solidFill>
                <a:effectLst/>
                <a:latin typeface="-apple-system"/>
              </a:rPr>
              <a:t>. </a:t>
            </a:r>
            <a:r>
              <a:rPr lang="en-US" b="0" i="0" dirty="0">
                <a:solidFill>
                  <a:srgbClr val="D4D4D4"/>
                </a:solidFill>
                <a:effectLst/>
                <a:latin typeface="-apple-system"/>
              </a:rPr>
              <a:t>IBC</a:t>
            </a:r>
            <a:r>
              <a:rPr lang="ko-KR" altLang="en-US" b="0" i="0" dirty="0" err="1">
                <a:solidFill>
                  <a:srgbClr val="D4D4D4"/>
                </a:solidFill>
                <a:effectLst/>
                <a:latin typeface="-apple-system"/>
              </a:rPr>
              <a:t>를</a:t>
            </a:r>
            <a:r>
              <a:rPr lang="ko-KR" altLang="en-US" b="0" i="0" dirty="0">
                <a:solidFill>
                  <a:srgbClr val="D4D4D4"/>
                </a:solidFill>
                <a:effectLst/>
                <a:latin typeface="-apple-system"/>
              </a:rPr>
              <a:t> 제외한 나머지 방식에서는 필요에 따라 네트워크의 유동성을 위한 자산 공급이 필요한 경우도 존재한다</a:t>
            </a:r>
            <a:r>
              <a:rPr lang="en-US" altLang="ko-KR" b="0" i="0" dirty="0">
                <a:solidFill>
                  <a:srgbClr val="D4D4D4"/>
                </a:solidFill>
                <a:effectLst/>
                <a:latin typeface="-apple-system"/>
              </a:rPr>
              <a:t>.</a:t>
            </a:r>
          </a:p>
          <a:p>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15</a:t>
            </a:fld>
            <a:endParaRPr lang="en-KR"/>
          </a:p>
        </p:txBody>
      </p:sp>
    </p:spTree>
    <p:extLst>
      <p:ext uri="{BB962C8B-B14F-4D97-AF65-F5344CB8AC3E}">
        <p14:creationId xmlns:p14="http://schemas.microsoft.com/office/powerpoint/2010/main" val="1457864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0" i="0" dirty="0">
                <a:solidFill>
                  <a:srgbClr val="D4D4D4"/>
                </a:solidFill>
                <a:effectLst/>
                <a:latin typeface="-apple-system"/>
              </a:rPr>
              <a:t>체인 간 서로 데이터를 주고 받기 위해 서로가 상대 체인을 신뢰하는 환경을 구성하는 단계이다</a:t>
            </a:r>
            <a:r>
              <a:rPr lang="en-US" altLang="ko-KR" b="0" i="0" dirty="0">
                <a:solidFill>
                  <a:srgbClr val="D4D4D4"/>
                </a:solidFill>
                <a:effectLst/>
                <a:latin typeface="-apple-system"/>
              </a:rPr>
              <a:t>. </a:t>
            </a:r>
            <a:r>
              <a:rPr lang="ko-KR" altLang="en-US" b="0" i="0" dirty="0">
                <a:solidFill>
                  <a:srgbClr val="D4D4D4"/>
                </a:solidFill>
                <a:effectLst/>
                <a:latin typeface="-apple-system"/>
              </a:rPr>
              <a:t>오프체인으로 별도 구성된 </a:t>
            </a:r>
            <a:r>
              <a:rPr lang="ko-KR" altLang="en-US" b="0" i="0" dirty="0" err="1">
                <a:solidFill>
                  <a:srgbClr val="D4D4D4"/>
                </a:solidFill>
                <a:effectLst/>
                <a:latin typeface="-apple-system"/>
              </a:rPr>
              <a:t>릴레이어</a:t>
            </a:r>
            <a:r>
              <a:rPr lang="en-US" altLang="ko-KR" b="0" i="0" dirty="0">
                <a:solidFill>
                  <a:srgbClr val="D4D4D4"/>
                </a:solidFill>
                <a:effectLst/>
                <a:latin typeface="-apple-system"/>
              </a:rPr>
              <a:t>(</a:t>
            </a:r>
            <a:r>
              <a:rPr lang="en-US" b="0" i="0" dirty="0">
                <a:solidFill>
                  <a:srgbClr val="D4D4D4"/>
                </a:solidFill>
                <a:effectLst/>
                <a:latin typeface="-apple-system"/>
              </a:rPr>
              <a:t>Relayer)</a:t>
            </a:r>
            <a:r>
              <a:rPr lang="ko-KR" altLang="en-US" b="0" i="0" dirty="0">
                <a:solidFill>
                  <a:srgbClr val="D4D4D4"/>
                </a:solidFill>
                <a:effectLst/>
                <a:latin typeface="-apple-system"/>
              </a:rPr>
              <a:t>는 각 체인에 상대 체인에 대한 클라이언트 생성을 요청한다</a:t>
            </a:r>
            <a:r>
              <a:rPr lang="en-US" altLang="ko-KR" b="0" i="0" dirty="0">
                <a:solidFill>
                  <a:srgbClr val="D4D4D4"/>
                </a:solidFill>
                <a:effectLst/>
                <a:latin typeface="-apple-system"/>
              </a:rPr>
              <a:t>. </a:t>
            </a:r>
            <a:r>
              <a:rPr lang="ko-KR" altLang="en-US" b="0" i="0" dirty="0">
                <a:solidFill>
                  <a:srgbClr val="D4D4D4"/>
                </a:solidFill>
                <a:effectLst/>
                <a:latin typeface="-apple-system"/>
              </a:rPr>
              <a:t>클라이언트가 정상 생성되면 클라이언트를 기반으로 체인끼리 서로 통신할 수 있는 연결 통로인 커넥션</a:t>
            </a:r>
            <a:r>
              <a:rPr lang="en-US" altLang="ko-KR" b="0" i="0" dirty="0">
                <a:solidFill>
                  <a:srgbClr val="D4D4D4"/>
                </a:solidFill>
                <a:effectLst/>
                <a:latin typeface="-apple-system"/>
              </a:rPr>
              <a:t>(</a:t>
            </a:r>
            <a:r>
              <a:rPr lang="en-US" b="0" i="0" dirty="0">
                <a:solidFill>
                  <a:srgbClr val="D4D4D4"/>
                </a:solidFill>
                <a:effectLst/>
                <a:latin typeface="-apple-system"/>
              </a:rPr>
              <a:t>Connection)</a:t>
            </a:r>
            <a:r>
              <a:rPr lang="ko-KR" altLang="en-US" b="0" i="0" dirty="0">
                <a:solidFill>
                  <a:srgbClr val="D4D4D4"/>
                </a:solidFill>
                <a:effectLst/>
                <a:latin typeface="-apple-system"/>
              </a:rPr>
              <a:t>을 생성하고</a:t>
            </a:r>
            <a:r>
              <a:rPr lang="en-US" altLang="ko-KR" b="0" i="0" dirty="0">
                <a:solidFill>
                  <a:srgbClr val="D4D4D4"/>
                </a:solidFill>
                <a:effectLst/>
                <a:latin typeface="-apple-system"/>
              </a:rPr>
              <a:t>, </a:t>
            </a:r>
            <a:r>
              <a:rPr lang="ko-KR" altLang="en-US" b="0" i="0" dirty="0">
                <a:solidFill>
                  <a:srgbClr val="D4D4D4"/>
                </a:solidFill>
                <a:effectLst/>
                <a:latin typeface="-apple-system"/>
              </a:rPr>
              <a:t>커넥션 위에 기능 프로토콜 단위로 데이터 패킷을 주고 받을 수 있는 채널</a:t>
            </a:r>
            <a:r>
              <a:rPr lang="en-US" altLang="ko-KR" b="0" i="0" dirty="0">
                <a:solidFill>
                  <a:srgbClr val="D4D4D4"/>
                </a:solidFill>
                <a:effectLst/>
                <a:latin typeface="-apple-system"/>
              </a:rPr>
              <a:t>(</a:t>
            </a:r>
            <a:r>
              <a:rPr lang="en-US" b="0" i="0" dirty="0">
                <a:solidFill>
                  <a:srgbClr val="D4D4D4"/>
                </a:solidFill>
                <a:effectLst/>
                <a:latin typeface="-apple-system"/>
              </a:rPr>
              <a:t>Channel)</a:t>
            </a:r>
            <a:r>
              <a:rPr lang="ko-KR" altLang="en-US" b="0" i="0" dirty="0">
                <a:solidFill>
                  <a:srgbClr val="D4D4D4"/>
                </a:solidFill>
                <a:effectLst/>
                <a:latin typeface="-apple-system"/>
              </a:rPr>
              <a:t>을 생성한다</a:t>
            </a:r>
            <a:r>
              <a:rPr lang="en-US" altLang="ko-KR" b="0" i="0" dirty="0">
                <a:solidFill>
                  <a:srgbClr val="D4D4D4"/>
                </a:solidFill>
                <a:effectLst/>
                <a:latin typeface="-apple-system"/>
              </a:rPr>
              <a:t>.</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16</a:t>
            </a:fld>
            <a:endParaRPr lang="en-KR"/>
          </a:p>
        </p:txBody>
      </p:sp>
    </p:spTree>
    <p:extLst>
      <p:ext uri="{BB962C8B-B14F-4D97-AF65-F5344CB8AC3E}">
        <p14:creationId xmlns:p14="http://schemas.microsoft.com/office/powerpoint/2010/main" val="4115807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Inter var"/>
              </a:rPr>
              <a:t>In the IBC stack, connections are built on top of clients, so technically there could be multiple connections for each client if the client is interacting with multiple versions of the IBC protocol. For now, the setup should connote one connection for each client.</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17</a:t>
            </a:fld>
            <a:endParaRPr lang="en-KR"/>
          </a:p>
        </p:txBody>
      </p:sp>
    </p:spTree>
    <p:extLst>
      <p:ext uri="{BB962C8B-B14F-4D97-AF65-F5344CB8AC3E}">
        <p14:creationId xmlns:p14="http://schemas.microsoft.com/office/powerpoint/2010/main" val="854208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Inter var"/>
              </a:rPr>
              <a:t>In the IBC stack, connections are built on top of clients, so technically there could be multiple connections for each client if the client is interacting with multiple versions of the IBC protocol. For now, the setup should connote one connection for each client.</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18</a:t>
            </a:fld>
            <a:endParaRPr lang="en-KR"/>
          </a:p>
        </p:txBody>
      </p:sp>
    </p:spTree>
    <p:extLst>
      <p:ext uri="{BB962C8B-B14F-4D97-AF65-F5344CB8AC3E}">
        <p14:creationId xmlns:p14="http://schemas.microsoft.com/office/powerpoint/2010/main" val="2907764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Inter var"/>
              </a:rPr>
              <a:t>In the IBC stack, connections are built on top of clients, so technically there could be multiple connections for each client if the client is interacting with multiple versions of the IBC protocol. For now, the setup should connote one connection for each client.</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19</a:t>
            </a:fld>
            <a:endParaRPr lang="en-KR"/>
          </a:p>
        </p:txBody>
      </p:sp>
    </p:spTree>
    <p:extLst>
      <p:ext uri="{BB962C8B-B14F-4D97-AF65-F5344CB8AC3E}">
        <p14:creationId xmlns:p14="http://schemas.microsoft.com/office/powerpoint/2010/main" val="820584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Inter var"/>
              </a:rPr>
              <a:t>In the IBC stack, connections are built on top of clients, so technically there could be multiple connections for each client if the client is interacting with multiple versions of the IBC protocol. For now, the setup should connote one connection for each client.</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20</a:t>
            </a:fld>
            <a:endParaRPr lang="en-KR"/>
          </a:p>
        </p:txBody>
      </p:sp>
    </p:spTree>
    <p:extLst>
      <p:ext uri="{BB962C8B-B14F-4D97-AF65-F5344CB8AC3E}">
        <p14:creationId xmlns:p14="http://schemas.microsoft.com/office/powerpoint/2010/main" val="337723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Inter var"/>
              </a:rPr>
              <a:t>In the IBC stack, connections are built on top of clients, so technically there could be multiple connections for each client if the client is interacting with multiple versions of the IBC protocol. For now, the setup should connote one connection for each client.</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21</a:t>
            </a:fld>
            <a:endParaRPr lang="en-KR"/>
          </a:p>
        </p:txBody>
      </p:sp>
    </p:spTree>
    <p:extLst>
      <p:ext uri="{BB962C8B-B14F-4D97-AF65-F5344CB8AC3E}">
        <p14:creationId xmlns:p14="http://schemas.microsoft.com/office/powerpoint/2010/main" val="931640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effectLst/>
                <a:latin typeface="Inter var"/>
              </a:rPr>
              <a:t>portB</a:t>
            </a:r>
            <a:r>
              <a:rPr lang="en-US" b="0" i="0" dirty="0">
                <a:effectLst/>
                <a:latin typeface="Inter var"/>
              </a:rPr>
              <a:t>/channel-1/</a:t>
            </a:r>
            <a:r>
              <a:rPr lang="en-US" b="0" i="0" dirty="0" err="1">
                <a:effectLst/>
                <a:latin typeface="Inter var"/>
              </a:rPr>
              <a:t>portA</a:t>
            </a:r>
            <a:r>
              <a:rPr lang="en-US" b="0" i="0" dirty="0">
                <a:effectLst/>
                <a:latin typeface="Inter var"/>
              </a:rPr>
              <a:t>/channel-0/</a:t>
            </a:r>
            <a:r>
              <a:rPr lang="en-US" b="0" i="0" dirty="0" err="1">
                <a:effectLst/>
                <a:latin typeface="Inter var"/>
              </a:rPr>
              <a:t>uatom</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22</a:t>
            </a:fld>
            <a:endParaRPr lang="en-KR"/>
          </a:p>
        </p:txBody>
      </p:sp>
    </p:spTree>
    <p:extLst>
      <p:ext uri="{BB962C8B-B14F-4D97-AF65-F5344CB8AC3E}">
        <p14:creationId xmlns:p14="http://schemas.microsoft.com/office/powerpoint/2010/main" val="3279914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effectLst/>
                <a:latin typeface="Inter var"/>
              </a:rPr>
              <a:t>portB</a:t>
            </a:r>
            <a:r>
              <a:rPr lang="en-US" b="0" i="0" dirty="0">
                <a:effectLst/>
                <a:latin typeface="Inter var"/>
              </a:rPr>
              <a:t>/channel-1/</a:t>
            </a:r>
            <a:r>
              <a:rPr lang="en-US" b="0" i="0" dirty="0" err="1">
                <a:effectLst/>
                <a:latin typeface="Inter var"/>
              </a:rPr>
              <a:t>portA</a:t>
            </a:r>
            <a:r>
              <a:rPr lang="en-US" b="0" i="0" dirty="0">
                <a:effectLst/>
                <a:latin typeface="Inter var"/>
              </a:rPr>
              <a:t>/channel-0/</a:t>
            </a:r>
            <a:r>
              <a:rPr lang="en-US" b="0" i="0" dirty="0" err="1">
                <a:effectLst/>
                <a:latin typeface="Inter var"/>
              </a:rPr>
              <a:t>uatom</a:t>
            </a:r>
            <a:endParaRPr lang="en-KR" dirty="0"/>
          </a:p>
        </p:txBody>
      </p:sp>
      <p:sp>
        <p:nvSpPr>
          <p:cNvPr id="4" name="Slide Number Placeholder 3"/>
          <p:cNvSpPr>
            <a:spLocks noGrp="1"/>
          </p:cNvSpPr>
          <p:nvPr>
            <p:ph type="sldNum" sz="quarter" idx="5"/>
          </p:nvPr>
        </p:nvSpPr>
        <p:spPr/>
        <p:txBody>
          <a:bodyPr/>
          <a:lstStyle/>
          <a:p>
            <a:fld id="{68F19458-6438-6D4C-8871-C414D67D65FB}" type="slidenum">
              <a:rPr lang="en-KR" smtClean="0"/>
              <a:t>23</a:t>
            </a:fld>
            <a:endParaRPr lang="en-KR"/>
          </a:p>
        </p:txBody>
      </p:sp>
    </p:spTree>
    <p:extLst>
      <p:ext uri="{BB962C8B-B14F-4D97-AF65-F5344CB8AC3E}">
        <p14:creationId xmlns:p14="http://schemas.microsoft.com/office/powerpoint/2010/main" val="16567842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err="1">
                <a:solidFill>
                  <a:srgbClr val="D4D4D4"/>
                </a:solidFill>
                <a:effectLst/>
                <a:latin typeface="-apple-system"/>
              </a:rPr>
              <a:t>SourcePort</a:t>
            </a:r>
            <a:r>
              <a:rPr lang="en-US" b="0" i="0" dirty="0">
                <a:solidFill>
                  <a:srgbClr val="D4D4D4"/>
                </a:solidFill>
                <a:effectLst/>
                <a:latin typeface="-apple-system"/>
              </a:rPr>
              <a:t> : </a:t>
            </a:r>
            <a:r>
              <a:rPr lang="ko-KR" altLang="en-US" b="0" i="0" dirty="0">
                <a:solidFill>
                  <a:srgbClr val="D4D4D4"/>
                </a:solidFill>
                <a:effectLst/>
                <a:latin typeface="-apple-system"/>
              </a:rPr>
              <a:t>소스 체인에서 토큰을 전송하는 애플리케이션의 포트 </a:t>
            </a:r>
            <a:r>
              <a:rPr lang="en-US" altLang="ko-KR" b="0" i="0" dirty="0">
                <a:solidFill>
                  <a:srgbClr val="D4D4D4"/>
                </a:solidFill>
                <a:effectLst/>
                <a:latin typeface="-apple-system"/>
              </a:rPr>
              <a:t>(</a:t>
            </a:r>
            <a:r>
              <a:rPr lang="en-US" b="0" i="0" dirty="0">
                <a:solidFill>
                  <a:srgbClr val="D4D4D4"/>
                </a:solidFill>
                <a:effectLst/>
                <a:latin typeface="-apple-system"/>
              </a:rPr>
              <a:t>transfer)</a:t>
            </a:r>
          </a:p>
          <a:p>
            <a:pPr algn="l">
              <a:buFont typeface="Arial" panose="020B0604020202020204" pitchFamily="34" charset="0"/>
              <a:buChar char="•"/>
            </a:pPr>
            <a:r>
              <a:rPr lang="en-US" b="0" i="0" dirty="0" err="1">
                <a:solidFill>
                  <a:srgbClr val="D4D4D4"/>
                </a:solidFill>
                <a:effectLst/>
                <a:latin typeface="-apple-system"/>
              </a:rPr>
              <a:t>SourceChannel</a:t>
            </a:r>
            <a:r>
              <a:rPr lang="en-US" b="0" i="0" dirty="0">
                <a:solidFill>
                  <a:srgbClr val="D4D4D4"/>
                </a:solidFill>
                <a:effectLst/>
                <a:latin typeface="-apple-system"/>
              </a:rPr>
              <a:t> : </a:t>
            </a:r>
            <a:r>
              <a:rPr lang="ko-KR" altLang="en-US" b="0" i="0" dirty="0">
                <a:solidFill>
                  <a:srgbClr val="D4D4D4"/>
                </a:solidFill>
                <a:effectLst/>
                <a:latin typeface="-apple-system"/>
              </a:rPr>
              <a:t>소스 체인에서 패킷 전송에 사용할 채널 </a:t>
            </a:r>
            <a:r>
              <a:rPr lang="en-US" altLang="ko-KR" b="0" i="0" dirty="0">
                <a:solidFill>
                  <a:srgbClr val="D4D4D4"/>
                </a:solidFill>
                <a:effectLst/>
                <a:latin typeface="-apple-system"/>
              </a:rPr>
              <a:t>(</a:t>
            </a:r>
            <a:r>
              <a:rPr lang="ko-KR" altLang="en-US" b="0" i="0" dirty="0">
                <a:solidFill>
                  <a:srgbClr val="D4D4D4"/>
                </a:solidFill>
                <a:effectLst/>
                <a:latin typeface="-apple-system"/>
              </a:rPr>
              <a:t>위의 그림에서 </a:t>
            </a:r>
            <a:r>
              <a:rPr lang="en-US" b="0" i="0" dirty="0">
                <a:solidFill>
                  <a:srgbClr val="D4D4D4"/>
                </a:solidFill>
                <a:effectLst/>
                <a:latin typeface="-apple-system"/>
              </a:rPr>
              <a:t>channel-2)</a:t>
            </a:r>
          </a:p>
          <a:p>
            <a:pPr algn="l">
              <a:buFont typeface="Arial" panose="020B0604020202020204" pitchFamily="34" charset="0"/>
              <a:buChar char="•"/>
            </a:pPr>
            <a:r>
              <a:rPr lang="en-US" b="0" i="0" dirty="0" err="1">
                <a:solidFill>
                  <a:srgbClr val="D4D4D4"/>
                </a:solidFill>
                <a:effectLst/>
                <a:latin typeface="-apple-system"/>
              </a:rPr>
              <a:t>DestinationPort</a:t>
            </a:r>
            <a:r>
              <a:rPr lang="en-US" b="0" i="0" dirty="0">
                <a:solidFill>
                  <a:srgbClr val="D4D4D4"/>
                </a:solidFill>
                <a:effectLst/>
                <a:latin typeface="-apple-system"/>
              </a:rPr>
              <a:t> : </a:t>
            </a:r>
            <a:r>
              <a:rPr lang="ko-KR" altLang="en-US" b="0" i="0" dirty="0">
                <a:solidFill>
                  <a:srgbClr val="D4D4D4"/>
                </a:solidFill>
                <a:effectLst/>
                <a:latin typeface="-apple-system"/>
              </a:rPr>
              <a:t>싱크 체인에서 패킷을 수신할 포트 </a:t>
            </a:r>
            <a:r>
              <a:rPr lang="en-US" altLang="ko-KR" b="0" i="0" dirty="0">
                <a:solidFill>
                  <a:srgbClr val="D4D4D4"/>
                </a:solidFill>
                <a:effectLst/>
                <a:latin typeface="-apple-system"/>
              </a:rPr>
              <a:t>(</a:t>
            </a:r>
            <a:r>
              <a:rPr lang="en-US" b="0" i="0" dirty="0">
                <a:solidFill>
                  <a:srgbClr val="D4D4D4"/>
                </a:solidFill>
                <a:effectLst/>
                <a:latin typeface="-apple-system"/>
              </a:rPr>
              <a:t>transfer)</a:t>
            </a:r>
          </a:p>
          <a:p>
            <a:pPr algn="l">
              <a:buFont typeface="Arial" panose="020B0604020202020204" pitchFamily="34" charset="0"/>
              <a:buChar char="•"/>
            </a:pPr>
            <a:r>
              <a:rPr lang="en-US" b="0" i="0" dirty="0" err="1">
                <a:solidFill>
                  <a:srgbClr val="D4D4D4"/>
                </a:solidFill>
                <a:effectLst/>
                <a:latin typeface="-apple-system"/>
              </a:rPr>
              <a:t>DestinationChannel</a:t>
            </a:r>
            <a:r>
              <a:rPr lang="en-US" b="0" i="0" dirty="0">
                <a:solidFill>
                  <a:srgbClr val="D4D4D4"/>
                </a:solidFill>
                <a:effectLst/>
                <a:latin typeface="-apple-system"/>
              </a:rPr>
              <a:t> : </a:t>
            </a:r>
            <a:r>
              <a:rPr lang="ko-KR" altLang="en-US" b="0" i="0" dirty="0">
                <a:solidFill>
                  <a:srgbClr val="D4D4D4"/>
                </a:solidFill>
                <a:effectLst/>
                <a:latin typeface="-apple-system"/>
              </a:rPr>
              <a:t>싱크 체인에서 패킷을 수신할 채널 </a:t>
            </a:r>
            <a:r>
              <a:rPr lang="en-US" altLang="ko-KR" b="0" i="0" dirty="0">
                <a:solidFill>
                  <a:srgbClr val="D4D4D4"/>
                </a:solidFill>
                <a:effectLst/>
                <a:latin typeface="-apple-system"/>
              </a:rPr>
              <a:t>(</a:t>
            </a:r>
            <a:r>
              <a:rPr lang="ko-KR" altLang="en-US" b="0" i="0" dirty="0">
                <a:solidFill>
                  <a:srgbClr val="D4D4D4"/>
                </a:solidFill>
                <a:effectLst/>
                <a:latin typeface="-apple-system"/>
              </a:rPr>
              <a:t>위의 그림에서 </a:t>
            </a:r>
            <a:r>
              <a:rPr lang="en-US" b="0" i="0" dirty="0">
                <a:solidFill>
                  <a:srgbClr val="D4D4D4"/>
                </a:solidFill>
                <a:effectLst/>
                <a:latin typeface="-apple-system"/>
              </a:rPr>
              <a:t>channel-40)</a:t>
            </a:r>
          </a:p>
          <a:p>
            <a:pPr algn="l">
              <a:buFont typeface="Arial" panose="020B0604020202020204" pitchFamily="34" charset="0"/>
              <a:buChar char="•"/>
            </a:pPr>
            <a:r>
              <a:rPr lang="en-US" b="0" i="0" dirty="0">
                <a:solidFill>
                  <a:srgbClr val="D4D4D4"/>
                </a:solidFill>
                <a:effectLst/>
                <a:latin typeface="-apple-system"/>
              </a:rPr>
              <a:t>Data : </a:t>
            </a:r>
            <a:r>
              <a:rPr lang="ko-KR" altLang="en-US" b="0" i="0" dirty="0">
                <a:solidFill>
                  <a:srgbClr val="D4D4D4"/>
                </a:solidFill>
                <a:effectLst/>
                <a:latin typeface="-apple-system"/>
              </a:rPr>
              <a:t>실제로 전송되는 토큰과 관련된 정보</a:t>
            </a:r>
            <a:r>
              <a:rPr lang="en-US" altLang="ko-KR" b="0" i="0" dirty="0">
                <a:solidFill>
                  <a:srgbClr val="D4D4D4"/>
                </a:solidFill>
                <a:effectLst/>
                <a:latin typeface="-apple-system"/>
              </a:rPr>
              <a:t>(</a:t>
            </a:r>
            <a:r>
              <a:rPr lang="ko-KR" altLang="en-US" b="0" i="0" dirty="0">
                <a:solidFill>
                  <a:srgbClr val="D4D4D4"/>
                </a:solidFill>
                <a:effectLst/>
                <a:latin typeface="-apple-system"/>
              </a:rPr>
              <a:t>수량</a:t>
            </a:r>
            <a:r>
              <a:rPr lang="en-US" altLang="ko-KR" b="0" i="0" dirty="0">
                <a:solidFill>
                  <a:srgbClr val="D4D4D4"/>
                </a:solidFill>
                <a:effectLst/>
                <a:latin typeface="-apple-system"/>
              </a:rPr>
              <a:t>, </a:t>
            </a:r>
            <a:r>
              <a:rPr lang="ko-KR" altLang="en-US" b="0" i="0" dirty="0">
                <a:solidFill>
                  <a:srgbClr val="D4D4D4"/>
                </a:solidFill>
                <a:effectLst/>
                <a:latin typeface="-apple-system"/>
              </a:rPr>
              <a:t>수신자 주소 등</a:t>
            </a:r>
            <a:r>
              <a:rPr lang="en-US" altLang="ko-KR" b="0" i="0" dirty="0">
                <a:solidFill>
                  <a:srgbClr val="D4D4D4"/>
                </a:solidFill>
                <a:effectLst/>
                <a:latin typeface="-apple-system"/>
              </a:rPr>
              <a:t>)</a:t>
            </a:r>
          </a:p>
        </p:txBody>
      </p:sp>
      <p:sp>
        <p:nvSpPr>
          <p:cNvPr id="4" name="Slide Number Placeholder 3"/>
          <p:cNvSpPr>
            <a:spLocks noGrp="1"/>
          </p:cNvSpPr>
          <p:nvPr>
            <p:ph type="sldNum" sz="quarter" idx="5"/>
          </p:nvPr>
        </p:nvSpPr>
        <p:spPr/>
        <p:txBody>
          <a:bodyPr/>
          <a:lstStyle/>
          <a:p>
            <a:fld id="{68F19458-6438-6D4C-8871-C414D67D65FB}" type="slidenum">
              <a:rPr lang="en-KR" smtClean="0"/>
              <a:t>24</a:t>
            </a:fld>
            <a:endParaRPr lang="en-KR"/>
          </a:p>
        </p:txBody>
      </p:sp>
    </p:spTree>
    <p:extLst>
      <p:ext uri="{BB962C8B-B14F-4D97-AF65-F5344CB8AC3E}">
        <p14:creationId xmlns:p14="http://schemas.microsoft.com/office/powerpoint/2010/main" val="4071025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ko-KR" b="1" i="0" dirty="0">
                <a:solidFill>
                  <a:srgbClr val="D4D4D4"/>
                </a:solidFill>
                <a:effectLst/>
                <a:latin typeface="-apple-system"/>
              </a:rPr>
              <a:t>3. </a:t>
            </a:r>
            <a:r>
              <a:rPr lang="ko-KR" altLang="en-US" b="1" i="0" dirty="0" err="1">
                <a:solidFill>
                  <a:srgbClr val="D4D4D4"/>
                </a:solidFill>
                <a:effectLst/>
                <a:latin typeface="-apple-system"/>
              </a:rPr>
              <a:t>싱크체인의</a:t>
            </a:r>
            <a:r>
              <a:rPr lang="ko-KR" altLang="en-US" b="1" i="0" dirty="0">
                <a:solidFill>
                  <a:srgbClr val="D4D4D4"/>
                </a:solidFill>
                <a:effectLst/>
                <a:latin typeface="-apple-system"/>
              </a:rPr>
              <a:t> 패킷 수신 및 검증</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소스 체인에서 생성된 패킷과 해당 트랜잭션의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함께 싱크 체인으로 전달한다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체인에 있는 소스 체인에 대한 클라이언트는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통해 해당 패킷이 소스 체인에서 유효하게 생성되었는지</a:t>
            </a:r>
            <a:r>
              <a:rPr lang="en-US" altLang="ko-KR" b="0" i="0" dirty="0">
                <a:solidFill>
                  <a:srgbClr val="D4D4D4"/>
                </a:solidFill>
                <a:effectLst/>
                <a:latin typeface="-apple-system"/>
              </a:rPr>
              <a:t>, </a:t>
            </a:r>
            <a:r>
              <a:rPr lang="ko-KR" altLang="en-US" b="0" i="0" dirty="0">
                <a:solidFill>
                  <a:srgbClr val="D4D4D4"/>
                </a:solidFill>
                <a:effectLst/>
                <a:latin typeface="-apple-system"/>
              </a:rPr>
              <a:t>조작되지 않았는지 등을 검증한다</a:t>
            </a:r>
            <a:r>
              <a:rPr lang="en-US" altLang="ko-KR" b="0" i="0" dirty="0">
                <a:solidFill>
                  <a:srgbClr val="D4D4D4"/>
                </a:solidFill>
                <a:effectLst/>
                <a:latin typeface="-apple-system"/>
              </a:rPr>
              <a:t>. </a:t>
            </a:r>
            <a:r>
              <a:rPr lang="ko-KR" altLang="en-US" b="0" i="0" dirty="0">
                <a:solidFill>
                  <a:srgbClr val="D4D4D4"/>
                </a:solidFill>
                <a:effectLst/>
                <a:latin typeface="-apple-system"/>
              </a:rPr>
              <a:t>검증이 완료된 패킷은 채널을 통해 수신된다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4. </a:t>
            </a:r>
            <a:r>
              <a:rPr lang="ko-KR" altLang="en-US" b="1" i="0" dirty="0">
                <a:solidFill>
                  <a:srgbClr val="D4D4D4"/>
                </a:solidFill>
                <a:effectLst/>
                <a:latin typeface="-apple-system"/>
              </a:rPr>
              <a:t>트랜잭션 처리</a:t>
            </a:r>
          </a:p>
          <a:p>
            <a:pPr algn="l"/>
            <a:r>
              <a:rPr lang="ko-KR" altLang="en-US" b="0" i="0" dirty="0">
                <a:solidFill>
                  <a:srgbClr val="D4D4D4"/>
                </a:solidFill>
                <a:effectLst/>
                <a:latin typeface="-apple-system"/>
              </a:rPr>
              <a:t>채널을 통해 수신된 패킷을 받은 싱크 체인은</a:t>
            </a:r>
            <a:r>
              <a:rPr lang="en-US" altLang="ko-KR" b="0" i="0" dirty="0">
                <a:solidFill>
                  <a:srgbClr val="D4D4D4"/>
                </a:solidFill>
                <a:effectLst/>
                <a:latin typeface="-apple-system"/>
              </a:rPr>
              <a:t>, </a:t>
            </a:r>
            <a:r>
              <a:rPr lang="ko-KR" altLang="en-US" b="0" i="0" dirty="0">
                <a:solidFill>
                  <a:srgbClr val="D4D4D4"/>
                </a:solidFill>
                <a:effectLst/>
                <a:latin typeface="-apple-system"/>
              </a:rPr>
              <a:t>해당 패킷에 포함된 정보를 기반으로 토큰을 처리한다</a:t>
            </a:r>
            <a:r>
              <a:rPr lang="en-US" altLang="ko-KR" b="0" i="0" dirty="0">
                <a:solidFill>
                  <a:srgbClr val="D4D4D4"/>
                </a:solidFill>
                <a:effectLst/>
                <a:latin typeface="-apple-system"/>
              </a:rPr>
              <a:t>. </a:t>
            </a:r>
            <a:r>
              <a:rPr lang="ko-KR" altLang="en-US" b="0" i="0" dirty="0">
                <a:solidFill>
                  <a:srgbClr val="D4D4D4"/>
                </a:solidFill>
                <a:effectLst/>
                <a:latin typeface="-apple-system"/>
              </a:rPr>
              <a:t>위의 예시처럼 체인 </a:t>
            </a:r>
            <a:r>
              <a:rPr lang="en-US" b="0" i="0" dirty="0">
                <a:solidFill>
                  <a:srgbClr val="D4D4D4"/>
                </a:solidFill>
                <a:effectLst/>
                <a:latin typeface="-apple-system"/>
              </a:rPr>
              <a:t>A</a:t>
            </a:r>
            <a:r>
              <a:rPr lang="ko-KR" altLang="en-US" b="0" i="0" dirty="0">
                <a:solidFill>
                  <a:srgbClr val="D4D4D4"/>
                </a:solidFill>
                <a:effectLst/>
                <a:latin typeface="-apple-system"/>
              </a:rPr>
              <a:t>에서 체인 </a:t>
            </a:r>
            <a:r>
              <a:rPr lang="en-US" b="0" i="0" dirty="0">
                <a:solidFill>
                  <a:srgbClr val="D4D4D4"/>
                </a:solidFill>
                <a:effectLst/>
                <a:latin typeface="-apple-system"/>
              </a:rPr>
              <a:t>B</a:t>
            </a:r>
            <a:r>
              <a:rPr lang="ko-KR" altLang="en-US" b="0" i="0" dirty="0">
                <a:solidFill>
                  <a:srgbClr val="D4D4D4"/>
                </a:solidFill>
                <a:effectLst/>
                <a:latin typeface="-apple-system"/>
              </a:rPr>
              <a:t>로 토큰을 이동하는 경우</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A)</a:t>
            </a:r>
            <a:r>
              <a:rPr lang="ko-KR" altLang="en-US" b="0" i="0" dirty="0">
                <a:solidFill>
                  <a:srgbClr val="D4D4D4"/>
                </a:solidFill>
                <a:effectLst/>
                <a:latin typeface="-apple-system"/>
              </a:rPr>
              <a:t>에서 전송한 토큰에 해당하는 가치를 지닌 바우처 토큰을 싱크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B)</a:t>
            </a:r>
            <a:r>
              <a:rPr lang="ko-KR" altLang="en-US" b="0" i="0" dirty="0">
                <a:solidFill>
                  <a:srgbClr val="D4D4D4"/>
                </a:solidFill>
                <a:effectLst/>
                <a:latin typeface="-apple-system"/>
              </a:rPr>
              <a:t>에서 발행</a:t>
            </a:r>
            <a:r>
              <a:rPr lang="en-US" altLang="ko-KR" b="0" i="0" dirty="0">
                <a:solidFill>
                  <a:srgbClr val="D4D4D4"/>
                </a:solidFill>
                <a:effectLst/>
                <a:latin typeface="-apple-system"/>
              </a:rPr>
              <a:t>(</a:t>
            </a:r>
            <a:r>
              <a:rPr lang="en-US" b="0" i="0" dirty="0">
                <a:solidFill>
                  <a:srgbClr val="D4D4D4"/>
                </a:solidFill>
                <a:effectLst/>
                <a:latin typeface="-apple-system"/>
              </a:rPr>
              <a:t>mint)</a:t>
            </a:r>
            <a:r>
              <a:rPr lang="ko-KR" altLang="en-US" b="0" i="0" dirty="0">
                <a:solidFill>
                  <a:srgbClr val="D4D4D4"/>
                </a:solidFill>
                <a:effectLst/>
                <a:latin typeface="-apple-system"/>
              </a:rPr>
              <a:t>한다</a:t>
            </a:r>
            <a:r>
              <a:rPr lang="en-US" altLang="ko-KR" b="0" i="0" dirty="0">
                <a:solidFill>
                  <a:srgbClr val="D4D4D4"/>
                </a:solidFill>
                <a:effectLst/>
                <a:latin typeface="-apple-system"/>
              </a:rPr>
              <a:t>. </a:t>
            </a:r>
            <a:r>
              <a:rPr lang="ko-KR" altLang="en-US" b="0" i="0" dirty="0">
                <a:solidFill>
                  <a:srgbClr val="D4D4D4"/>
                </a:solidFill>
                <a:effectLst/>
                <a:latin typeface="-apple-system"/>
              </a:rPr>
              <a:t>발행된 토큰은 수신자에게 전달된다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5. </a:t>
            </a:r>
            <a:r>
              <a:rPr lang="ko-KR" altLang="en-US" b="1" i="0" dirty="0">
                <a:solidFill>
                  <a:srgbClr val="D4D4D4"/>
                </a:solidFill>
                <a:effectLst/>
                <a:latin typeface="-apple-system"/>
              </a:rPr>
              <a:t>소스 체인의 트랜잭션 완료 처리</a:t>
            </a:r>
          </a:p>
          <a:p>
            <a:pPr algn="l"/>
            <a:r>
              <a:rPr lang="ko-KR" altLang="en-US" b="0" i="0" dirty="0">
                <a:solidFill>
                  <a:srgbClr val="D4D4D4"/>
                </a:solidFill>
                <a:effectLst/>
                <a:latin typeface="-apple-system"/>
              </a:rPr>
              <a:t>싱크 체인에서 패킷 처리가 완료되면</a:t>
            </a:r>
            <a:r>
              <a:rPr lang="en-US" altLang="ko-KR" b="0" i="0" dirty="0">
                <a:solidFill>
                  <a:srgbClr val="D4D4D4"/>
                </a:solidFill>
                <a:effectLst/>
                <a:latin typeface="-apple-system"/>
              </a:rPr>
              <a:t>, </a:t>
            </a:r>
            <a:r>
              <a:rPr lang="ko-KR" altLang="en-US" b="0" i="0" dirty="0">
                <a:solidFill>
                  <a:srgbClr val="D4D4D4"/>
                </a:solidFill>
                <a:effectLst/>
                <a:latin typeface="-apple-system"/>
              </a:rPr>
              <a:t>해당하는 성공 내역에 대한 </a:t>
            </a:r>
            <a:r>
              <a:rPr lang="en-US" b="0" i="0" dirty="0" err="1">
                <a:solidFill>
                  <a:srgbClr val="D4D4D4"/>
                </a:solidFill>
                <a:effectLst/>
                <a:latin typeface="-apple-system"/>
              </a:rPr>
              <a:t>commitmentRoot</a:t>
            </a:r>
            <a:r>
              <a:rPr lang="ko-KR" altLang="en-US" b="0" i="0" dirty="0">
                <a:solidFill>
                  <a:srgbClr val="D4D4D4"/>
                </a:solidFill>
                <a:effectLst/>
                <a:latin typeface="-apple-system"/>
              </a:rPr>
              <a:t>가 업데이트 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체인은 갱신된 </a:t>
            </a:r>
            <a:r>
              <a:rPr lang="en-US" b="0" i="0" dirty="0" err="1">
                <a:solidFill>
                  <a:srgbClr val="D4D4D4"/>
                </a:solidFill>
                <a:effectLst/>
                <a:latin typeface="-apple-system"/>
              </a:rPr>
              <a:t>commitmentRoot</a:t>
            </a:r>
            <a:r>
              <a:rPr lang="en-US" b="0" i="0" dirty="0">
                <a:solidFill>
                  <a:srgbClr val="D4D4D4"/>
                </a:solidFill>
                <a:effectLst/>
                <a:latin typeface="-apple-system"/>
              </a:rPr>
              <a:t> </a:t>
            </a:r>
            <a:r>
              <a:rPr lang="ko-KR" altLang="en-US" b="0" i="0" dirty="0">
                <a:solidFill>
                  <a:srgbClr val="D4D4D4"/>
                </a:solidFill>
                <a:effectLst/>
                <a:latin typeface="-apple-system"/>
              </a:rPr>
              <a:t>값을 소스 체인에 알리기 위한 응답 패킷</a:t>
            </a:r>
            <a:r>
              <a:rPr lang="en-US" altLang="ko-KR" b="0" i="0" dirty="0">
                <a:solidFill>
                  <a:srgbClr val="D4D4D4"/>
                </a:solidFill>
                <a:effectLst/>
                <a:latin typeface="-apple-system"/>
              </a:rPr>
              <a:t>(</a:t>
            </a:r>
            <a:r>
              <a:rPr lang="en-US" b="0" i="0" dirty="0">
                <a:solidFill>
                  <a:srgbClr val="D4D4D4"/>
                </a:solidFill>
                <a:effectLst/>
                <a:latin typeface="-apple-system"/>
              </a:rPr>
              <a:t>Acknowledgement)</a:t>
            </a:r>
            <a:r>
              <a:rPr lang="ko-KR" altLang="en-US" b="0" i="0" dirty="0">
                <a:solidFill>
                  <a:srgbClr val="D4D4D4"/>
                </a:solidFill>
                <a:effectLst/>
                <a:latin typeface="-apple-system"/>
              </a:rPr>
              <a:t>을 생성한다</a:t>
            </a:r>
            <a:r>
              <a:rPr lang="en-US" altLang="ko-KR" b="0" i="0" dirty="0">
                <a:solidFill>
                  <a:srgbClr val="D4D4D4"/>
                </a:solidFill>
                <a:effectLst/>
                <a:latin typeface="-apple-system"/>
              </a:rPr>
              <a:t>.</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해당 응답 패킷을 소스 체인으로 전달하고</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체인은 전달 받은 패킷과 같이 전송된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사용하여 싱크 체인에서 전달한 내용이 정상적인 내용인지 확인한다</a:t>
            </a:r>
            <a:r>
              <a:rPr lang="en-US" altLang="ko-KR" b="0" i="0" dirty="0">
                <a:solidFill>
                  <a:srgbClr val="D4D4D4"/>
                </a:solidFill>
                <a:effectLst/>
                <a:latin typeface="-apple-system"/>
              </a:rPr>
              <a:t>. </a:t>
            </a:r>
            <a:r>
              <a:rPr lang="ko-KR" altLang="en-US" b="0" i="0" dirty="0">
                <a:solidFill>
                  <a:srgbClr val="D4D4D4"/>
                </a:solidFill>
                <a:effectLst/>
                <a:latin typeface="-apple-system"/>
              </a:rPr>
              <a:t>정상임이 확인되면 전송 요청에 대한 트랜잭션을 최종 완료 상태로 표시한다</a:t>
            </a:r>
            <a:r>
              <a:rPr lang="en-US" altLang="ko-KR" b="0" i="0" dirty="0">
                <a:solidFill>
                  <a:srgbClr val="D4D4D4"/>
                </a:solidFill>
                <a:effectLst/>
                <a:latin typeface="-apple-system"/>
              </a:rPr>
              <a:t>.</a:t>
            </a:r>
          </a:p>
        </p:txBody>
      </p:sp>
      <p:sp>
        <p:nvSpPr>
          <p:cNvPr id="4" name="Slide Number Placeholder 3"/>
          <p:cNvSpPr>
            <a:spLocks noGrp="1"/>
          </p:cNvSpPr>
          <p:nvPr>
            <p:ph type="sldNum" sz="quarter" idx="5"/>
          </p:nvPr>
        </p:nvSpPr>
        <p:spPr/>
        <p:txBody>
          <a:bodyPr/>
          <a:lstStyle/>
          <a:p>
            <a:fld id="{68F19458-6438-6D4C-8871-C414D67D65FB}" type="slidenum">
              <a:rPr lang="en-KR" smtClean="0"/>
              <a:t>25</a:t>
            </a:fld>
            <a:endParaRPr lang="en-KR"/>
          </a:p>
        </p:txBody>
      </p:sp>
    </p:spTree>
    <p:extLst>
      <p:ext uri="{BB962C8B-B14F-4D97-AF65-F5344CB8AC3E}">
        <p14:creationId xmlns:p14="http://schemas.microsoft.com/office/powerpoint/2010/main" val="418231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ko-KR" b="1" i="0" dirty="0">
                <a:solidFill>
                  <a:srgbClr val="D4D4D4"/>
                </a:solidFill>
                <a:effectLst/>
                <a:latin typeface="-apple-system"/>
              </a:rPr>
              <a:t>3. </a:t>
            </a:r>
            <a:r>
              <a:rPr lang="ko-KR" altLang="en-US" b="1" i="0" dirty="0" err="1">
                <a:solidFill>
                  <a:srgbClr val="D4D4D4"/>
                </a:solidFill>
                <a:effectLst/>
                <a:latin typeface="-apple-system"/>
              </a:rPr>
              <a:t>싱크체인의</a:t>
            </a:r>
            <a:r>
              <a:rPr lang="ko-KR" altLang="en-US" b="1" i="0" dirty="0">
                <a:solidFill>
                  <a:srgbClr val="D4D4D4"/>
                </a:solidFill>
                <a:effectLst/>
                <a:latin typeface="-apple-system"/>
              </a:rPr>
              <a:t> 패킷 수신 및 검증</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소스 체인에서 생성된 패킷과 해당 트랜잭션의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함께 싱크 체인으로 전달한다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체인에 있는 소스 체인에 대한 클라이언트는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통해 해당 패킷이 소스 체인에서 유효하게 생성되었는지</a:t>
            </a:r>
            <a:r>
              <a:rPr lang="en-US" altLang="ko-KR" b="0" i="0" dirty="0">
                <a:solidFill>
                  <a:srgbClr val="D4D4D4"/>
                </a:solidFill>
                <a:effectLst/>
                <a:latin typeface="-apple-system"/>
              </a:rPr>
              <a:t>, </a:t>
            </a:r>
            <a:r>
              <a:rPr lang="ko-KR" altLang="en-US" b="0" i="0" dirty="0">
                <a:solidFill>
                  <a:srgbClr val="D4D4D4"/>
                </a:solidFill>
                <a:effectLst/>
                <a:latin typeface="-apple-system"/>
              </a:rPr>
              <a:t>조작되지 않았는지 등을 검증한다</a:t>
            </a:r>
            <a:r>
              <a:rPr lang="en-US" altLang="ko-KR" b="0" i="0" dirty="0">
                <a:solidFill>
                  <a:srgbClr val="D4D4D4"/>
                </a:solidFill>
                <a:effectLst/>
                <a:latin typeface="-apple-system"/>
              </a:rPr>
              <a:t>. </a:t>
            </a:r>
            <a:r>
              <a:rPr lang="ko-KR" altLang="en-US" b="0" i="0" dirty="0">
                <a:solidFill>
                  <a:srgbClr val="D4D4D4"/>
                </a:solidFill>
                <a:effectLst/>
                <a:latin typeface="-apple-system"/>
              </a:rPr>
              <a:t>검증이 완료된 패킷은 채널을 통해 수신된다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4. </a:t>
            </a:r>
            <a:r>
              <a:rPr lang="ko-KR" altLang="en-US" b="1" i="0" dirty="0">
                <a:solidFill>
                  <a:srgbClr val="D4D4D4"/>
                </a:solidFill>
                <a:effectLst/>
                <a:latin typeface="-apple-system"/>
              </a:rPr>
              <a:t>트랜잭션 처리</a:t>
            </a:r>
          </a:p>
          <a:p>
            <a:pPr algn="l"/>
            <a:r>
              <a:rPr lang="ko-KR" altLang="en-US" b="0" i="0" dirty="0">
                <a:solidFill>
                  <a:srgbClr val="D4D4D4"/>
                </a:solidFill>
                <a:effectLst/>
                <a:latin typeface="-apple-system"/>
              </a:rPr>
              <a:t>채널을 통해 수신된 패킷을 받은 싱크 체인은</a:t>
            </a:r>
            <a:r>
              <a:rPr lang="en-US" altLang="ko-KR" b="0" i="0" dirty="0">
                <a:solidFill>
                  <a:srgbClr val="D4D4D4"/>
                </a:solidFill>
                <a:effectLst/>
                <a:latin typeface="-apple-system"/>
              </a:rPr>
              <a:t>, </a:t>
            </a:r>
            <a:r>
              <a:rPr lang="ko-KR" altLang="en-US" b="0" i="0" dirty="0">
                <a:solidFill>
                  <a:srgbClr val="D4D4D4"/>
                </a:solidFill>
                <a:effectLst/>
                <a:latin typeface="-apple-system"/>
              </a:rPr>
              <a:t>해당 패킷에 포함된 정보를 기반으로 토큰을 처리한다</a:t>
            </a:r>
            <a:r>
              <a:rPr lang="en-US" altLang="ko-KR" b="0" i="0" dirty="0">
                <a:solidFill>
                  <a:srgbClr val="D4D4D4"/>
                </a:solidFill>
                <a:effectLst/>
                <a:latin typeface="-apple-system"/>
              </a:rPr>
              <a:t>. </a:t>
            </a:r>
            <a:r>
              <a:rPr lang="ko-KR" altLang="en-US" b="0" i="0" dirty="0">
                <a:solidFill>
                  <a:srgbClr val="D4D4D4"/>
                </a:solidFill>
                <a:effectLst/>
                <a:latin typeface="-apple-system"/>
              </a:rPr>
              <a:t>위의 예시처럼 체인 </a:t>
            </a:r>
            <a:r>
              <a:rPr lang="en-US" b="0" i="0" dirty="0">
                <a:solidFill>
                  <a:srgbClr val="D4D4D4"/>
                </a:solidFill>
                <a:effectLst/>
                <a:latin typeface="-apple-system"/>
              </a:rPr>
              <a:t>A</a:t>
            </a:r>
            <a:r>
              <a:rPr lang="ko-KR" altLang="en-US" b="0" i="0" dirty="0">
                <a:solidFill>
                  <a:srgbClr val="D4D4D4"/>
                </a:solidFill>
                <a:effectLst/>
                <a:latin typeface="-apple-system"/>
              </a:rPr>
              <a:t>에서 체인 </a:t>
            </a:r>
            <a:r>
              <a:rPr lang="en-US" b="0" i="0" dirty="0">
                <a:solidFill>
                  <a:srgbClr val="D4D4D4"/>
                </a:solidFill>
                <a:effectLst/>
                <a:latin typeface="-apple-system"/>
              </a:rPr>
              <a:t>B</a:t>
            </a:r>
            <a:r>
              <a:rPr lang="ko-KR" altLang="en-US" b="0" i="0" dirty="0">
                <a:solidFill>
                  <a:srgbClr val="D4D4D4"/>
                </a:solidFill>
                <a:effectLst/>
                <a:latin typeface="-apple-system"/>
              </a:rPr>
              <a:t>로 토큰을 이동하는 경우</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A)</a:t>
            </a:r>
            <a:r>
              <a:rPr lang="ko-KR" altLang="en-US" b="0" i="0" dirty="0">
                <a:solidFill>
                  <a:srgbClr val="D4D4D4"/>
                </a:solidFill>
                <a:effectLst/>
                <a:latin typeface="-apple-system"/>
              </a:rPr>
              <a:t>에서 전송한 토큰에 해당하는 가치를 지닌 바우처 토큰을 싱크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B)</a:t>
            </a:r>
            <a:r>
              <a:rPr lang="ko-KR" altLang="en-US" b="0" i="0" dirty="0">
                <a:solidFill>
                  <a:srgbClr val="D4D4D4"/>
                </a:solidFill>
                <a:effectLst/>
                <a:latin typeface="-apple-system"/>
              </a:rPr>
              <a:t>에서 발행</a:t>
            </a:r>
            <a:r>
              <a:rPr lang="en-US" altLang="ko-KR" b="0" i="0" dirty="0">
                <a:solidFill>
                  <a:srgbClr val="D4D4D4"/>
                </a:solidFill>
                <a:effectLst/>
                <a:latin typeface="-apple-system"/>
              </a:rPr>
              <a:t>(</a:t>
            </a:r>
            <a:r>
              <a:rPr lang="en-US" b="0" i="0" dirty="0">
                <a:solidFill>
                  <a:srgbClr val="D4D4D4"/>
                </a:solidFill>
                <a:effectLst/>
                <a:latin typeface="-apple-system"/>
              </a:rPr>
              <a:t>mint)</a:t>
            </a:r>
            <a:r>
              <a:rPr lang="ko-KR" altLang="en-US" b="0" i="0" dirty="0">
                <a:solidFill>
                  <a:srgbClr val="D4D4D4"/>
                </a:solidFill>
                <a:effectLst/>
                <a:latin typeface="-apple-system"/>
              </a:rPr>
              <a:t>한다</a:t>
            </a:r>
            <a:r>
              <a:rPr lang="en-US" altLang="ko-KR" b="0" i="0" dirty="0">
                <a:solidFill>
                  <a:srgbClr val="D4D4D4"/>
                </a:solidFill>
                <a:effectLst/>
                <a:latin typeface="-apple-system"/>
              </a:rPr>
              <a:t>. </a:t>
            </a:r>
            <a:r>
              <a:rPr lang="ko-KR" altLang="en-US" b="0" i="0" dirty="0">
                <a:solidFill>
                  <a:srgbClr val="D4D4D4"/>
                </a:solidFill>
                <a:effectLst/>
                <a:latin typeface="-apple-system"/>
              </a:rPr>
              <a:t>발행된 토큰은 수신자에게 전달된다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5. </a:t>
            </a:r>
            <a:r>
              <a:rPr lang="ko-KR" altLang="en-US" b="1" i="0" dirty="0">
                <a:solidFill>
                  <a:srgbClr val="D4D4D4"/>
                </a:solidFill>
                <a:effectLst/>
                <a:latin typeface="-apple-system"/>
              </a:rPr>
              <a:t>소스 체인의 트랜잭션 완료 처리</a:t>
            </a:r>
          </a:p>
          <a:p>
            <a:pPr algn="l"/>
            <a:r>
              <a:rPr lang="ko-KR" altLang="en-US" b="0" i="0" dirty="0">
                <a:solidFill>
                  <a:srgbClr val="D4D4D4"/>
                </a:solidFill>
                <a:effectLst/>
                <a:latin typeface="-apple-system"/>
              </a:rPr>
              <a:t>싱크 체인에서 패킷 처리가 완료되면</a:t>
            </a:r>
            <a:r>
              <a:rPr lang="en-US" altLang="ko-KR" b="0" i="0" dirty="0">
                <a:solidFill>
                  <a:srgbClr val="D4D4D4"/>
                </a:solidFill>
                <a:effectLst/>
                <a:latin typeface="-apple-system"/>
              </a:rPr>
              <a:t>, </a:t>
            </a:r>
            <a:r>
              <a:rPr lang="ko-KR" altLang="en-US" b="0" i="0" dirty="0">
                <a:solidFill>
                  <a:srgbClr val="D4D4D4"/>
                </a:solidFill>
                <a:effectLst/>
                <a:latin typeface="-apple-system"/>
              </a:rPr>
              <a:t>해당하는 성공 내역에 대한 </a:t>
            </a:r>
            <a:r>
              <a:rPr lang="en-US" b="0" i="0" dirty="0" err="1">
                <a:solidFill>
                  <a:srgbClr val="D4D4D4"/>
                </a:solidFill>
                <a:effectLst/>
                <a:latin typeface="-apple-system"/>
              </a:rPr>
              <a:t>commitmentRoot</a:t>
            </a:r>
            <a:r>
              <a:rPr lang="ko-KR" altLang="en-US" b="0" i="0" dirty="0">
                <a:solidFill>
                  <a:srgbClr val="D4D4D4"/>
                </a:solidFill>
                <a:effectLst/>
                <a:latin typeface="-apple-system"/>
              </a:rPr>
              <a:t>가 업데이트 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체인은 갱신된 </a:t>
            </a:r>
            <a:r>
              <a:rPr lang="en-US" b="0" i="0" dirty="0" err="1">
                <a:solidFill>
                  <a:srgbClr val="D4D4D4"/>
                </a:solidFill>
                <a:effectLst/>
                <a:latin typeface="-apple-system"/>
              </a:rPr>
              <a:t>commitmentRoot</a:t>
            </a:r>
            <a:r>
              <a:rPr lang="en-US" b="0" i="0" dirty="0">
                <a:solidFill>
                  <a:srgbClr val="D4D4D4"/>
                </a:solidFill>
                <a:effectLst/>
                <a:latin typeface="-apple-system"/>
              </a:rPr>
              <a:t> </a:t>
            </a:r>
            <a:r>
              <a:rPr lang="ko-KR" altLang="en-US" b="0" i="0" dirty="0">
                <a:solidFill>
                  <a:srgbClr val="D4D4D4"/>
                </a:solidFill>
                <a:effectLst/>
                <a:latin typeface="-apple-system"/>
              </a:rPr>
              <a:t>값을 소스 체인에 알리기 위한 응답 패킷</a:t>
            </a:r>
            <a:r>
              <a:rPr lang="en-US" altLang="ko-KR" b="0" i="0" dirty="0">
                <a:solidFill>
                  <a:srgbClr val="D4D4D4"/>
                </a:solidFill>
                <a:effectLst/>
                <a:latin typeface="-apple-system"/>
              </a:rPr>
              <a:t>(</a:t>
            </a:r>
            <a:r>
              <a:rPr lang="en-US" b="0" i="0" dirty="0">
                <a:solidFill>
                  <a:srgbClr val="D4D4D4"/>
                </a:solidFill>
                <a:effectLst/>
                <a:latin typeface="-apple-system"/>
              </a:rPr>
              <a:t>Acknowledgement)</a:t>
            </a:r>
            <a:r>
              <a:rPr lang="ko-KR" altLang="en-US" b="0" i="0" dirty="0">
                <a:solidFill>
                  <a:srgbClr val="D4D4D4"/>
                </a:solidFill>
                <a:effectLst/>
                <a:latin typeface="-apple-system"/>
              </a:rPr>
              <a:t>을 생성한다</a:t>
            </a:r>
            <a:r>
              <a:rPr lang="en-US" altLang="ko-KR" b="0" i="0" dirty="0">
                <a:solidFill>
                  <a:srgbClr val="D4D4D4"/>
                </a:solidFill>
                <a:effectLst/>
                <a:latin typeface="-apple-system"/>
              </a:rPr>
              <a:t>.</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해당 응답 패킷을 소스 체인으로 전달하고</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체인은 전달 받은 패킷과 같이 전송된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사용하여 싱크 체인에서 전달한 내용이 정상적인 내용인지 확인한다</a:t>
            </a:r>
            <a:r>
              <a:rPr lang="en-US" altLang="ko-KR" b="0" i="0" dirty="0">
                <a:solidFill>
                  <a:srgbClr val="D4D4D4"/>
                </a:solidFill>
                <a:effectLst/>
                <a:latin typeface="-apple-system"/>
              </a:rPr>
              <a:t>. </a:t>
            </a:r>
            <a:r>
              <a:rPr lang="ko-KR" altLang="en-US" b="0" i="0" dirty="0">
                <a:solidFill>
                  <a:srgbClr val="D4D4D4"/>
                </a:solidFill>
                <a:effectLst/>
                <a:latin typeface="-apple-system"/>
              </a:rPr>
              <a:t>정상임이 확인되면 전송 요청에 대한 트랜잭션을 최종 완료 상태로 표시한다</a:t>
            </a:r>
            <a:r>
              <a:rPr lang="en-US" altLang="ko-KR" b="0" i="0" dirty="0">
                <a:solidFill>
                  <a:srgbClr val="D4D4D4"/>
                </a:solidFill>
                <a:effectLst/>
                <a:latin typeface="-apple-system"/>
              </a:rPr>
              <a:t>.</a:t>
            </a:r>
          </a:p>
        </p:txBody>
      </p:sp>
      <p:sp>
        <p:nvSpPr>
          <p:cNvPr id="4" name="Slide Number Placeholder 3"/>
          <p:cNvSpPr>
            <a:spLocks noGrp="1"/>
          </p:cNvSpPr>
          <p:nvPr>
            <p:ph type="sldNum" sz="quarter" idx="5"/>
          </p:nvPr>
        </p:nvSpPr>
        <p:spPr/>
        <p:txBody>
          <a:bodyPr/>
          <a:lstStyle/>
          <a:p>
            <a:fld id="{68F19458-6438-6D4C-8871-C414D67D65FB}" type="slidenum">
              <a:rPr lang="en-KR" smtClean="0"/>
              <a:t>26</a:t>
            </a:fld>
            <a:endParaRPr lang="en-KR"/>
          </a:p>
        </p:txBody>
      </p:sp>
    </p:spTree>
    <p:extLst>
      <p:ext uri="{BB962C8B-B14F-4D97-AF65-F5344CB8AC3E}">
        <p14:creationId xmlns:p14="http://schemas.microsoft.com/office/powerpoint/2010/main" val="1978068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ko-KR" b="1" i="0" dirty="0">
                <a:solidFill>
                  <a:srgbClr val="D4D4D4"/>
                </a:solidFill>
                <a:effectLst/>
                <a:latin typeface="-apple-system"/>
              </a:rPr>
              <a:t>3. </a:t>
            </a:r>
            <a:r>
              <a:rPr lang="ko-KR" altLang="en-US" b="1" i="0" dirty="0" err="1">
                <a:solidFill>
                  <a:srgbClr val="D4D4D4"/>
                </a:solidFill>
                <a:effectLst/>
                <a:latin typeface="-apple-system"/>
              </a:rPr>
              <a:t>싱크체인의</a:t>
            </a:r>
            <a:r>
              <a:rPr lang="ko-KR" altLang="en-US" b="1" i="0" dirty="0">
                <a:solidFill>
                  <a:srgbClr val="D4D4D4"/>
                </a:solidFill>
                <a:effectLst/>
                <a:latin typeface="-apple-system"/>
              </a:rPr>
              <a:t> 패킷 수신 및 검증</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소스 체인에서 생성된 패킷과 해당 트랜잭션의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함께 싱크 체인으로 전달한다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체인에 있는 소스 체인에 대한 클라이언트는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통해 해당 패킷이 소스 체인에서 유효하게 생성되었는지</a:t>
            </a:r>
            <a:r>
              <a:rPr lang="en-US" altLang="ko-KR" b="0" i="0" dirty="0">
                <a:solidFill>
                  <a:srgbClr val="D4D4D4"/>
                </a:solidFill>
                <a:effectLst/>
                <a:latin typeface="-apple-system"/>
              </a:rPr>
              <a:t>, </a:t>
            </a:r>
            <a:r>
              <a:rPr lang="ko-KR" altLang="en-US" b="0" i="0" dirty="0">
                <a:solidFill>
                  <a:srgbClr val="D4D4D4"/>
                </a:solidFill>
                <a:effectLst/>
                <a:latin typeface="-apple-system"/>
              </a:rPr>
              <a:t>조작되지 않았는지 등을 검증한다</a:t>
            </a:r>
            <a:r>
              <a:rPr lang="en-US" altLang="ko-KR" b="0" i="0" dirty="0">
                <a:solidFill>
                  <a:srgbClr val="D4D4D4"/>
                </a:solidFill>
                <a:effectLst/>
                <a:latin typeface="-apple-system"/>
              </a:rPr>
              <a:t>. </a:t>
            </a:r>
            <a:r>
              <a:rPr lang="ko-KR" altLang="en-US" b="0" i="0" dirty="0">
                <a:solidFill>
                  <a:srgbClr val="D4D4D4"/>
                </a:solidFill>
                <a:effectLst/>
                <a:latin typeface="-apple-system"/>
              </a:rPr>
              <a:t>검증이 완료된 패킷은 채널을 통해 수신된다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4. </a:t>
            </a:r>
            <a:r>
              <a:rPr lang="ko-KR" altLang="en-US" b="1" i="0" dirty="0">
                <a:solidFill>
                  <a:srgbClr val="D4D4D4"/>
                </a:solidFill>
                <a:effectLst/>
                <a:latin typeface="-apple-system"/>
              </a:rPr>
              <a:t>트랜잭션 처리</a:t>
            </a:r>
          </a:p>
          <a:p>
            <a:pPr algn="l"/>
            <a:r>
              <a:rPr lang="ko-KR" altLang="en-US" b="0" i="0" dirty="0">
                <a:solidFill>
                  <a:srgbClr val="D4D4D4"/>
                </a:solidFill>
                <a:effectLst/>
                <a:latin typeface="-apple-system"/>
              </a:rPr>
              <a:t>채널을 통해 수신된 패킷을 받은 싱크 체인은</a:t>
            </a:r>
            <a:r>
              <a:rPr lang="en-US" altLang="ko-KR" b="0" i="0" dirty="0">
                <a:solidFill>
                  <a:srgbClr val="D4D4D4"/>
                </a:solidFill>
                <a:effectLst/>
                <a:latin typeface="-apple-system"/>
              </a:rPr>
              <a:t>, </a:t>
            </a:r>
            <a:r>
              <a:rPr lang="ko-KR" altLang="en-US" b="0" i="0" dirty="0">
                <a:solidFill>
                  <a:srgbClr val="D4D4D4"/>
                </a:solidFill>
                <a:effectLst/>
                <a:latin typeface="-apple-system"/>
              </a:rPr>
              <a:t>해당 패킷에 포함된 정보를 기반으로 토큰을 처리한다</a:t>
            </a:r>
            <a:r>
              <a:rPr lang="en-US" altLang="ko-KR" b="0" i="0" dirty="0">
                <a:solidFill>
                  <a:srgbClr val="D4D4D4"/>
                </a:solidFill>
                <a:effectLst/>
                <a:latin typeface="-apple-system"/>
              </a:rPr>
              <a:t>. </a:t>
            </a:r>
            <a:r>
              <a:rPr lang="ko-KR" altLang="en-US" b="0" i="0" dirty="0">
                <a:solidFill>
                  <a:srgbClr val="D4D4D4"/>
                </a:solidFill>
                <a:effectLst/>
                <a:latin typeface="-apple-system"/>
              </a:rPr>
              <a:t>위의 예시처럼 체인 </a:t>
            </a:r>
            <a:r>
              <a:rPr lang="en-US" b="0" i="0" dirty="0">
                <a:solidFill>
                  <a:srgbClr val="D4D4D4"/>
                </a:solidFill>
                <a:effectLst/>
                <a:latin typeface="-apple-system"/>
              </a:rPr>
              <a:t>A</a:t>
            </a:r>
            <a:r>
              <a:rPr lang="ko-KR" altLang="en-US" b="0" i="0" dirty="0">
                <a:solidFill>
                  <a:srgbClr val="D4D4D4"/>
                </a:solidFill>
                <a:effectLst/>
                <a:latin typeface="-apple-system"/>
              </a:rPr>
              <a:t>에서 체인 </a:t>
            </a:r>
            <a:r>
              <a:rPr lang="en-US" b="0" i="0" dirty="0">
                <a:solidFill>
                  <a:srgbClr val="D4D4D4"/>
                </a:solidFill>
                <a:effectLst/>
                <a:latin typeface="-apple-system"/>
              </a:rPr>
              <a:t>B</a:t>
            </a:r>
            <a:r>
              <a:rPr lang="ko-KR" altLang="en-US" b="0" i="0" dirty="0">
                <a:solidFill>
                  <a:srgbClr val="D4D4D4"/>
                </a:solidFill>
                <a:effectLst/>
                <a:latin typeface="-apple-system"/>
              </a:rPr>
              <a:t>로 토큰을 이동하는 경우</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A)</a:t>
            </a:r>
            <a:r>
              <a:rPr lang="ko-KR" altLang="en-US" b="0" i="0" dirty="0">
                <a:solidFill>
                  <a:srgbClr val="D4D4D4"/>
                </a:solidFill>
                <a:effectLst/>
                <a:latin typeface="-apple-system"/>
              </a:rPr>
              <a:t>에서 전송한 토큰에 해당하는 가치를 지닌 바우처 토큰을 싱크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B)</a:t>
            </a:r>
            <a:r>
              <a:rPr lang="ko-KR" altLang="en-US" b="0" i="0" dirty="0">
                <a:solidFill>
                  <a:srgbClr val="D4D4D4"/>
                </a:solidFill>
                <a:effectLst/>
                <a:latin typeface="-apple-system"/>
              </a:rPr>
              <a:t>에서 발행</a:t>
            </a:r>
            <a:r>
              <a:rPr lang="en-US" altLang="ko-KR" b="0" i="0" dirty="0">
                <a:solidFill>
                  <a:srgbClr val="D4D4D4"/>
                </a:solidFill>
                <a:effectLst/>
                <a:latin typeface="-apple-system"/>
              </a:rPr>
              <a:t>(</a:t>
            </a:r>
            <a:r>
              <a:rPr lang="en-US" b="0" i="0" dirty="0">
                <a:solidFill>
                  <a:srgbClr val="D4D4D4"/>
                </a:solidFill>
                <a:effectLst/>
                <a:latin typeface="-apple-system"/>
              </a:rPr>
              <a:t>mint)</a:t>
            </a:r>
            <a:r>
              <a:rPr lang="ko-KR" altLang="en-US" b="0" i="0" dirty="0">
                <a:solidFill>
                  <a:srgbClr val="D4D4D4"/>
                </a:solidFill>
                <a:effectLst/>
                <a:latin typeface="-apple-system"/>
              </a:rPr>
              <a:t>한다</a:t>
            </a:r>
            <a:r>
              <a:rPr lang="en-US" altLang="ko-KR" b="0" i="0" dirty="0">
                <a:solidFill>
                  <a:srgbClr val="D4D4D4"/>
                </a:solidFill>
                <a:effectLst/>
                <a:latin typeface="-apple-system"/>
              </a:rPr>
              <a:t>. </a:t>
            </a:r>
            <a:r>
              <a:rPr lang="ko-KR" altLang="en-US" b="0" i="0" dirty="0">
                <a:solidFill>
                  <a:srgbClr val="D4D4D4"/>
                </a:solidFill>
                <a:effectLst/>
                <a:latin typeface="-apple-system"/>
              </a:rPr>
              <a:t>발행된 토큰은 수신자에게 전달된다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5. </a:t>
            </a:r>
            <a:r>
              <a:rPr lang="ko-KR" altLang="en-US" b="1" i="0" dirty="0">
                <a:solidFill>
                  <a:srgbClr val="D4D4D4"/>
                </a:solidFill>
                <a:effectLst/>
                <a:latin typeface="-apple-system"/>
              </a:rPr>
              <a:t>소스 체인의 트랜잭션 완료 처리</a:t>
            </a:r>
          </a:p>
          <a:p>
            <a:pPr algn="l"/>
            <a:r>
              <a:rPr lang="ko-KR" altLang="en-US" b="0" i="0" dirty="0">
                <a:solidFill>
                  <a:srgbClr val="D4D4D4"/>
                </a:solidFill>
                <a:effectLst/>
                <a:latin typeface="-apple-system"/>
              </a:rPr>
              <a:t>싱크 체인에서 패킷 처리가 완료되면</a:t>
            </a:r>
            <a:r>
              <a:rPr lang="en-US" altLang="ko-KR" b="0" i="0" dirty="0">
                <a:solidFill>
                  <a:srgbClr val="D4D4D4"/>
                </a:solidFill>
                <a:effectLst/>
                <a:latin typeface="-apple-system"/>
              </a:rPr>
              <a:t>, </a:t>
            </a:r>
            <a:r>
              <a:rPr lang="ko-KR" altLang="en-US" b="0" i="0" dirty="0">
                <a:solidFill>
                  <a:srgbClr val="D4D4D4"/>
                </a:solidFill>
                <a:effectLst/>
                <a:latin typeface="-apple-system"/>
              </a:rPr>
              <a:t>해당하는 성공 내역에 대한 </a:t>
            </a:r>
            <a:r>
              <a:rPr lang="en-US" b="0" i="0" dirty="0" err="1">
                <a:solidFill>
                  <a:srgbClr val="D4D4D4"/>
                </a:solidFill>
                <a:effectLst/>
                <a:latin typeface="-apple-system"/>
              </a:rPr>
              <a:t>commitmentRoot</a:t>
            </a:r>
            <a:r>
              <a:rPr lang="ko-KR" altLang="en-US" b="0" i="0" dirty="0">
                <a:solidFill>
                  <a:srgbClr val="D4D4D4"/>
                </a:solidFill>
                <a:effectLst/>
                <a:latin typeface="-apple-system"/>
              </a:rPr>
              <a:t>가 업데이트 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체인은 갱신된 </a:t>
            </a:r>
            <a:r>
              <a:rPr lang="en-US" b="0" i="0" dirty="0" err="1">
                <a:solidFill>
                  <a:srgbClr val="D4D4D4"/>
                </a:solidFill>
                <a:effectLst/>
                <a:latin typeface="-apple-system"/>
              </a:rPr>
              <a:t>commitmentRoot</a:t>
            </a:r>
            <a:r>
              <a:rPr lang="en-US" b="0" i="0" dirty="0">
                <a:solidFill>
                  <a:srgbClr val="D4D4D4"/>
                </a:solidFill>
                <a:effectLst/>
                <a:latin typeface="-apple-system"/>
              </a:rPr>
              <a:t> </a:t>
            </a:r>
            <a:r>
              <a:rPr lang="ko-KR" altLang="en-US" b="0" i="0" dirty="0">
                <a:solidFill>
                  <a:srgbClr val="D4D4D4"/>
                </a:solidFill>
                <a:effectLst/>
                <a:latin typeface="-apple-system"/>
              </a:rPr>
              <a:t>값을 소스 체인에 알리기 위한 응답 패킷</a:t>
            </a:r>
            <a:r>
              <a:rPr lang="en-US" altLang="ko-KR" b="0" i="0" dirty="0">
                <a:solidFill>
                  <a:srgbClr val="D4D4D4"/>
                </a:solidFill>
                <a:effectLst/>
                <a:latin typeface="-apple-system"/>
              </a:rPr>
              <a:t>(</a:t>
            </a:r>
            <a:r>
              <a:rPr lang="en-US" b="0" i="0" dirty="0">
                <a:solidFill>
                  <a:srgbClr val="D4D4D4"/>
                </a:solidFill>
                <a:effectLst/>
                <a:latin typeface="-apple-system"/>
              </a:rPr>
              <a:t>Acknowledgement)</a:t>
            </a:r>
            <a:r>
              <a:rPr lang="ko-KR" altLang="en-US" b="0" i="0" dirty="0">
                <a:solidFill>
                  <a:srgbClr val="D4D4D4"/>
                </a:solidFill>
                <a:effectLst/>
                <a:latin typeface="-apple-system"/>
              </a:rPr>
              <a:t>을 생성한다</a:t>
            </a:r>
            <a:r>
              <a:rPr lang="en-US" altLang="ko-KR" b="0" i="0" dirty="0">
                <a:solidFill>
                  <a:srgbClr val="D4D4D4"/>
                </a:solidFill>
                <a:effectLst/>
                <a:latin typeface="-apple-system"/>
              </a:rPr>
              <a:t>.</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해당 응답 패킷을 소스 체인으로 전달하고</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체인은 전달 받은 패킷과 같이 전송된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사용하여 싱크 체인에서 전달한 내용이 정상적인 내용인지 확인한다</a:t>
            </a:r>
            <a:r>
              <a:rPr lang="en-US" altLang="ko-KR" b="0" i="0" dirty="0">
                <a:solidFill>
                  <a:srgbClr val="D4D4D4"/>
                </a:solidFill>
                <a:effectLst/>
                <a:latin typeface="-apple-system"/>
              </a:rPr>
              <a:t>. </a:t>
            </a:r>
            <a:r>
              <a:rPr lang="ko-KR" altLang="en-US" b="0" i="0" dirty="0">
                <a:solidFill>
                  <a:srgbClr val="D4D4D4"/>
                </a:solidFill>
                <a:effectLst/>
                <a:latin typeface="-apple-system"/>
              </a:rPr>
              <a:t>정상임이 확인되면 전송 요청에 대한 트랜잭션을 최종 완료 상태로 표시한다</a:t>
            </a:r>
            <a:r>
              <a:rPr lang="en-US" altLang="ko-KR" b="0" i="0" dirty="0">
                <a:solidFill>
                  <a:srgbClr val="D4D4D4"/>
                </a:solidFill>
                <a:effectLst/>
                <a:latin typeface="-apple-system"/>
              </a:rPr>
              <a:t>.</a:t>
            </a:r>
          </a:p>
        </p:txBody>
      </p:sp>
      <p:sp>
        <p:nvSpPr>
          <p:cNvPr id="4" name="Slide Number Placeholder 3"/>
          <p:cNvSpPr>
            <a:spLocks noGrp="1"/>
          </p:cNvSpPr>
          <p:nvPr>
            <p:ph type="sldNum" sz="quarter" idx="5"/>
          </p:nvPr>
        </p:nvSpPr>
        <p:spPr/>
        <p:txBody>
          <a:bodyPr/>
          <a:lstStyle/>
          <a:p>
            <a:fld id="{68F19458-6438-6D4C-8871-C414D67D65FB}" type="slidenum">
              <a:rPr lang="en-KR" smtClean="0"/>
              <a:t>27</a:t>
            </a:fld>
            <a:endParaRPr lang="en-KR"/>
          </a:p>
        </p:txBody>
      </p:sp>
    </p:spTree>
    <p:extLst>
      <p:ext uri="{BB962C8B-B14F-4D97-AF65-F5344CB8AC3E}">
        <p14:creationId xmlns:p14="http://schemas.microsoft.com/office/powerpoint/2010/main" val="3558739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ko-KR" b="1" i="0" dirty="0">
                <a:solidFill>
                  <a:srgbClr val="D4D4D4"/>
                </a:solidFill>
                <a:effectLst/>
                <a:latin typeface="-apple-system"/>
              </a:rPr>
              <a:t>3. </a:t>
            </a:r>
            <a:r>
              <a:rPr lang="ko-KR" altLang="en-US" b="1" i="0" dirty="0" err="1">
                <a:solidFill>
                  <a:srgbClr val="D4D4D4"/>
                </a:solidFill>
                <a:effectLst/>
                <a:latin typeface="-apple-system"/>
              </a:rPr>
              <a:t>싱크체인의</a:t>
            </a:r>
            <a:r>
              <a:rPr lang="ko-KR" altLang="en-US" b="1" i="0" dirty="0">
                <a:solidFill>
                  <a:srgbClr val="D4D4D4"/>
                </a:solidFill>
                <a:effectLst/>
                <a:latin typeface="-apple-system"/>
              </a:rPr>
              <a:t> 패킷 수신 및 검증</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소스 체인에서 생성된 패킷과 해당 트랜잭션의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함께 싱크 체인으로 전달한다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체인에 있는 소스 체인에 대한 클라이언트는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통해 해당 패킷이 소스 체인에서 유효하게 생성되었는지</a:t>
            </a:r>
            <a:r>
              <a:rPr lang="en-US" altLang="ko-KR" b="0" i="0" dirty="0">
                <a:solidFill>
                  <a:srgbClr val="D4D4D4"/>
                </a:solidFill>
                <a:effectLst/>
                <a:latin typeface="-apple-system"/>
              </a:rPr>
              <a:t>, </a:t>
            </a:r>
            <a:r>
              <a:rPr lang="ko-KR" altLang="en-US" b="0" i="0" dirty="0">
                <a:solidFill>
                  <a:srgbClr val="D4D4D4"/>
                </a:solidFill>
                <a:effectLst/>
                <a:latin typeface="-apple-system"/>
              </a:rPr>
              <a:t>조작되지 않았는지 등을 검증한다</a:t>
            </a:r>
            <a:r>
              <a:rPr lang="en-US" altLang="ko-KR" b="0" i="0" dirty="0">
                <a:solidFill>
                  <a:srgbClr val="D4D4D4"/>
                </a:solidFill>
                <a:effectLst/>
                <a:latin typeface="-apple-system"/>
              </a:rPr>
              <a:t>. </a:t>
            </a:r>
            <a:r>
              <a:rPr lang="ko-KR" altLang="en-US" b="0" i="0" dirty="0">
                <a:solidFill>
                  <a:srgbClr val="D4D4D4"/>
                </a:solidFill>
                <a:effectLst/>
                <a:latin typeface="-apple-system"/>
              </a:rPr>
              <a:t>검증이 완료된 패킷은 채널을 통해 수신된다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4. </a:t>
            </a:r>
            <a:r>
              <a:rPr lang="ko-KR" altLang="en-US" b="1" i="0" dirty="0">
                <a:solidFill>
                  <a:srgbClr val="D4D4D4"/>
                </a:solidFill>
                <a:effectLst/>
                <a:latin typeface="-apple-system"/>
              </a:rPr>
              <a:t>트랜잭션 처리</a:t>
            </a:r>
          </a:p>
          <a:p>
            <a:pPr algn="l"/>
            <a:r>
              <a:rPr lang="ko-KR" altLang="en-US" b="0" i="0" dirty="0">
                <a:solidFill>
                  <a:srgbClr val="D4D4D4"/>
                </a:solidFill>
                <a:effectLst/>
                <a:latin typeface="-apple-system"/>
              </a:rPr>
              <a:t>채널을 통해 수신된 패킷을 받은 싱크 체인은</a:t>
            </a:r>
            <a:r>
              <a:rPr lang="en-US" altLang="ko-KR" b="0" i="0" dirty="0">
                <a:solidFill>
                  <a:srgbClr val="D4D4D4"/>
                </a:solidFill>
                <a:effectLst/>
                <a:latin typeface="-apple-system"/>
              </a:rPr>
              <a:t>, </a:t>
            </a:r>
            <a:r>
              <a:rPr lang="ko-KR" altLang="en-US" b="0" i="0" dirty="0">
                <a:solidFill>
                  <a:srgbClr val="D4D4D4"/>
                </a:solidFill>
                <a:effectLst/>
                <a:latin typeface="-apple-system"/>
              </a:rPr>
              <a:t>해당 패킷에 포함된 정보를 기반으로 토큰을 처리한다</a:t>
            </a:r>
            <a:r>
              <a:rPr lang="en-US" altLang="ko-KR" b="0" i="0" dirty="0">
                <a:solidFill>
                  <a:srgbClr val="D4D4D4"/>
                </a:solidFill>
                <a:effectLst/>
                <a:latin typeface="-apple-system"/>
              </a:rPr>
              <a:t>. </a:t>
            </a:r>
            <a:r>
              <a:rPr lang="ko-KR" altLang="en-US" b="0" i="0" dirty="0">
                <a:solidFill>
                  <a:srgbClr val="D4D4D4"/>
                </a:solidFill>
                <a:effectLst/>
                <a:latin typeface="-apple-system"/>
              </a:rPr>
              <a:t>위의 예시처럼 체인 </a:t>
            </a:r>
            <a:r>
              <a:rPr lang="en-US" b="0" i="0" dirty="0">
                <a:solidFill>
                  <a:srgbClr val="D4D4D4"/>
                </a:solidFill>
                <a:effectLst/>
                <a:latin typeface="-apple-system"/>
              </a:rPr>
              <a:t>A</a:t>
            </a:r>
            <a:r>
              <a:rPr lang="ko-KR" altLang="en-US" b="0" i="0" dirty="0">
                <a:solidFill>
                  <a:srgbClr val="D4D4D4"/>
                </a:solidFill>
                <a:effectLst/>
                <a:latin typeface="-apple-system"/>
              </a:rPr>
              <a:t>에서 체인 </a:t>
            </a:r>
            <a:r>
              <a:rPr lang="en-US" b="0" i="0" dirty="0">
                <a:solidFill>
                  <a:srgbClr val="D4D4D4"/>
                </a:solidFill>
                <a:effectLst/>
                <a:latin typeface="-apple-system"/>
              </a:rPr>
              <a:t>B</a:t>
            </a:r>
            <a:r>
              <a:rPr lang="ko-KR" altLang="en-US" b="0" i="0" dirty="0">
                <a:solidFill>
                  <a:srgbClr val="D4D4D4"/>
                </a:solidFill>
                <a:effectLst/>
                <a:latin typeface="-apple-system"/>
              </a:rPr>
              <a:t>로 토큰을 이동하는 경우</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A)</a:t>
            </a:r>
            <a:r>
              <a:rPr lang="ko-KR" altLang="en-US" b="0" i="0" dirty="0">
                <a:solidFill>
                  <a:srgbClr val="D4D4D4"/>
                </a:solidFill>
                <a:effectLst/>
                <a:latin typeface="-apple-system"/>
              </a:rPr>
              <a:t>에서 전송한 토큰에 해당하는 가치를 지닌 바우처 토큰을 싱크 체인</a:t>
            </a:r>
            <a:r>
              <a:rPr lang="en-US" altLang="ko-KR" b="0" i="0" dirty="0">
                <a:solidFill>
                  <a:srgbClr val="D4D4D4"/>
                </a:solidFill>
                <a:effectLst/>
                <a:latin typeface="-apple-system"/>
              </a:rPr>
              <a:t>(</a:t>
            </a:r>
            <a:r>
              <a:rPr lang="ko-KR" altLang="en-US" b="0" i="0" dirty="0">
                <a:solidFill>
                  <a:srgbClr val="D4D4D4"/>
                </a:solidFill>
                <a:effectLst/>
                <a:latin typeface="-apple-system"/>
              </a:rPr>
              <a:t>체인 </a:t>
            </a:r>
            <a:r>
              <a:rPr lang="en-US" b="0" i="0" dirty="0">
                <a:solidFill>
                  <a:srgbClr val="D4D4D4"/>
                </a:solidFill>
                <a:effectLst/>
                <a:latin typeface="-apple-system"/>
              </a:rPr>
              <a:t>B)</a:t>
            </a:r>
            <a:r>
              <a:rPr lang="ko-KR" altLang="en-US" b="0" i="0" dirty="0">
                <a:solidFill>
                  <a:srgbClr val="D4D4D4"/>
                </a:solidFill>
                <a:effectLst/>
                <a:latin typeface="-apple-system"/>
              </a:rPr>
              <a:t>에서 발행</a:t>
            </a:r>
            <a:r>
              <a:rPr lang="en-US" altLang="ko-KR" b="0" i="0" dirty="0">
                <a:solidFill>
                  <a:srgbClr val="D4D4D4"/>
                </a:solidFill>
                <a:effectLst/>
                <a:latin typeface="-apple-system"/>
              </a:rPr>
              <a:t>(</a:t>
            </a:r>
            <a:r>
              <a:rPr lang="en-US" b="0" i="0" dirty="0">
                <a:solidFill>
                  <a:srgbClr val="D4D4D4"/>
                </a:solidFill>
                <a:effectLst/>
                <a:latin typeface="-apple-system"/>
              </a:rPr>
              <a:t>mint)</a:t>
            </a:r>
            <a:r>
              <a:rPr lang="ko-KR" altLang="en-US" b="0" i="0" dirty="0">
                <a:solidFill>
                  <a:srgbClr val="D4D4D4"/>
                </a:solidFill>
                <a:effectLst/>
                <a:latin typeface="-apple-system"/>
              </a:rPr>
              <a:t>한다</a:t>
            </a:r>
            <a:r>
              <a:rPr lang="en-US" altLang="ko-KR" b="0" i="0" dirty="0">
                <a:solidFill>
                  <a:srgbClr val="D4D4D4"/>
                </a:solidFill>
                <a:effectLst/>
                <a:latin typeface="-apple-system"/>
              </a:rPr>
              <a:t>. </a:t>
            </a:r>
            <a:r>
              <a:rPr lang="ko-KR" altLang="en-US" b="0" i="0" dirty="0">
                <a:solidFill>
                  <a:srgbClr val="D4D4D4"/>
                </a:solidFill>
                <a:effectLst/>
                <a:latin typeface="-apple-system"/>
              </a:rPr>
              <a:t>발행된 토큰은 수신자에게 전달된다</a:t>
            </a:r>
            <a:r>
              <a:rPr lang="en-US" altLang="ko-KR" b="0" i="0" dirty="0">
                <a:solidFill>
                  <a:srgbClr val="D4D4D4"/>
                </a:solidFill>
                <a:effectLst/>
                <a:latin typeface="-apple-system"/>
              </a:rPr>
              <a:t>.</a:t>
            </a:r>
          </a:p>
          <a:p>
            <a:pPr algn="l"/>
            <a:r>
              <a:rPr lang="en-US" altLang="ko-KR" b="1" i="0" dirty="0">
                <a:solidFill>
                  <a:srgbClr val="D4D4D4"/>
                </a:solidFill>
                <a:effectLst/>
                <a:latin typeface="-apple-system"/>
              </a:rPr>
              <a:t>5. </a:t>
            </a:r>
            <a:r>
              <a:rPr lang="ko-KR" altLang="en-US" b="1" i="0" dirty="0">
                <a:solidFill>
                  <a:srgbClr val="D4D4D4"/>
                </a:solidFill>
                <a:effectLst/>
                <a:latin typeface="-apple-system"/>
              </a:rPr>
              <a:t>소스 체인의 트랜잭션 완료 처리</a:t>
            </a:r>
          </a:p>
          <a:p>
            <a:pPr algn="l"/>
            <a:r>
              <a:rPr lang="ko-KR" altLang="en-US" b="0" i="0" dirty="0">
                <a:solidFill>
                  <a:srgbClr val="D4D4D4"/>
                </a:solidFill>
                <a:effectLst/>
                <a:latin typeface="-apple-system"/>
              </a:rPr>
              <a:t>싱크 체인에서 패킷 처리가 완료되면</a:t>
            </a:r>
            <a:r>
              <a:rPr lang="en-US" altLang="ko-KR" b="0" i="0" dirty="0">
                <a:solidFill>
                  <a:srgbClr val="D4D4D4"/>
                </a:solidFill>
                <a:effectLst/>
                <a:latin typeface="-apple-system"/>
              </a:rPr>
              <a:t>, </a:t>
            </a:r>
            <a:r>
              <a:rPr lang="ko-KR" altLang="en-US" b="0" i="0" dirty="0">
                <a:solidFill>
                  <a:srgbClr val="D4D4D4"/>
                </a:solidFill>
                <a:effectLst/>
                <a:latin typeface="-apple-system"/>
              </a:rPr>
              <a:t>해당하는 성공 내역에 대한 </a:t>
            </a:r>
            <a:r>
              <a:rPr lang="en-US" b="0" i="0" dirty="0" err="1">
                <a:solidFill>
                  <a:srgbClr val="D4D4D4"/>
                </a:solidFill>
                <a:effectLst/>
                <a:latin typeface="-apple-system"/>
              </a:rPr>
              <a:t>commitmentRoot</a:t>
            </a:r>
            <a:r>
              <a:rPr lang="ko-KR" altLang="en-US" b="0" i="0" dirty="0">
                <a:solidFill>
                  <a:srgbClr val="D4D4D4"/>
                </a:solidFill>
                <a:effectLst/>
                <a:latin typeface="-apple-system"/>
              </a:rPr>
              <a:t>가 업데이트 된다</a:t>
            </a:r>
            <a:r>
              <a:rPr lang="en-US" altLang="ko-KR" b="0" i="0" dirty="0">
                <a:solidFill>
                  <a:srgbClr val="D4D4D4"/>
                </a:solidFill>
                <a:effectLst/>
                <a:latin typeface="-apple-system"/>
              </a:rPr>
              <a:t>. </a:t>
            </a:r>
            <a:r>
              <a:rPr lang="ko-KR" altLang="en-US" b="0" i="0" dirty="0">
                <a:solidFill>
                  <a:srgbClr val="D4D4D4"/>
                </a:solidFill>
                <a:effectLst/>
                <a:latin typeface="-apple-system"/>
              </a:rPr>
              <a:t>싱크 체인은 갱신된 </a:t>
            </a:r>
            <a:r>
              <a:rPr lang="en-US" b="0" i="0" dirty="0" err="1">
                <a:solidFill>
                  <a:srgbClr val="D4D4D4"/>
                </a:solidFill>
                <a:effectLst/>
                <a:latin typeface="-apple-system"/>
              </a:rPr>
              <a:t>commitmentRoot</a:t>
            </a:r>
            <a:r>
              <a:rPr lang="en-US" b="0" i="0" dirty="0">
                <a:solidFill>
                  <a:srgbClr val="D4D4D4"/>
                </a:solidFill>
                <a:effectLst/>
                <a:latin typeface="-apple-system"/>
              </a:rPr>
              <a:t> </a:t>
            </a:r>
            <a:r>
              <a:rPr lang="ko-KR" altLang="en-US" b="0" i="0" dirty="0">
                <a:solidFill>
                  <a:srgbClr val="D4D4D4"/>
                </a:solidFill>
                <a:effectLst/>
                <a:latin typeface="-apple-system"/>
              </a:rPr>
              <a:t>값을 소스 체인에 알리기 위한 응답 패킷</a:t>
            </a:r>
            <a:r>
              <a:rPr lang="en-US" altLang="ko-KR" b="0" i="0" dirty="0">
                <a:solidFill>
                  <a:srgbClr val="D4D4D4"/>
                </a:solidFill>
                <a:effectLst/>
                <a:latin typeface="-apple-system"/>
              </a:rPr>
              <a:t>(</a:t>
            </a:r>
            <a:r>
              <a:rPr lang="en-US" b="0" i="0" dirty="0">
                <a:solidFill>
                  <a:srgbClr val="D4D4D4"/>
                </a:solidFill>
                <a:effectLst/>
                <a:latin typeface="-apple-system"/>
              </a:rPr>
              <a:t>Acknowledgement)</a:t>
            </a:r>
            <a:r>
              <a:rPr lang="ko-KR" altLang="en-US" b="0" i="0" dirty="0">
                <a:solidFill>
                  <a:srgbClr val="D4D4D4"/>
                </a:solidFill>
                <a:effectLst/>
                <a:latin typeface="-apple-system"/>
              </a:rPr>
              <a:t>을 생성한다</a:t>
            </a:r>
            <a:r>
              <a:rPr lang="en-US" altLang="ko-KR" b="0" i="0" dirty="0">
                <a:solidFill>
                  <a:srgbClr val="D4D4D4"/>
                </a:solidFill>
                <a:effectLst/>
                <a:latin typeface="-apple-system"/>
              </a:rPr>
              <a:t>.</a:t>
            </a:r>
          </a:p>
          <a:p>
            <a:pPr algn="l"/>
            <a:r>
              <a:rPr lang="ko-KR" altLang="en-US" b="0" i="0" dirty="0" err="1">
                <a:solidFill>
                  <a:srgbClr val="D4D4D4"/>
                </a:solidFill>
                <a:effectLst/>
                <a:latin typeface="-apple-system"/>
              </a:rPr>
              <a:t>릴레이어는</a:t>
            </a:r>
            <a:r>
              <a:rPr lang="ko-KR" altLang="en-US" b="0" i="0" dirty="0">
                <a:solidFill>
                  <a:srgbClr val="D4D4D4"/>
                </a:solidFill>
                <a:effectLst/>
                <a:latin typeface="-apple-system"/>
              </a:rPr>
              <a:t> 해당 응답 패킷을 소스 체인으로 전달하고</a:t>
            </a:r>
            <a:r>
              <a:rPr lang="en-US" altLang="ko-KR" b="0" i="0" dirty="0">
                <a:solidFill>
                  <a:srgbClr val="D4D4D4"/>
                </a:solidFill>
                <a:effectLst/>
                <a:latin typeface="-apple-system"/>
              </a:rPr>
              <a:t>, </a:t>
            </a:r>
            <a:r>
              <a:rPr lang="ko-KR" altLang="en-US" b="0" i="0" dirty="0">
                <a:solidFill>
                  <a:srgbClr val="D4D4D4"/>
                </a:solidFill>
                <a:effectLst/>
                <a:latin typeface="-apple-system"/>
              </a:rPr>
              <a:t>소스 체인은 전달 받은 패킷과 같이 전송된 </a:t>
            </a:r>
            <a:r>
              <a:rPr lang="en-US" b="0" i="0" dirty="0">
                <a:solidFill>
                  <a:srgbClr val="D4D4D4"/>
                </a:solidFill>
                <a:effectLst/>
                <a:latin typeface="-apple-system"/>
              </a:rPr>
              <a:t>Merkle Proof</a:t>
            </a:r>
            <a:r>
              <a:rPr lang="ko-KR" altLang="en-US" b="0" i="0" dirty="0" err="1">
                <a:solidFill>
                  <a:srgbClr val="D4D4D4"/>
                </a:solidFill>
                <a:effectLst/>
                <a:latin typeface="-apple-system"/>
              </a:rPr>
              <a:t>를</a:t>
            </a:r>
            <a:r>
              <a:rPr lang="ko-KR" altLang="en-US" b="0" i="0" dirty="0">
                <a:solidFill>
                  <a:srgbClr val="D4D4D4"/>
                </a:solidFill>
                <a:effectLst/>
                <a:latin typeface="-apple-system"/>
              </a:rPr>
              <a:t> 사용하여 싱크 체인에서 전달한 내용이 정상적인 내용인지 확인한다</a:t>
            </a:r>
            <a:r>
              <a:rPr lang="en-US" altLang="ko-KR" b="0" i="0" dirty="0">
                <a:solidFill>
                  <a:srgbClr val="D4D4D4"/>
                </a:solidFill>
                <a:effectLst/>
                <a:latin typeface="-apple-system"/>
              </a:rPr>
              <a:t>. </a:t>
            </a:r>
            <a:r>
              <a:rPr lang="ko-KR" altLang="en-US" b="0" i="0" dirty="0">
                <a:solidFill>
                  <a:srgbClr val="D4D4D4"/>
                </a:solidFill>
                <a:effectLst/>
                <a:latin typeface="-apple-system"/>
              </a:rPr>
              <a:t>정상임이 확인되면 전송 요청에 대한 트랜잭션을 최종 완료 상태로 표시한다</a:t>
            </a:r>
            <a:r>
              <a:rPr lang="en-US" altLang="ko-KR" b="0" i="0" dirty="0">
                <a:solidFill>
                  <a:srgbClr val="D4D4D4"/>
                </a:solidFill>
                <a:effectLst/>
                <a:latin typeface="-apple-system"/>
              </a:rPr>
              <a:t>.</a:t>
            </a:r>
          </a:p>
        </p:txBody>
      </p:sp>
      <p:sp>
        <p:nvSpPr>
          <p:cNvPr id="4" name="Slide Number Placeholder 3"/>
          <p:cNvSpPr>
            <a:spLocks noGrp="1"/>
          </p:cNvSpPr>
          <p:nvPr>
            <p:ph type="sldNum" sz="quarter" idx="5"/>
          </p:nvPr>
        </p:nvSpPr>
        <p:spPr/>
        <p:txBody>
          <a:bodyPr/>
          <a:lstStyle/>
          <a:p>
            <a:fld id="{68F19458-6438-6D4C-8871-C414D67D65FB}" type="slidenum">
              <a:rPr lang="en-KR" smtClean="0"/>
              <a:t>28</a:t>
            </a:fld>
            <a:endParaRPr lang="en-KR"/>
          </a:p>
        </p:txBody>
      </p:sp>
    </p:spTree>
    <p:extLst>
      <p:ext uri="{BB962C8B-B14F-4D97-AF65-F5344CB8AC3E}">
        <p14:creationId xmlns:p14="http://schemas.microsoft.com/office/powerpoint/2010/main" val="6456416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ltLang="ko-KR" b="0" i="0" dirty="0">
              <a:solidFill>
                <a:srgbClr val="D4D4D4"/>
              </a:solidFill>
              <a:effectLst/>
              <a:latin typeface="-apple-system"/>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29</a:t>
            </a:fld>
            <a:endParaRPr lang="en-KR"/>
          </a:p>
        </p:txBody>
      </p:sp>
    </p:spTree>
    <p:extLst>
      <p:ext uri="{BB962C8B-B14F-4D97-AF65-F5344CB8AC3E}">
        <p14:creationId xmlns:p14="http://schemas.microsoft.com/office/powerpoint/2010/main" val="32323831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ltLang="ko-KR" b="0" i="0" dirty="0">
              <a:solidFill>
                <a:srgbClr val="D4D4D4"/>
              </a:solidFill>
              <a:effectLst/>
              <a:latin typeface="-apple-system"/>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30</a:t>
            </a:fld>
            <a:endParaRPr lang="en-KR"/>
          </a:p>
        </p:txBody>
      </p:sp>
    </p:spTree>
    <p:extLst>
      <p:ext uri="{BB962C8B-B14F-4D97-AF65-F5344CB8AC3E}">
        <p14:creationId xmlns:p14="http://schemas.microsoft.com/office/powerpoint/2010/main" val="42105590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ltLang="ko-KR" b="0" i="0" dirty="0">
              <a:solidFill>
                <a:srgbClr val="D4D4D4"/>
              </a:solidFill>
              <a:effectLst/>
              <a:latin typeface="-apple-system"/>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31</a:t>
            </a:fld>
            <a:endParaRPr lang="en-KR"/>
          </a:p>
        </p:txBody>
      </p:sp>
    </p:spTree>
    <p:extLst>
      <p:ext uri="{BB962C8B-B14F-4D97-AF65-F5344CB8AC3E}">
        <p14:creationId xmlns:p14="http://schemas.microsoft.com/office/powerpoint/2010/main" val="39133124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ltLang="ko-KR" b="0" i="0" dirty="0">
              <a:solidFill>
                <a:srgbClr val="D4D4D4"/>
              </a:solidFill>
              <a:effectLst/>
              <a:latin typeface="-apple-system"/>
            </a:endParaRPr>
          </a:p>
        </p:txBody>
      </p:sp>
      <p:sp>
        <p:nvSpPr>
          <p:cNvPr id="4" name="Slide Number Placeholder 3"/>
          <p:cNvSpPr>
            <a:spLocks noGrp="1"/>
          </p:cNvSpPr>
          <p:nvPr>
            <p:ph type="sldNum" sz="quarter" idx="5"/>
          </p:nvPr>
        </p:nvSpPr>
        <p:spPr/>
        <p:txBody>
          <a:bodyPr/>
          <a:lstStyle/>
          <a:p>
            <a:fld id="{68F19458-6438-6D4C-8871-C414D67D65FB}" type="slidenum">
              <a:rPr lang="en-KR" smtClean="0"/>
              <a:t>32</a:t>
            </a:fld>
            <a:endParaRPr lang="en-KR"/>
          </a:p>
        </p:txBody>
      </p:sp>
    </p:spTree>
    <p:extLst>
      <p:ext uri="{BB962C8B-B14F-4D97-AF65-F5344CB8AC3E}">
        <p14:creationId xmlns:p14="http://schemas.microsoft.com/office/powerpoint/2010/main" val="3437896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AF416-C183-385E-E45D-E2DE6595EF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R"/>
          </a:p>
        </p:txBody>
      </p:sp>
      <p:sp>
        <p:nvSpPr>
          <p:cNvPr id="3" name="Subtitle 2">
            <a:extLst>
              <a:ext uri="{FF2B5EF4-FFF2-40B4-BE49-F238E27FC236}">
                <a16:creationId xmlns:a16="http://schemas.microsoft.com/office/drawing/2014/main" id="{AF9FE203-AC9E-8DE5-7B9D-EE7ED92911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R"/>
          </a:p>
        </p:txBody>
      </p:sp>
      <p:sp>
        <p:nvSpPr>
          <p:cNvPr id="4" name="Date Placeholder 3">
            <a:extLst>
              <a:ext uri="{FF2B5EF4-FFF2-40B4-BE49-F238E27FC236}">
                <a16:creationId xmlns:a16="http://schemas.microsoft.com/office/drawing/2014/main" id="{324BD57E-5961-810B-47C3-564F6373D7B6}"/>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5" name="Footer Placeholder 4">
            <a:extLst>
              <a:ext uri="{FF2B5EF4-FFF2-40B4-BE49-F238E27FC236}">
                <a16:creationId xmlns:a16="http://schemas.microsoft.com/office/drawing/2014/main" id="{AB1B1879-78EF-41A8-5F36-A5A02931B9A1}"/>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F69A6557-2D15-232D-E998-2AC0242B36B2}"/>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1197272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3C13A-EF64-4942-F571-906B1316E2E0}"/>
              </a:ext>
            </a:extLst>
          </p:cNvPr>
          <p:cNvSpPr>
            <a:spLocks noGrp="1"/>
          </p:cNvSpPr>
          <p:nvPr>
            <p:ph type="title"/>
          </p:nvPr>
        </p:nvSpPr>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B56D128F-9916-8AC5-B351-8A152D13A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B835743D-7CD0-B4CB-B064-12864AFFC892}"/>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5" name="Footer Placeholder 4">
            <a:extLst>
              <a:ext uri="{FF2B5EF4-FFF2-40B4-BE49-F238E27FC236}">
                <a16:creationId xmlns:a16="http://schemas.microsoft.com/office/drawing/2014/main" id="{1FD8FD06-C78C-4462-D971-772BBFD755B1}"/>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B17295C3-9682-D418-F102-9A3501B6AF1F}"/>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3662998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22948-5B7F-4406-F978-7024BD503D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R"/>
          </a:p>
        </p:txBody>
      </p:sp>
      <p:sp>
        <p:nvSpPr>
          <p:cNvPr id="3" name="Text Placeholder 2">
            <a:extLst>
              <a:ext uri="{FF2B5EF4-FFF2-40B4-BE49-F238E27FC236}">
                <a16:creationId xmlns:a16="http://schemas.microsoft.com/office/drawing/2014/main" id="{07422AFE-58C8-2E55-14F5-60BA98E4C0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7224DB-1A19-7270-6B59-C4643A7B5D87}"/>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5" name="Footer Placeholder 4">
            <a:extLst>
              <a:ext uri="{FF2B5EF4-FFF2-40B4-BE49-F238E27FC236}">
                <a16:creationId xmlns:a16="http://schemas.microsoft.com/office/drawing/2014/main" id="{CE6817EF-ADCE-D53F-06EC-8E5592F88E44}"/>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2025A02C-9ADE-923A-9910-1E6D5ED246EE}"/>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3222045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E7AFE-520A-FC66-E02E-68FC4103242E}"/>
              </a:ext>
            </a:extLst>
          </p:cNvPr>
          <p:cNvSpPr>
            <a:spLocks noGrp="1"/>
          </p:cNvSpPr>
          <p:nvPr>
            <p:ph type="title"/>
          </p:nvPr>
        </p:nvSpPr>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417FE07B-6255-2E02-3246-224427DD02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Content Placeholder 3">
            <a:extLst>
              <a:ext uri="{FF2B5EF4-FFF2-40B4-BE49-F238E27FC236}">
                <a16:creationId xmlns:a16="http://schemas.microsoft.com/office/drawing/2014/main" id="{22551A01-C6EB-63DA-F835-C8CAA8D450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Date Placeholder 4">
            <a:extLst>
              <a:ext uri="{FF2B5EF4-FFF2-40B4-BE49-F238E27FC236}">
                <a16:creationId xmlns:a16="http://schemas.microsoft.com/office/drawing/2014/main" id="{3326CD6C-0BA1-51F1-3863-12298B925AF1}"/>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6" name="Footer Placeholder 5">
            <a:extLst>
              <a:ext uri="{FF2B5EF4-FFF2-40B4-BE49-F238E27FC236}">
                <a16:creationId xmlns:a16="http://schemas.microsoft.com/office/drawing/2014/main" id="{64FE112C-675F-08A5-586B-E3CEEC4EA0FF}"/>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4BB7294-EF5A-CAA9-9D9B-F4F3339000A0}"/>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92266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DC47F-4932-3D8D-1D35-3E6DC0FC748D}"/>
              </a:ext>
            </a:extLst>
          </p:cNvPr>
          <p:cNvSpPr>
            <a:spLocks noGrp="1"/>
          </p:cNvSpPr>
          <p:nvPr>
            <p:ph type="title"/>
          </p:nvPr>
        </p:nvSpPr>
        <p:spPr>
          <a:xfrm>
            <a:off x="839788" y="365125"/>
            <a:ext cx="10515600" cy="1325563"/>
          </a:xfrm>
        </p:spPr>
        <p:txBody>
          <a:bodyPr/>
          <a:lstStyle/>
          <a:p>
            <a:r>
              <a:rPr lang="en-US"/>
              <a:t>Click to edit Master title style</a:t>
            </a:r>
            <a:endParaRPr lang="en-KR"/>
          </a:p>
        </p:txBody>
      </p:sp>
      <p:sp>
        <p:nvSpPr>
          <p:cNvPr id="3" name="Text Placeholder 2">
            <a:extLst>
              <a:ext uri="{FF2B5EF4-FFF2-40B4-BE49-F238E27FC236}">
                <a16:creationId xmlns:a16="http://schemas.microsoft.com/office/drawing/2014/main" id="{32E18C0C-DE1C-BF30-E507-FB57A56831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4C2224-5DD1-1870-6BB6-7C40E41FE3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Text Placeholder 4">
            <a:extLst>
              <a:ext uri="{FF2B5EF4-FFF2-40B4-BE49-F238E27FC236}">
                <a16:creationId xmlns:a16="http://schemas.microsoft.com/office/drawing/2014/main" id="{3937AD1B-5A15-E1FA-95E7-5ACAC7867A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993B45-930E-2BAA-B597-0CC07AE391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7" name="Date Placeholder 6">
            <a:extLst>
              <a:ext uri="{FF2B5EF4-FFF2-40B4-BE49-F238E27FC236}">
                <a16:creationId xmlns:a16="http://schemas.microsoft.com/office/drawing/2014/main" id="{2F605305-DA38-9781-24AC-434548CE1814}"/>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8" name="Footer Placeholder 7">
            <a:extLst>
              <a:ext uri="{FF2B5EF4-FFF2-40B4-BE49-F238E27FC236}">
                <a16:creationId xmlns:a16="http://schemas.microsoft.com/office/drawing/2014/main" id="{0B0505CE-34DE-FF5B-6533-646CFAD68CBB}"/>
              </a:ext>
            </a:extLst>
          </p:cNvPr>
          <p:cNvSpPr>
            <a:spLocks noGrp="1"/>
          </p:cNvSpPr>
          <p:nvPr>
            <p:ph type="ftr" sz="quarter" idx="11"/>
          </p:nvPr>
        </p:nvSpPr>
        <p:spPr/>
        <p:txBody>
          <a:bodyPr/>
          <a:lstStyle/>
          <a:p>
            <a:endParaRPr lang="en-KR"/>
          </a:p>
        </p:txBody>
      </p:sp>
      <p:sp>
        <p:nvSpPr>
          <p:cNvPr id="9" name="Slide Number Placeholder 8">
            <a:extLst>
              <a:ext uri="{FF2B5EF4-FFF2-40B4-BE49-F238E27FC236}">
                <a16:creationId xmlns:a16="http://schemas.microsoft.com/office/drawing/2014/main" id="{8B9FA980-FB1F-9B15-32A2-86C6A30ED14D}"/>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2382128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99B2-0EA8-0706-81D3-6215F1448136}"/>
              </a:ext>
            </a:extLst>
          </p:cNvPr>
          <p:cNvSpPr>
            <a:spLocks noGrp="1"/>
          </p:cNvSpPr>
          <p:nvPr>
            <p:ph type="title"/>
          </p:nvPr>
        </p:nvSpPr>
        <p:spPr/>
        <p:txBody>
          <a:bodyPr/>
          <a:lstStyle/>
          <a:p>
            <a:r>
              <a:rPr lang="en-US"/>
              <a:t>Click to edit Master title style</a:t>
            </a:r>
            <a:endParaRPr lang="en-KR"/>
          </a:p>
        </p:txBody>
      </p:sp>
      <p:sp>
        <p:nvSpPr>
          <p:cNvPr id="3" name="Date Placeholder 2">
            <a:extLst>
              <a:ext uri="{FF2B5EF4-FFF2-40B4-BE49-F238E27FC236}">
                <a16:creationId xmlns:a16="http://schemas.microsoft.com/office/drawing/2014/main" id="{DA6AC368-00C6-6EC9-4FAA-C69CFFF16D02}"/>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4" name="Footer Placeholder 3">
            <a:extLst>
              <a:ext uri="{FF2B5EF4-FFF2-40B4-BE49-F238E27FC236}">
                <a16:creationId xmlns:a16="http://schemas.microsoft.com/office/drawing/2014/main" id="{5B566C83-58A4-F216-3F17-EE9A86062A52}"/>
              </a:ext>
            </a:extLst>
          </p:cNvPr>
          <p:cNvSpPr>
            <a:spLocks noGrp="1"/>
          </p:cNvSpPr>
          <p:nvPr>
            <p:ph type="ftr" sz="quarter" idx="11"/>
          </p:nvPr>
        </p:nvSpPr>
        <p:spPr/>
        <p:txBody>
          <a:bodyPr/>
          <a:lstStyle/>
          <a:p>
            <a:endParaRPr lang="en-KR"/>
          </a:p>
        </p:txBody>
      </p:sp>
      <p:sp>
        <p:nvSpPr>
          <p:cNvPr id="5" name="Slide Number Placeholder 4">
            <a:extLst>
              <a:ext uri="{FF2B5EF4-FFF2-40B4-BE49-F238E27FC236}">
                <a16:creationId xmlns:a16="http://schemas.microsoft.com/office/drawing/2014/main" id="{40BAE8B6-6B8F-C584-22C7-2D5D42D909CE}"/>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1881275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732BB0-7458-08C1-9435-031AB3D9B25D}"/>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3" name="Footer Placeholder 2">
            <a:extLst>
              <a:ext uri="{FF2B5EF4-FFF2-40B4-BE49-F238E27FC236}">
                <a16:creationId xmlns:a16="http://schemas.microsoft.com/office/drawing/2014/main" id="{CB7B5A18-D1FB-7410-4A51-DD5BDA9EEB07}"/>
              </a:ext>
            </a:extLst>
          </p:cNvPr>
          <p:cNvSpPr>
            <a:spLocks noGrp="1"/>
          </p:cNvSpPr>
          <p:nvPr>
            <p:ph type="ftr" sz="quarter" idx="11"/>
          </p:nvPr>
        </p:nvSpPr>
        <p:spPr/>
        <p:txBody>
          <a:bodyPr/>
          <a:lstStyle/>
          <a:p>
            <a:endParaRPr lang="en-KR"/>
          </a:p>
        </p:txBody>
      </p:sp>
      <p:sp>
        <p:nvSpPr>
          <p:cNvPr id="4" name="Slide Number Placeholder 3">
            <a:extLst>
              <a:ext uri="{FF2B5EF4-FFF2-40B4-BE49-F238E27FC236}">
                <a16:creationId xmlns:a16="http://schemas.microsoft.com/office/drawing/2014/main" id="{4018CAC4-9B80-7342-55BB-429B5E2CCC5E}"/>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1601321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7C7E6-2147-8DF2-7607-66B54438FF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Content Placeholder 2">
            <a:extLst>
              <a:ext uri="{FF2B5EF4-FFF2-40B4-BE49-F238E27FC236}">
                <a16:creationId xmlns:a16="http://schemas.microsoft.com/office/drawing/2014/main" id="{D3F52885-B47E-41CA-777D-1C3778634E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Text Placeholder 3">
            <a:extLst>
              <a:ext uri="{FF2B5EF4-FFF2-40B4-BE49-F238E27FC236}">
                <a16:creationId xmlns:a16="http://schemas.microsoft.com/office/drawing/2014/main" id="{BD4C7FA6-0CCC-7C72-95D1-8D00FF8A2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FE25F4-5B86-BAA4-7702-F53D14160541}"/>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6" name="Footer Placeholder 5">
            <a:extLst>
              <a:ext uri="{FF2B5EF4-FFF2-40B4-BE49-F238E27FC236}">
                <a16:creationId xmlns:a16="http://schemas.microsoft.com/office/drawing/2014/main" id="{31338A6C-C085-A308-AB1F-312A155D1C3F}"/>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C04E5DE4-382B-BB13-7185-4EE1543BA450}"/>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1635216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99279-6E83-88A3-6CE1-D9D32C99C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Picture Placeholder 2">
            <a:extLst>
              <a:ext uri="{FF2B5EF4-FFF2-40B4-BE49-F238E27FC236}">
                <a16:creationId xmlns:a16="http://schemas.microsoft.com/office/drawing/2014/main" id="{0B982E14-C721-EF74-AE0E-5B2A83B0F4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R"/>
          </a:p>
        </p:txBody>
      </p:sp>
      <p:sp>
        <p:nvSpPr>
          <p:cNvPr id="4" name="Text Placeholder 3">
            <a:extLst>
              <a:ext uri="{FF2B5EF4-FFF2-40B4-BE49-F238E27FC236}">
                <a16:creationId xmlns:a16="http://schemas.microsoft.com/office/drawing/2014/main" id="{92C16D90-DDC3-A2FA-4D17-D102E090A8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600298-B894-9E13-CB78-FC3E48110361}"/>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6" name="Footer Placeholder 5">
            <a:extLst>
              <a:ext uri="{FF2B5EF4-FFF2-40B4-BE49-F238E27FC236}">
                <a16:creationId xmlns:a16="http://schemas.microsoft.com/office/drawing/2014/main" id="{C6C9F8B5-9EBA-4355-9EF0-335A6E5337BF}"/>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6D44D0FF-399B-9978-8112-FA10851A60B8}"/>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407256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118EB-8448-BBD2-320B-D191AC97D61E}"/>
              </a:ext>
            </a:extLst>
          </p:cNvPr>
          <p:cNvSpPr>
            <a:spLocks noGrp="1"/>
          </p:cNvSpPr>
          <p:nvPr>
            <p:ph type="title"/>
          </p:nvPr>
        </p:nvSpPr>
        <p:spPr/>
        <p:txBody>
          <a:bodyPr/>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74BC0504-15CA-EB74-6156-044962DC20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723AB3EB-D3C0-8532-F7FD-47C0D71265C5}"/>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5" name="Footer Placeholder 4">
            <a:extLst>
              <a:ext uri="{FF2B5EF4-FFF2-40B4-BE49-F238E27FC236}">
                <a16:creationId xmlns:a16="http://schemas.microsoft.com/office/drawing/2014/main" id="{BD05BFE5-0711-2DC4-7771-43179DF72175}"/>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A91DD0A-EC6D-272E-9C64-40DD51232E2D}"/>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3741445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3BAE23-1618-DCF9-C519-CDF39BF9FC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E59624E3-A21C-15D1-5363-0529255B60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B23C6CAC-F387-2C30-F650-84CA595F855B}"/>
              </a:ext>
            </a:extLst>
          </p:cNvPr>
          <p:cNvSpPr>
            <a:spLocks noGrp="1"/>
          </p:cNvSpPr>
          <p:nvPr>
            <p:ph type="dt" sz="half" idx="10"/>
          </p:nvPr>
        </p:nvSpPr>
        <p:spPr/>
        <p:txBody>
          <a:bodyPr/>
          <a:lstStyle/>
          <a:p>
            <a:fld id="{4A60251D-6BFA-9248-9D27-ADBEF1814AB9}" type="datetimeFigureOut">
              <a:rPr lang="en-KR" smtClean="0"/>
              <a:t>8/27/24</a:t>
            </a:fld>
            <a:endParaRPr lang="en-KR"/>
          </a:p>
        </p:txBody>
      </p:sp>
      <p:sp>
        <p:nvSpPr>
          <p:cNvPr id="5" name="Footer Placeholder 4">
            <a:extLst>
              <a:ext uri="{FF2B5EF4-FFF2-40B4-BE49-F238E27FC236}">
                <a16:creationId xmlns:a16="http://schemas.microsoft.com/office/drawing/2014/main" id="{DCA01BD7-7527-1159-93BD-F9633FFA3126}"/>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213B4EC6-DA11-020D-7F83-E71E4E5860EA}"/>
              </a:ext>
            </a:extLst>
          </p:cNvPr>
          <p:cNvSpPr>
            <a:spLocks noGrp="1"/>
          </p:cNvSpPr>
          <p:nvPr>
            <p:ph type="sldNum" sz="quarter" idx="12"/>
          </p:nvPr>
        </p:nvSpPr>
        <p:spPr/>
        <p:txBody>
          <a:bodyPr/>
          <a:lstStyle/>
          <a:p>
            <a:fld id="{EEA0F48D-CB48-B14A-963D-D6866830CBE5}" type="slidenum">
              <a:rPr lang="en-KR" smtClean="0"/>
              <a:t>‹#›</a:t>
            </a:fld>
            <a:endParaRPr lang="en-KR"/>
          </a:p>
        </p:txBody>
      </p:sp>
    </p:spTree>
    <p:extLst>
      <p:ext uri="{BB962C8B-B14F-4D97-AF65-F5344CB8AC3E}">
        <p14:creationId xmlns:p14="http://schemas.microsoft.com/office/powerpoint/2010/main" val="1965359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1CFD34-F8EC-659F-2599-ED01C25D3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R"/>
          </a:p>
        </p:txBody>
      </p:sp>
      <p:sp>
        <p:nvSpPr>
          <p:cNvPr id="3" name="Text Placeholder 2">
            <a:extLst>
              <a:ext uri="{FF2B5EF4-FFF2-40B4-BE49-F238E27FC236}">
                <a16:creationId xmlns:a16="http://schemas.microsoft.com/office/drawing/2014/main" id="{7B247968-8CAF-DD46-C449-2C9835D95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37D5FDD7-BD1E-8AB2-E02A-1E4D2FE5C8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60251D-6BFA-9248-9D27-ADBEF1814AB9}" type="datetimeFigureOut">
              <a:rPr lang="en-KR" smtClean="0"/>
              <a:t>8/27/24</a:t>
            </a:fld>
            <a:endParaRPr lang="en-KR"/>
          </a:p>
        </p:txBody>
      </p:sp>
      <p:sp>
        <p:nvSpPr>
          <p:cNvPr id="5" name="Footer Placeholder 4">
            <a:extLst>
              <a:ext uri="{FF2B5EF4-FFF2-40B4-BE49-F238E27FC236}">
                <a16:creationId xmlns:a16="http://schemas.microsoft.com/office/drawing/2014/main" id="{D2177D01-E0C2-A78E-C35C-B5D91459E7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R"/>
          </a:p>
        </p:txBody>
      </p:sp>
      <p:sp>
        <p:nvSpPr>
          <p:cNvPr id="6" name="Slide Number Placeholder 5">
            <a:extLst>
              <a:ext uri="{FF2B5EF4-FFF2-40B4-BE49-F238E27FC236}">
                <a16:creationId xmlns:a16="http://schemas.microsoft.com/office/drawing/2014/main" id="{C05A508F-6625-AED1-59F9-3FF58F9731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A0F48D-CB48-B14A-963D-D6866830CBE5}" type="slidenum">
              <a:rPr lang="en-KR" smtClean="0"/>
              <a:t>‹#›</a:t>
            </a:fld>
            <a:endParaRPr lang="en-KR"/>
          </a:p>
        </p:txBody>
      </p:sp>
    </p:spTree>
    <p:extLst>
      <p:ext uri="{BB962C8B-B14F-4D97-AF65-F5344CB8AC3E}">
        <p14:creationId xmlns:p14="http://schemas.microsoft.com/office/powerpoint/2010/main" val="1757650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3D19-AEE9-B064-F452-0C3C58FF76CC}"/>
              </a:ext>
            </a:extLst>
          </p:cNvPr>
          <p:cNvSpPr>
            <a:spLocks noGrp="1"/>
          </p:cNvSpPr>
          <p:nvPr>
            <p:ph type="ctrTitle"/>
          </p:nvPr>
        </p:nvSpPr>
        <p:spPr/>
        <p:txBody>
          <a:bodyPr/>
          <a:lstStyle/>
          <a:p>
            <a:r>
              <a:rPr lang="en-US" dirty="0">
                <a:latin typeface="NanumGothic" panose="020D0604000000000000" pitchFamily="34" charset="-127"/>
                <a:ea typeface="NanumGothic" panose="020D0604000000000000" pitchFamily="34" charset="-127"/>
              </a:rPr>
              <a:t>Cosmos IBC </a:t>
            </a:r>
            <a:r>
              <a:rPr lang="ko-KR" altLang="en-US" dirty="0">
                <a:latin typeface="NanumGothic" panose="020D0604000000000000" pitchFamily="34" charset="-127"/>
                <a:ea typeface="NanumGothic" panose="020D0604000000000000" pitchFamily="34" charset="-127"/>
              </a:rPr>
              <a:t>과제 발표</a:t>
            </a:r>
            <a:endParaRPr lang="en-KR" dirty="0">
              <a:latin typeface="NanumGothic" panose="020D0604000000000000" pitchFamily="34" charset="-127"/>
              <a:ea typeface="NanumGothic" panose="020D0604000000000000" pitchFamily="34" charset="-127"/>
            </a:endParaRPr>
          </a:p>
        </p:txBody>
      </p:sp>
      <p:sp>
        <p:nvSpPr>
          <p:cNvPr id="3" name="Subtitle 2">
            <a:extLst>
              <a:ext uri="{FF2B5EF4-FFF2-40B4-BE49-F238E27FC236}">
                <a16:creationId xmlns:a16="http://schemas.microsoft.com/office/drawing/2014/main" id="{E184E0BE-B8D2-C161-0248-E067FCF073B0}"/>
              </a:ext>
            </a:extLst>
          </p:cNvPr>
          <p:cNvSpPr>
            <a:spLocks noGrp="1"/>
          </p:cNvSpPr>
          <p:nvPr>
            <p:ph type="subTitle" idx="1"/>
          </p:nvPr>
        </p:nvSpPr>
        <p:spPr/>
        <p:txBody>
          <a:bodyPr/>
          <a:lstStyle/>
          <a:p>
            <a:endParaRPr lang="en-US" altLang="ko-KR" dirty="0">
              <a:latin typeface="NanumGothic" panose="020D0604000000000000" pitchFamily="34" charset="-127"/>
              <a:ea typeface="NanumGothic" panose="020D0604000000000000" pitchFamily="34" charset="-127"/>
            </a:endParaRPr>
          </a:p>
          <a:p>
            <a:r>
              <a:rPr lang="en-US" altLang="ko-KR" dirty="0">
                <a:latin typeface="NanumGothic" panose="020D0604000000000000" pitchFamily="34" charset="-127"/>
                <a:ea typeface="NanumGothic" panose="020D0604000000000000" pitchFamily="34" charset="-127"/>
              </a:rPr>
              <a:t>2024.08.28</a:t>
            </a:r>
          </a:p>
          <a:p>
            <a:r>
              <a:rPr lang="ko-KR" altLang="en-US" dirty="0">
                <a:latin typeface="NanumGothic" panose="020D0604000000000000" pitchFamily="34" charset="-127"/>
                <a:ea typeface="NanumGothic" panose="020D0604000000000000" pitchFamily="34" charset="-127"/>
              </a:rPr>
              <a:t>이원준</a:t>
            </a:r>
            <a:endParaRPr lang="en-KR"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3012040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FB1A-D330-04B0-6C04-A2DE1BD46C8F}"/>
              </a:ext>
            </a:extLst>
          </p:cNvPr>
          <p:cNvSpPr>
            <a:spLocks noGrp="1"/>
          </p:cNvSpPr>
          <p:nvPr>
            <p:ph type="title"/>
          </p:nvPr>
        </p:nvSpPr>
        <p:spPr/>
        <p:txBody>
          <a:bodyPr/>
          <a:lstStyle/>
          <a:p>
            <a:r>
              <a:rPr lang="ko-KR" altLang="en-US" dirty="0">
                <a:latin typeface="NanumGothic" panose="020D0604000000000000" pitchFamily="34" charset="-127"/>
                <a:ea typeface="NanumGothic" panose="020D0604000000000000" pitchFamily="34" charset="-127"/>
              </a:rPr>
              <a:t>목차</a:t>
            </a:r>
            <a:endParaRPr lang="en-KR" dirty="0">
              <a:latin typeface="NanumGothic" panose="020D0604000000000000" pitchFamily="34" charset="-127"/>
              <a:ea typeface="NanumGothic" panose="020D0604000000000000" pitchFamily="34" charset="-127"/>
            </a:endParaRPr>
          </a:p>
        </p:txBody>
      </p:sp>
      <p:sp>
        <p:nvSpPr>
          <p:cNvPr id="3" name="Content Placeholder 2">
            <a:extLst>
              <a:ext uri="{FF2B5EF4-FFF2-40B4-BE49-F238E27FC236}">
                <a16:creationId xmlns:a16="http://schemas.microsoft.com/office/drawing/2014/main" id="{431164C1-FA4D-FEF8-32BF-2BAE0FB5825C}"/>
              </a:ext>
            </a:extLst>
          </p:cNvPr>
          <p:cNvSpPr>
            <a:spLocks noGrp="1"/>
          </p:cNvSpPr>
          <p:nvPr>
            <p:ph idx="1"/>
          </p:nvPr>
        </p:nvSpPr>
        <p:spPr/>
        <p:txBody>
          <a:bodyPr/>
          <a:lstStyle/>
          <a:p>
            <a:r>
              <a:rPr lang="en-US" dirty="0">
                <a:latin typeface="NanumGothic" panose="020D0604000000000000" pitchFamily="34" charset="-127"/>
                <a:ea typeface="NanumGothic" panose="020D0604000000000000" pitchFamily="34" charset="-127"/>
              </a:rPr>
              <a:t>IBC </a:t>
            </a:r>
            <a:r>
              <a:rPr lang="ko-KR" altLang="en-US" dirty="0">
                <a:latin typeface="NanumGothic" panose="020D0604000000000000" pitchFamily="34" charset="-127"/>
                <a:ea typeface="NanumGothic" panose="020D0604000000000000" pitchFamily="34" charset="-127"/>
              </a:rPr>
              <a:t>프로토콜 보안 모델 분석</a:t>
            </a:r>
            <a:endParaRPr lang="en-US" altLang="ko-KR" dirty="0">
              <a:latin typeface="NanumGothic" panose="020D0604000000000000" pitchFamily="34" charset="-127"/>
              <a:ea typeface="NanumGothic" panose="020D0604000000000000" pitchFamily="34" charset="-127"/>
            </a:endParaRPr>
          </a:p>
          <a:p>
            <a:r>
              <a:rPr lang="en-US" altLang="ko-KR" dirty="0">
                <a:latin typeface="NanumGothic" panose="020D0604000000000000" pitchFamily="34" charset="-127"/>
                <a:ea typeface="NanumGothic" panose="020D0604000000000000" pitchFamily="34" charset="-127"/>
              </a:rPr>
              <a:t>IBC</a:t>
            </a:r>
            <a:r>
              <a:rPr lang="ko-KR" altLang="en-US" dirty="0">
                <a:latin typeface="NanumGothic" panose="020D0604000000000000" pitchFamily="34" charset="-127"/>
                <a:ea typeface="NanumGothic" panose="020D0604000000000000" pitchFamily="34" charset="-127"/>
              </a:rPr>
              <a:t>와 타 </a:t>
            </a:r>
            <a:r>
              <a:rPr lang="en-US" altLang="ko-KR" dirty="0">
                <a:latin typeface="NanumGothic" panose="020D0604000000000000" pitchFamily="34" charset="-127"/>
                <a:ea typeface="NanumGothic" panose="020D0604000000000000" pitchFamily="34" charset="-127"/>
              </a:rPr>
              <a:t>Bridge</a:t>
            </a:r>
            <a:r>
              <a:rPr lang="ko-KR" altLang="en-US" dirty="0" err="1">
                <a:latin typeface="NanumGothic" panose="020D0604000000000000" pitchFamily="34" charset="-127"/>
                <a:ea typeface="NanumGothic" panose="020D0604000000000000" pitchFamily="34" charset="-127"/>
              </a:rPr>
              <a:t>와의</a:t>
            </a:r>
            <a:r>
              <a:rPr lang="ko-KR" altLang="en-US" dirty="0">
                <a:latin typeface="NanumGothic" panose="020D0604000000000000" pitchFamily="34" charset="-127"/>
                <a:ea typeface="NanumGothic" panose="020D0604000000000000" pitchFamily="34" charset="-127"/>
              </a:rPr>
              <a:t> 보안 모델 비교 분석</a:t>
            </a:r>
          </a:p>
          <a:p>
            <a:r>
              <a:rPr lang="en-KR" dirty="0">
                <a:latin typeface="NanumGothic" panose="020D0604000000000000" pitchFamily="34" charset="-127"/>
                <a:ea typeface="NanumGothic" panose="020D0604000000000000" pitchFamily="34" charset="-127"/>
              </a:rPr>
              <a:t>IBC </a:t>
            </a:r>
            <a:r>
              <a:rPr lang="ko-KR" altLang="en-US" dirty="0">
                <a:latin typeface="NanumGothic" panose="020D0604000000000000" pitchFamily="34" charset="-127"/>
                <a:ea typeface="NanumGothic" panose="020D0604000000000000" pitchFamily="34" charset="-127"/>
              </a:rPr>
              <a:t>토큰 전송 절차 분석</a:t>
            </a:r>
            <a:endParaRPr lang="en-KR"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259055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IBC</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Overview [1/2]</a:t>
            </a:r>
            <a:endParaRPr lang="en-KR" sz="4000" dirty="0">
              <a:latin typeface="NanumGothic" panose="020D0604000000000000" pitchFamily="34" charset="-127"/>
              <a:ea typeface="NanumGothic" panose="020D0604000000000000" pitchFamily="34" charset="-127"/>
            </a:endParaRPr>
          </a:p>
        </p:txBody>
      </p:sp>
      <p:sp>
        <p:nvSpPr>
          <p:cNvPr id="3" name="Content Placeholder 2">
            <a:extLst>
              <a:ext uri="{FF2B5EF4-FFF2-40B4-BE49-F238E27FC236}">
                <a16:creationId xmlns:a16="http://schemas.microsoft.com/office/drawing/2014/main" id="{5017D327-DB33-B677-AD74-724CD2559DBC}"/>
              </a:ext>
            </a:extLst>
          </p:cNvPr>
          <p:cNvSpPr>
            <a:spLocks noGrp="1"/>
          </p:cNvSpPr>
          <p:nvPr>
            <p:ph idx="1"/>
          </p:nvPr>
        </p:nvSpPr>
        <p:spPr>
          <a:xfrm>
            <a:off x="838200" y="1766004"/>
            <a:ext cx="10515600" cy="4594692"/>
          </a:xfrm>
        </p:spPr>
        <p:txBody>
          <a:bodyPr>
            <a:normAutofit/>
          </a:bodyPr>
          <a:lstStyle/>
          <a:p>
            <a:r>
              <a:rPr lang="en-US" sz="2000" b="0" dirty="0">
                <a:effectLst/>
                <a:latin typeface="NanumGothic" panose="020D0604000000000000" pitchFamily="34" charset="-127"/>
                <a:ea typeface="NanumGothic" panose="020D0604000000000000" pitchFamily="34" charset="-127"/>
              </a:rPr>
              <a:t>The Inter-Blockchain Communication Protocol (IBC) is a protocol to handle authentication and transport of data between two blockchains</a:t>
            </a:r>
          </a:p>
          <a:p>
            <a:r>
              <a:rPr lang="en-US" sz="2000" b="0" dirty="0">
                <a:effectLst/>
                <a:latin typeface="NanumGothic" panose="020D0604000000000000" pitchFamily="34" charset="-127"/>
                <a:ea typeface="NanumGothic" panose="020D0604000000000000" pitchFamily="34" charset="-127"/>
              </a:rPr>
              <a:t>IBC requires a minimal set of functions, specified in the interchain standards</a:t>
            </a:r>
            <a:r>
              <a:rPr lang="ko-KR" altLang="en-US" sz="2000" b="0" dirty="0">
                <a:effectLst/>
                <a:latin typeface="NanumGothic" panose="020D0604000000000000" pitchFamily="34" charset="-127"/>
                <a:ea typeface="NanumGothic" panose="020D0604000000000000" pitchFamily="34" charset="-127"/>
              </a:rPr>
              <a:t> </a:t>
            </a:r>
            <a:r>
              <a:rPr lang="en-US" sz="2000" b="0" dirty="0">
                <a:effectLst/>
                <a:latin typeface="NanumGothic" panose="020D0604000000000000" pitchFamily="34" charset="-127"/>
                <a:ea typeface="NanumGothic" panose="020D0604000000000000" pitchFamily="34" charset="-127"/>
              </a:rPr>
              <a:t>(ICS)</a:t>
            </a:r>
            <a:endParaRPr lang="en-US" sz="2000" dirty="0">
              <a:latin typeface="NanumGothic" panose="020D0604000000000000" pitchFamily="34" charset="-127"/>
              <a:ea typeface="NanumGothic" panose="020D0604000000000000" pitchFamily="34" charset="-127"/>
            </a:endParaRPr>
          </a:p>
          <a:p>
            <a:r>
              <a:rPr lang="en-US" sz="2000" b="0" dirty="0">
                <a:effectLst/>
                <a:latin typeface="NanumGothic" panose="020D0604000000000000" pitchFamily="34" charset="-127"/>
                <a:ea typeface="NanumGothic" panose="020D0604000000000000" pitchFamily="34" charset="-127"/>
              </a:rPr>
              <a:t>The IBC protocol provides a permissionless way for </a:t>
            </a:r>
            <a:r>
              <a:rPr lang="en-US" sz="2000" b="0" u="sng" dirty="0">
                <a:solidFill>
                  <a:srgbClr val="FF0000"/>
                </a:solidFill>
                <a:effectLst/>
                <a:latin typeface="NanumGothic" panose="020D0604000000000000" pitchFamily="34" charset="-127"/>
                <a:ea typeface="NanumGothic" panose="020D0604000000000000" pitchFamily="34" charset="-127"/>
              </a:rPr>
              <a:t>relaying data packets between blockchains</a:t>
            </a:r>
            <a:r>
              <a:rPr lang="en-US" sz="2000" b="0" dirty="0">
                <a:effectLst/>
                <a:latin typeface="NanumGothic" panose="020D0604000000000000" pitchFamily="34" charset="-127"/>
                <a:ea typeface="NanumGothic" panose="020D0604000000000000" pitchFamily="34" charset="-127"/>
              </a:rPr>
              <a:t>, unlike most trusted bridging technologies</a:t>
            </a:r>
          </a:p>
          <a:p>
            <a:endParaRPr lang="en-US" sz="20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7B15E-EBE5-4455-DB78-F73A86C9E771}"/>
              </a:ext>
            </a:extLst>
          </p:cNvPr>
          <p:cNvSpPr/>
          <p:nvPr/>
        </p:nvSpPr>
        <p:spPr>
          <a:xfrm>
            <a:off x="1171074" y="3697706"/>
            <a:ext cx="9713494" cy="8341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00" dirty="0">
                <a:solidFill>
                  <a:schemeClr val="tx1"/>
                </a:solidFill>
                <a:latin typeface="NanumGothic" panose="020D0604000000000000" pitchFamily="34" charset="-127"/>
                <a:ea typeface="NanumGothic" panose="020D0604000000000000" pitchFamily="34" charset="-127"/>
              </a:rPr>
              <a:t>The great promise of IBC is </a:t>
            </a:r>
            <a:r>
              <a:rPr lang="en-US" sz="1300" u="sng" dirty="0">
                <a:solidFill>
                  <a:schemeClr val="tx1"/>
                </a:solidFill>
                <a:latin typeface="NanumGothic" panose="020D0604000000000000" pitchFamily="34" charset="-127"/>
                <a:ea typeface="NanumGothic" panose="020D0604000000000000" pitchFamily="34" charset="-127"/>
              </a:rPr>
              <a:t>providing a reliable, permissionless, and generic base layer</a:t>
            </a:r>
            <a:r>
              <a:rPr lang="en-US" sz="1300" dirty="0">
                <a:solidFill>
                  <a:schemeClr val="tx1"/>
                </a:solidFill>
                <a:latin typeface="NanumGothic" panose="020D0604000000000000" pitchFamily="34" charset="-127"/>
                <a:ea typeface="NanumGothic" panose="020D0604000000000000" pitchFamily="34" charset="-127"/>
              </a:rPr>
              <a:t> (allowing for the secure relaying of data packets), while allowing for </a:t>
            </a:r>
            <a:r>
              <a:rPr lang="en-US" sz="1300" u="sng" dirty="0">
                <a:solidFill>
                  <a:schemeClr val="tx1"/>
                </a:solidFill>
                <a:latin typeface="NanumGothic" panose="020D0604000000000000" pitchFamily="34" charset="-127"/>
                <a:ea typeface="NanumGothic" panose="020D0604000000000000" pitchFamily="34" charset="-127"/>
              </a:rPr>
              <a:t>composability and modularity with separation of concerns by moving application designs</a:t>
            </a:r>
            <a:r>
              <a:rPr lang="en-US" sz="1300" dirty="0">
                <a:solidFill>
                  <a:schemeClr val="tx1"/>
                </a:solidFill>
                <a:latin typeface="NanumGothic" panose="020D0604000000000000" pitchFamily="34" charset="-127"/>
                <a:ea typeface="NanumGothic" panose="020D0604000000000000" pitchFamily="34" charset="-127"/>
              </a:rPr>
              <a:t> (interpreting and acting upon the packet data) to a higher-level layer.</a:t>
            </a:r>
            <a:endParaRPr lang="en-KR" sz="1300" dirty="0">
              <a:solidFill>
                <a:schemeClr val="tx1"/>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38135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IBC</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Overview [2/2]</a:t>
            </a:r>
            <a:endParaRPr lang="en-KR" sz="4000" dirty="0">
              <a:latin typeface="NanumGothic" panose="020D0604000000000000" pitchFamily="34" charset="-127"/>
              <a:ea typeface="NanumGothic" panose="020D0604000000000000" pitchFamily="34" charset="-127"/>
            </a:endParaRPr>
          </a:p>
        </p:txBody>
      </p:sp>
      <p:sp>
        <p:nvSpPr>
          <p:cNvPr id="3" name="Content Placeholder 2">
            <a:extLst>
              <a:ext uri="{FF2B5EF4-FFF2-40B4-BE49-F238E27FC236}">
                <a16:creationId xmlns:a16="http://schemas.microsoft.com/office/drawing/2014/main" id="{5017D327-DB33-B677-AD74-724CD2559DBC}"/>
              </a:ext>
            </a:extLst>
          </p:cNvPr>
          <p:cNvSpPr>
            <a:spLocks noGrp="1"/>
          </p:cNvSpPr>
          <p:nvPr>
            <p:ph idx="1"/>
          </p:nvPr>
        </p:nvSpPr>
        <p:spPr>
          <a:xfrm>
            <a:off x="5414210" y="1766003"/>
            <a:ext cx="5939589" cy="4726867"/>
          </a:xfrm>
        </p:spPr>
        <p:txBody>
          <a:bodyPr>
            <a:normAutofit lnSpcReduction="10000"/>
          </a:bodyPr>
          <a:lstStyle/>
          <a:p>
            <a:r>
              <a:rPr lang="en-US" sz="2000" b="0" dirty="0">
                <a:effectLst/>
                <a:latin typeface="NanumGothic" panose="020D0604000000000000" pitchFamily="34" charset="-127"/>
                <a:ea typeface="NanumGothic" panose="020D0604000000000000" pitchFamily="34" charset="-127"/>
              </a:rPr>
              <a:t>IBC/TAO</a:t>
            </a:r>
          </a:p>
          <a:p>
            <a:pPr lvl="1"/>
            <a:r>
              <a:rPr lang="en-US" sz="1600" b="0" dirty="0">
                <a:effectLst/>
                <a:latin typeface="NanumGothic" panose="020D0604000000000000" pitchFamily="34" charset="-127"/>
                <a:ea typeface="NanumGothic" panose="020D0604000000000000" pitchFamily="34" charset="-127"/>
              </a:rPr>
              <a:t>Transport, Authentication, and Ordering of packets</a:t>
            </a:r>
          </a:p>
          <a:p>
            <a:pPr lvl="1"/>
            <a:r>
              <a:rPr lang="en-US" sz="1600" dirty="0">
                <a:latin typeface="NanumGothic" panose="020D0604000000000000" pitchFamily="34" charset="-127"/>
                <a:ea typeface="NanumGothic" panose="020D0604000000000000" pitchFamily="34" charset="-127"/>
              </a:rPr>
              <a:t>Client, Connection, Channel, Port</a:t>
            </a:r>
          </a:p>
          <a:p>
            <a:r>
              <a:rPr lang="en-US" sz="2000" b="0" dirty="0">
                <a:effectLst/>
                <a:latin typeface="NanumGothic" panose="020D0604000000000000" pitchFamily="34" charset="-127"/>
                <a:ea typeface="NanumGothic" panose="020D0604000000000000" pitchFamily="34" charset="-127"/>
              </a:rPr>
              <a:t>IBC/APP</a:t>
            </a:r>
          </a:p>
          <a:p>
            <a:pPr lvl="1"/>
            <a:r>
              <a:rPr lang="en-US" sz="1600" dirty="0">
                <a:latin typeface="NanumGothic" panose="020D0604000000000000" pitchFamily="34" charset="-127"/>
                <a:ea typeface="NanumGothic" panose="020D0604000000000000" pitchFamily="34" charset="-127"/>
              </a:rPr>
              <a:t>A</a:t>
            </a:r>
            <a:r>
              <a:rPr lang="en-US" sz="1600" b="0" dirty="0">
                <a:effectLst/>
                <a:latin typeface="NanumGothic" panose="020D0604000000000000" pitchFamily="34" charset="-127"/>
                <a:ea typeface="NanumGothic" panose="020D0604000000000000" pitchFamily="34" charset="-127"/>
              </a:rPr>
              <a:t>pplication handlers for the data packets being passed over the transport layer</a:t>
            </a:r>
          </a:p>
          <a:p>
            <a:pPr lvl="1"/>
            <a:r>
              <a:rPr lang="en-US" sz="1600" b="0" dirty="0">
                <a:effectLst/>
                <a:latin typeface="NanumGothic" panose="020D0604000000000000" pitchFamily="34" charset="-127"/>
                <a:ea typeface="NanumGothic" panose="020D0604000000000000" pitchFamily="34" charset="-127"/>
              </a:rPr>
              <a:t>ICS-20, ICS-721, ICS-27</a:t>
            </a:r>
          </a:p>
          <a:p>
            <a:r>
              <a:rPr lang="en-US" sz="2000" dirty="0">
                <a:latin typeface="NanumGothic" panose="020D0604000000000000" pitchFamily="34" charset="-127"/>
                <a:ea typeface="NanumGothic" panose="020D0604000000000000" pitchFamily="34" charset="-127"/>
              </a:rPr>
              <a:t>Relayer (ICS-18)</a:t>
            </a:r>
          </a:p>
          <a:p>
            <a:pPr lvl="1"/>
            <a:r>
              <a:rPr lang="en-US" sz="1600" u="sng" dirty="0">
                <a:latin typeface="NanumGothic" panose="020D0604000000000000" pitchFamily="34" charset="-127"/>
                <a:ea typeface="NanumGothic" panose="020D0604000000000000" pitchFamily="34" charset="-127"/>
              </a:rPr>
              <a:t>Off-chain</a:t>
            </a:r>
            <a:r>
              <a:rPr lang="en-US" sz="1600" dirty="0">
                <a:latin typeface="NanumGothic" panose="020D0604000000000000" pitchFamily="34" charset="-127"/>
                <a:ea typeface="NanumGothic" panose="020D0604000000000000" pitchFamily="34" charset="-127"/>
              </a:rPr>
              <a:t> processes (physical connection layer of IBC)</a:t>
            </a:r>
          </a:p>
          <a:p>
            <a:pPr lvl="1"/>
            <a:r>
              <a:rPr lang="en-US" sz="1600" u="sng" dirty="0">
                <a:latin typeface="NanumGothic" panose="020D0604000000000000" pitchFamily="34" charset="-127"/>
                <a:ea typeface="NanumGothic" panose="020D0604000000000000" pitchFamily="34" charset="-127"/>
              </a:rPr>
              <a:t>Relaying data between two chains</a:t>
            </a:r>
            <a:r>
              <a:rPr lang="en-US" sz="1600" dirty="0">
                <a:latin typeface="NanumGothic" panose="020D0604000000000000" pitchFamily="34" charset="-127"/>
                <a:ea typeface="NanumGothic" panose="020D0604000000000000" pitchFamily="34" charset="-127"/>
              </a:rPr>
              <a:t> running the IBC protocol by </a:t>
            </a:r>
            <a:r>
              <a:rPr lang="en-US" sz="1600" u="sng" dirty="0">
                <a:latin typeface="NanumGothic" panose="020D0604000000000000" pitchFamily="34" charset="-127"/>
                <a:ea typeface="NanumGothic" panose="020D0604000000000000" pitchFamily="34" charset="-127"/>
              </a:rPr>
              <a:t>scanning the state of each chain</a:t>
            </a:r>
          </a:p>
          <a:p>
            <a:pPr lvl="1"/>
            <a:r>
              <a:rPr lang="en-US" sz="1600" dirty="0">
                <a:latin typeface="NanumGothic" panose="020D0604000000000000" pitchFamily="34" charset="-127"/>
                <a:ea typeface="NanumGothic" panose="020D0604000000000000" pitchFamily="34" charset="-127"/>
              </a:rPr>
              <a:t>Constructing appropriate datagrams, and executing them on the opposite chain</a:t>
            </a:r>
          </a:p>
          <a:p>
            <a:pPr lvl="1"/>
            <a:r>
              <a:rPr lang="en-US" sz="1600" dirty="0">
                <a:latin typeface="NanumGothic" panose="020D0604000000000000" pitchFamily="34" charset="-127"/>
                <a:ea typeface="NanumGothic" panose="020D0604000000000000" pitchFamily="34" charset="-127"/>
              </a:rPr>
              <a:t>Serve one or more </a:t>
            </a:r>
            <a:r>
              <a:rPr lang="en-US" sz="1600" u="sng" dirty="0">
                <a:latin typeface="NanumGothic" panose="020D0604000000000000" pitchFamily="34" charset="-127"/>
                <a:ea typeface="NanumGothic" panose="020D0604000000000000" pitchFamily="34" charset="-127"/>
              </a:rPr>
              <a:t>channels</a:t>
            </a:r>
            <a:r>
              <a:rPr lang="en-US" sz="1600" dirty="0">
                <a:latin typeface="NanumGothic" panose="020D0604000000000000" pitchFamily="34" charset="-127"/>
                <a:ea typeface="NanumGothic" panose="020D0604000000000000" pitchFamily="34" charset="-127"/>
              </a:rPr>
              <a:t> to send messages between the chains.</a:t>
            </a:r>
          </a:p>
          <a:p>
            <a:pPr lvl="1"/>
            <a:r>
              <a:rPr lang="en-US" sz="1600" dirty="0">
                <a:latin typeface="NanumGothic" panose="020D0604000000000000" pitchFamily="34" charset="-127"/>
                <a:ea typeface="NanumGothic" panose="020D0604000000000000" pitchFamily="34" charset="-127"/>
              </a:rPr>
              <a:t>Uses the </a:t>
            </a:r>
            <a:r>
              <a:rPr lang="en-US" sz="1600" u="sng" dirty="0">
                <a:latin typeface="NanumGothic" panose="020D0604000000000000" pitchFamily="34" charset="-127"/>
                <a:ea typeface="NanumGothic" panose="020D0604000000000000" pitchFamily="34" charset="-127"/>
              </a:rPr>
              <a:t>light client</a:t>
            </a:r>
            <a:r>
              <a:rPr lang="en-US" sz="1600" dirty="0">
                <a:latin typeface="NanumGothic" panose="020D0604000000000000" pitchFamily="34" charset="-127"/>
                <a:ea typeface="NanumGothic" panose="020D0604000000000000" pitchFamily="34" charset="-127"/>
              </a:rPr>
              <a:t> of the other chain to quickly verify incoming messages.</a:t>
            </a:r>
          </a:p>
          <a:p>
            <a:endParaRPr lang="en-US" sz="2000" b="0" dirty="0">
              <a:effectLst/>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445FF1E0-53CD-A633-39B0-F004608BA2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64284"/>
            <a:ext cx="4442611" cy="3013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2139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Client</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[1/7]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972B2FFE-4F0A-9777-79BA-542E377CF3BF}"/>
              </a:ext>
            </a:extLst>
          </p:cNvPr>
          <p:cNvSpPr>
            <a:spLocks noGrp="1"/>
          </p:cNvSpPr>
          <p:nvPr>
            <p:ph idx="1"/>
          </p:nvPr>
        </p:nvSpPr>
        <p:spPr>
          <a:xfrm>
            <a:off x="838200" y="1766004"/>
            <a:ext cx="10515600" cy="4594692"/>
          </a:xfrm>
        </p:spPr>
        <p:txBody>
          <a:bodyPr>
            <a:normAutofit/>
          </a:bodyPr>
          <a:lstStyle/>
          <a:p>
            <a:r>
              <a:rPr lang="en-US" sz="2000" b="0" dirty="0">
                <a:effectLst/>
                <a:latin typeface="NanumGothic" panose="020D0604000000000000" pitchFamily="34" charset="-127"/>
                <a:ea typeface="NanumGothic" panose="020D0604000000000000" pitchFamily="34" charset="-127"/>
              </a:rPr>
              <a:t>Track the consensus state of other blockchains and the proof specs of those blockchains to </a:t>
            </a:r>
            <a:r>
              <a:rPr lang="en-US" sz="2000" b="0" u="sng" dirty="0">
                <a:effectLst/>
                <a:latin typeface="NanumGothic" panose="020D0604000000000000" pitchFamily="34" charset="-127"/>
                <a:ea typeface="NanumGothic" panose="020D0604000000000000" pitchFamily="34" charset="-127"/>
              </a:rPr>
              <a:t>verify proofs against the client's consensus state</a:t>
            </a:r>
          </a:p>
          <a:p>
            <a:pPr lvl="1"/>
            <a:r>
              <a:rPr lang="en-US" sz="1600" b="0" dirty="0">
                <a:effectLst/>
                <a:latin typeface="NanumGothic" panose="020D0604000000000000" pitchFamily="34" charset="-127"/>
                <a:ea typeface="NanumGothic" panose="020D0604000000000000" pitchFamily="34" charset="-127"/>
              </a:rPr>
              <a:t>Client only </a:t>
            </a:r>
            <a:r>
              <a:rPr lang="en-US" sz="1600" dirty="0">
                <a:latin typeface="NanumGothic" panose="020D0604000000000000" pitchFamily="34" charset="-127"/>
                <a:ea typeface="NanumGothic" panose="020D0604000000000000" pitchFamily="34" charset="-127"/>
              </a:rPr>
              <a:t>t</a:t>
            </a:r>
            <a:r>
              <a:rPr lang="en-US" sz="1600" b="0" dirty="0">
                <a:effectLst/>
                <a:latin typeface="NanumGothic" panose="020D0604000000000000" pitchFamily="34" charset="-127"/>
                <a:ea typeface="NanumGothic" panose="020D0604000000000000" pitchFamily="34" charset="-127"/>
              </a:rPr>
              <a:t>racks few pieces of information about counterparty chains previously mentioned (timestamp, root hash, next validator set hash) and saves space and increases the efficiency of processing consensus state updates</a:t>
            </a:r>
          </a:p>
          <a:p>
            <a:r>
              <a:rPr lang="en-US" sz="2000" b="0" dirty="0">
                <a:effectLst/>
                <a:latin typeface="NanumGothic" panose="020D0604000000000000" pitchFamily="34" charset="-127"/>
                <a:ea typeface="NanumGothic" panose="020D0604000000000000" pitchFamily="34" charset="-127"/>
              </a:rPr>
              <a:t>Unique identifier client ID is generated for each client on the chain, not related to Chain ID</a:t>
            </a:r>
          </a:p>
          <a:p>
            <a:r>
              <a:rPr lang="en-US" sz="2000" b="0" dirty="0">
                <a:effectLst/>
                <a:latin typeface="NanumGothic" panose="020D0604000000000000" pitchFamily="34" charset="-127"/>
                <a:ea typeface="NanumGothic" panose="020D0604000000000000" pitchFamily="34" charset="-127"/>
              </a:rPr>
              <a:t>The IBC security model is based on clients and not specific chains</a:t>
            </a:r>
          </a:p>
          <a:p>
            <a:pPr lvl="1"/>
            <a:r>
              <a:rPr lang="en-US" sz="1600" dirty="0">
                <a:latin typeface="NanumGothic" panose="020D0604000000000000" pitchFamily="34" charset="-127"/>
                <a:ea typeface="NanumGothic" panose="020D0604000000000000" pitchFamily="34" charset="-127"/>
              </a:rPr>
              <a:t>N</a:t>
            </a:r>
            <a:r>
              <a:rPr lang="en-US" sz="1600" b="0" dirty="0">
                <a:effectLst/>
                <a:latin typeface="NanumGothic" panose="020D0604000000000000" pitchFamily="34" charset="-127"/>
                <a:ea typeface="NanumGothic" panose="020D0604000000000000" pitchFamily="34" charset="-127"/>
              </a:rPr>
              <a:t>ot need to know who the chains are on either side of a connection</a:t>
            </a:r>
          </a:p>
          <a:p>
            <a:pPr lvl="1"/>
            <a:r>
              <a:rPr lang="en-US" sz="1600" b="0" dirty="0">
                <a:effectLst/>
                <a:latin typeface="NanumGothic" panose="020D0604000000000000" pitchFamily="34" charset="-127"/>
                <a:ea typeface="NanumGothic" panose="020D0604000000000000" pitchFamily="34" charset="-127"/>
              </a:rPr>
              <a:t>IBC clients are </a:t>
            </a:r>
            <a:r>
              <a:rPr lang="en-US" sz="1600" b="0" u="sng" dirty="0">
                <a:effectLst/>
                <a:latin typeface="NanumGothic" panose="020D0604000000000000" pitchFamily="34" charset="-127"/>
                <a:ea typeface="NanumGothic" panose="020D0604000000000000" pitchFamily="34" charset="-127"/>
              </a:rPr>
              <a:t>kept in sync with valid updates</a:t>
            </a:r>
            <a:r>
              <a:rPr lang="en-US" sz="1600" b="0" dirty="0">
                <a:effectLst/>
                <a:latin typeface="NanumGothic" panose="020D0604000000000000" pitchFamily="34" charset="-127"/>
                <a:ea typeface="NanumGothic" panose="020D0604000000000000" pitchFamily="34" charset="-127"/>
              </a:rPr>
              <a:t>, and these updates or other types of messages (i.e. ICS-20 token transfers) can be </a:t>
            </a:r>
            <a:r>
              <a:rPr lang="en-US" sz="1600" b="0" u="sng" dirty="0">
                <a:effectLst/>
                <a:latin typeface="NanumGothic" panose="020D0604000000000000" pitchFamily="34" charset="-127"/>
                <a:ea typeface="NanumGothic" panose="020D0604000000000000" pitchFamily="34" charset="-127"/>
              </a:rPr>
              <a:t>verified as a Merkle proof</a:t>
            </a:r>
            <a:r>
              <a:rPr lang="en-US" sz="1600" b="0" dirty="0">
                <a:effectLst/>
                <a:latin typeface="NanumGothic" panose="020D0604000000000000" pitchFamily="34" charset="-127"/>
                <a:ea typeface="NanumGothic" panose="020D0604000000000000" pitchFamily="34" charset="-127"/>
              </a:rPr>
              <a:t> against an initial consensus state (root of trust)</a:t>
            </a:r>
          </a:p>
          <a:p>
            <a:r>
              <a:rPr lang="en-US" sz="2000" u="sng" dirty="0">
                <a:latin typeface="NanumGothic" panose="020D0604000000000000" pitchFamily="34" charset="-127"/>
                <a:ea typeface="NanumGothic" panose="020D0604000000000000" pitchFamily="34" charset="-127"/>
              </a:rPr>
              <a:t>N</a:t>
            </a:r>
            <a:r>
              <a:rPr lang="en-US" sz="2000" b="0" u="sng" dirty="0">
                <a:effectLst/>
                <a:latin typeface="NanumGothic" panose="020D0604000000000000" pitchFamily="34" charset="-127"/>
                <a:ea typeface="NanumGothic" panose="020D0604000000000000" pitchFamily="34" charset="-127"/>
              </a:rPr>
              <a:t>o trust in the relayer</a:t>
            </a:r>
            <a:r>
              <a:rPr lang="en-US" sz="2000" b="0" dirty="0">
                <a:effectLst/>
                <a:latin typeface="NanumGothic" panose="020D0604000000000000" pitchFamily="34" charset="-127"/>
                <a:ea typeface="NanumGothic" panose="020D0604000000000000" pitchFamily="34" charset="-127"/>
              </a:rPr>
              <a:t> since anyone can spin up a relaying operation without permission, provided that they have access to a full node endpoint</a:t>
            </a:r>
          </a:p>
          <a:p>
            <a:endParaRPr lang="en-US" sz="2000" b="0" dirty="0">
              <a:effectLst/>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218492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Client</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[2/7]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BD91B4BE-565E-B6E7-E3EE-C06F447E71E3}"/>
              </a:ext>
            </a:extLst>
          </p:cNvPr>
          <p:cNvSpPr>
            <a:spLocks noGrp="1"/>
          </p:cNvSpPr>
          <p:nvPr>
            <p:ph idx="1"/>
          </p:nvPr>
        </p:nvSpPr>
        <p:spPr>
          <a:xfrm>
            <a:off x="838200" y="1766004"/>
            <a:ext cx="10515600" cy="4594692"/>
          </a:xfrm>
        </p:spPr>
        <p:txBody>
          <a:bodyPr>
            <a:normAutofit/>
          </a:bodyPr>
          <a:lstStyle/>
          <a:p>
            <a:r>
              <a:rPr lang="en-US" sz="2000" b="0" dirty="0">
                <a:effectLst/>
                <a:latin typeface="NanumGothic" panose="020D0604000000000000" pitchFamily="34" charset="-127"/>
                <a:ea typeface="NanumGothic" panose="020D0604000000000000" pitchFamily="34" charset="-127"/>
              </a:rPr>
              <a:t>Cl</a:t>
            </a:r>
            <a:r>
              <a:rPr lang="en-US" sz="2000" dirty="0">
                <a:latin typeface="NanumGothic" panose="020D0604000000000000" pitchFamily="34" charset="-127"/>
                <a:ea typeface="NanumGothic" panose="020D0604000000000000" pitchFamily="34" charset="-127"/>
              </a:rPr>
              <a:t>ient</a:t>
            </a:r>
            <a:r>
              <a:rPr lang="ko-KR" altLang="en-US" sz="2000" dirty="0">
                <a:latin typeface="NanumGothic" panose="020D0604000000000000" pitchFamily="34" charset="-127"/>
                <a:ea typeface="NanumGothic" panose="020D0604000000000000" pitchFamily="34" charset="-127"/>
              </a:rPr>
              <a:t>는 </a:t>
            </a:r>
            <a:r>
              <a:rPr lang="en-US" altLang="ko-KR" sz="2000" dirty="0" err="1">
                <a:latin typeface="NanumGothic" panose="020D0604000000000000" pitchFamily="34" charset="-127"/>
                <a:ea typeface="NanumGothic" panose="020D0604000000000000" pitchFamily="34" charset="-127"/>
              </a:rPr>
              <a:t>ClientState</a:t>
            </a:r>
            <a:r>
              <a:rPr lang="ko-KR" altLang="en-US" sz="2000" dirty="0">
                <a:latin typeface="NanumGothic" panose="020D0604000000000000" pitchFamily="34" charset="-127"/>
                <a:ea typeface="NanumGothic" panose="020D0604000000000000" pitchFamily="34" charset="-127"/>
              </a:rPr>
              <a:t>와 </a:t>
            </a:r>
            <a:r>
              <a:rPr lang="en-US" altLang="ko-KR" sz="2000" dirty="0">
                <a:latin typeface="NanumGothic" panose="020D0604000000000000" pitchFamily="34" charset="-127"/>
                <a:ea typeface="NanumGothic" panose="020D0604000000000000" pitchFamily="34" charset="-127"/>
              </a:rPr>
              <a:t>ConsensusState</a:t>
            </a:r>
            <a:r>
              <a:rPr lang="ko-KR" altLang="en-US" sz="2000" dirty="0" err="1">
                <a:latin typeface="NanumGothic" panose="020D0604000000000000" pitchFamily="34" charset="-127"/>
                <a:ea typeface="NanumGothic" panose="020D0604000000000000" pitchFamily="34" charset="-127"/>
              </a:rPr>
              <a:t>를</a:t>
            </a:r>
            <a:r>
              <a:rPr lang="ko-KR" altLang="en-US" sz="2000" dirty="0">
                <a:latin typeface="NanumGothic" panose="020D0604000000000000" pitchFamily="34" charset="-127"/>
                <a:ea typeface="NanumGothic" panose="020D0604000000000000" pitchFamily="34" charset="-127"/>
              </a:rPr>
              <a:t> 이용하여 체인을 검증한다</a:t>
            </a:r>
            <a:r>
              <a:rPr lang="en-US" altLang="ko-KR" sz="2000" dirty="0">
                <a:latin typeface="NanumGothic" panose="020D0604000000000000" pitchFamily="34" charset="-127"/>
                <a:ea typeface="NanumGothic" panose="020D0604000000000000" pitchFamily="34" charset="-127"/>
              </a:rPr>
              <a:t>.</a:t>
            </a:r>
          </a:p>
          <a:p>
            <a:r>
              <a:rPr lang="en-US" sz="2000" dirty="0" err="1">
                <a:latin typeface="NanumGothic" panose="020D0604000000000000" pitchFamily="34" charset="-127"/>
                <a:ea typeface="NanumGothic" panose="020D0604000000000000" pitchFamily="34" charset="-127"/>
              </a:rPr>
              <a:t>ClientState</a:t>
            </a:r>
            <a:endParaRPr lang="en-US"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상대 체인의 상태에 대한 전체적인 정보</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클라이언트가 추적하고 있는 체인의 최신 정보</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신뢰할 수 있는 높이</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블록 높이</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다양한 검증 규칙 등</a:t>
            </a:r>
            <a:r>
              <a:rPr lang="en-US" altLang="ko-KR" sz="1600" dirty="0">
                <a:latin typeface="NanumGothic" panose="020D0604000000000000" pitchFamily="34" charset="-127"/>
                <a:ea typeface="NanumGothic" panose="020D0604000000000000" pitchFamily="34" charset="-127"/>
              </a:rPr>
              <a:t>)</a:t>
            </a:r>
          </a:p>
          <a:p>
            <a:pPr lvl="1"/>
            <a:r>
              <a:rPr lang="ko-KR" altLang="en-US" sz="1600" dirty="0">
                <a:latin typeface="NanumGothic" panose="020D0604000000000000" pitchFamily="34" charset="-127"/>
                <a:ea typeface="NanumGothic" panose="020D0604000000000000" pitchFamily="34" charset="-127"/>
              </a:rPr>
              <a:t>클라이언트가 어떤 상태를 신뢰할 수 있는지에 대한 기준</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유효한 블록</a:t>
            </a:r>
            <a:r>
              <a:rPr lang="en-US" altLang="ko-KR" sz="1600" dirty="0">
                <a:latin typeface="NanumGothic" panose="020D0604000000000000" pitchFamily="34" charset="-127"/>
                <a:ea typeface="NanumGothic" panose="020D0604000000000000" pitchFamily="34" charset="-127"/>
              </a:rPr>
              <a:t>)</a:t>
            </a:r>
          </a:p>
          <a:p>
            <a:r>
              <a:rPr lang="en-US" altLang="ko-KR" sz="2000" dirty="0">
                <a:latin typeface="NanumGothic" panose="020D0604000000000000" pitchFamily="34" charset="-127"/>
                <a:ea typeface="NanumGothic" panose="020D0604000000000000" pitchFamily="34" charset="-127"/>
              </a:rPr>
              <a:t>ConsensusState</a:t>
            </a:r>
          </a:p>
          <a:p>
            <a:pPr lvl="1"/>
            <a:r>
              <a:rPr lang="ko-KR" altLang="en-US" sz="1600" dirty="0">
                <a:latin typeface="NanumGothic" panose="020D0604000000000000" pitchFamily="34" charset="-127"/>
                <a:ea typeface="NanumGothic" panose="020D0604000000000000" pitchFamily="34" charset="-127"/>
              </a:rPr>
              <a:t>특정 블록에서 합의된 상태</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해당 블록의 </a:t>
            </a:r>
            <a:r>
              <a:rPr lang="ko-KR" altLang="en-US" sz="1600" dirty="0" err="1">
                <a:latin typeface="NanumGothic" panose="020D0604000000000000" pitchFamily="34" charset="-127"/>
                <a:ea typeface="NanumGothic" panose="020D0604000000000000" pitchFamily="34" charset="-127"/>
              </a:rPr>
              <a:t>검증자</a:t>
            </a:r>
            <a:r>
              <a:rPr lang="ko-KR" altLang="en-US" sz="1600" dirty="0">
                <a:latin typeface="NanumGothic" panose="020D0604000000000000" pitchFamily="34" charset="-127"/>
                <a:ea typeface="NanumGothic" panose="020D0604000000000000" pitchFamily="34" charset="-127"/>
              </a:rPr>
              <a:t> 집합</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검증자들로 서명된 블록 헤더</a:t>
            </a:r>
            <a:r>
              <a:rPr lang="en-US" altLang="ko-KR" sz="1600" dirty="0">
                <a:latin typeface="NanumGothic" panose="020D0604000000000000" pitchFamily="34" charset="-127"/>
                <a:ea typeface="NanumGothic" panose="020D0604000000000000" pitchFamily="34" charset="-127"/>
              </a:rPr>
              <a:t>)</a:t>
            </a:r>
          </a:p>
          <a:p>
            <a:r>
              <a:rPr lang="en-US" altLang="ko-KR" sz="2000" dirty="0" err="1">
                <a:latin typeface="NanumGothic" panose="020D0604000000000000" pitchFamily="34" charset="-127"/>
                <a:ea typeface="NanumGothic" panose="020D0604000000000000" pitchFamily="34" charset="-127"/>
              </a:rPr>
              <a:t>VerifyMembership</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ConsensusState</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통해 </a:t>
            </a:r>
            <a:r>
              <a:rPr lang="en-US" altLang="ko-KR" sz="1600" dirty="0">
                <a:latin typeface="NanumGothic" panose="020D0604000000000000" pitchFamily="34" charset="-127"/>
                <a:ea typeface="NanumGothic" panose="020D0604000000000000" pitchFamily="34" charset="-127"/>
              </a:rPr>
              <a:t>Merkle proof</a:t>
            </a:r>
            <a:r>
              <a:rPr lang="ko-KR" altLang="en-US" sz="1600" dirty="0">
                <a:latin typeface="NanumGothic" panose="020D0604000000000000" pitchFamily="34" charset="-127"/>
                <a:ea typeface="NanumGothic" panose="020D0604000000000000" pitchFamily="34" charset="-127"/>
              </a:rPr>
              <a:t>가 검증되지만</a:t>
            </a:r>
            <a:r>
              <a:rPr lang="en-US" altLang="ko-KR" sz="1600" dirty="0">
                <a:latin typeface="NanumGothic" panose="020D0604000000000000" pitchFamily="34" charset="-127"/>
                <a:ea typeface="NanumGothic" panose="020D0604000000000000" pitchFamily="34" charset="-127"/>
              </a:rPr>
              <a:t>, </a:t>
            </a:r>
            <a:r>
              <a:rPr lang="en-US" altLang="ko-KR" sz="1600" dirty="0" err="1">
                <a:latin typeface="NanumGothic" panose="020D0604000000000000" pitchFamily="34" charset="-127"/>
                <a:ea typeface="NanumGothic" panose="020D0604000000000000" pitchFamily="34" charset="-127"/>
              </a:rPr>
              <a:t>CientState</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통해 해당 상태를 신뢰할 수 있는지 확인</a:t>
            </a:r>
            <a:endParaRPr lang="en-US" altLang="ko-KR" sz="16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598515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Client</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[3/7]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3B648E2-8729-D22A-9F7A-D9C78DCAA2B1}"/>
              </a:ext>
            </a:extLst>
          </p:cNvPr>
          <p:cNvPicPr>
            <a:picLocks noChangeAspect="1"/>
          </p:cNvPicPr>
          <p:nvPr/>
        </p:nvPicPr>
        <p:blipFill>
          <a:blip r:embed="rId3"/>
          <a:stretch>
            <a:fillRect/>
          </a:stretch>
        </p:blipFill>
        <p:spPr>
          <a:xfrm>
            <a:off x="838200" y="1766003"/>
            <a:ext cx="3365500" cy="3467100"/>
          </a:xfrm>
          <a:prstGeom prst="rect">
            <a:avLst/>
          </a:prstGeom>
        </p:spPr>
      </p:pic>
      <p:sp>
        <p:nvSpPr>
          <p:cNvPr id="10" name="Content Placeholder 2">
            <a:extLst>
              <a:ext uri="{FF2B5EF4-FFF2-40B4-BE49-F238E27FC236}">
                <a16:creationId xmlns:a16="http://schemas.microsoft.com/office/drawing/2014/main" id="{5A526861-3AA1-0404-8C61-5730901F4ACA}"/>
              </a:ext>
            </a:extLst>
          </p:cNvPr>
          <p:cNvSpPr>
            <a:spLocks noGrp="1"/>
          </p:cNvSpPr>
          <p:nvPr>
            <p:ph idx="1"/>
          </p:nvPr>
        </p:nvSpPr>
        <p:spPr>
          <a:xfrm>
            <a:off x="4443664" y="1766003"/>
            <a:ext cx="6910136" cy="4726867"/>
          </a:xfrm>
        </p:spPr>
        <p:txBody>
          <a:bodyPr>
            <a:normAutofit/>
          </a:bodyPr>
          <a:lstStyle/>
          <a:p>
            <a:r>
              <a:rPr lang="en-US" altLang="ko-KR" sz="1600" dirty="0">
                <a:latin typeface="NanumGothic" panose="020D0604000000000000" pitchFamily="34" charset="-127"/>
                <a:ea typeface="NanumGothic" panose="020D0604000000000000" pitchFamily="34" charset="-127"/>
              </a:rPr>
              <a:t>C</a:t>
            </a:r>
            <a:r>
              <a:rPr lang="en-US" sz="1600" dirty="0">
                <a:latin typeface="NanumGothic" panose="020D0604000000000000" pitchFamily="34" charset="-127"/>
                <a:ea typeface="NanumGothic" panose="020D0604000000000000" pitchFamily="34" charset="-127"/>
              </a:rPr>
              <a:t>ontains all the information needed to verify a header</a:t>
            </a:r>
          </a:p>
          <a:p>
            <a:pPr lvl="1"/>
            <a:r>
              <a:rPr lang="en-US" altLang="ko-KR" sz="1200" dirty="0" err="1">
                <a:latin typeface="NanumGothic" panose="020D0604000000000000" pitchFamily="34" charset="-127"/>
                <a:ea typeface="NanumGothic" panose="020D0604000000000000" pitchFamily="34" charset="-127"/>
              </a:rPr>
              <a:t>C</a:t>
            </a:r>
            <a:r>
              <a:rPr lang="en-US" sz="1200" dirty="0" err="1">
                <a:latin typeface="NanumGothic" panose="020D0604000000000000" pitchFamily="34" charset="-127"/>
                <a:ea typeface="NanumGothic" panose="020D0604000000000000" pitchFamily="34" charset="-127"/>
              </a:rPr>
              <a:t>hainID</a:t>
            </a:r>
            <a:r>
              <a:rPr lang="en-US" sz="1200" dirty="0">
                <a:latin typeface="NanumGothic" panose="020D0604000000000000" pitchFamily="34" charset="-127"/>
                <a:ea typeface="NanumGothic" panose="020D0604000000000000" pitchFamily="34" charset="-127"/>
              </a:rPr>
              <a:t>, </a:t>
            </a:r>
            <a:r>
              <a:rPr lang="en-US" altLang="ko-KR" sz="1200" dirty="0" err="1">
                <a:latin typeface="NanumGothic" panose="020D0604000000000000" pitchFamily="34" charset="-127"/>
                <a:ea typeface="NanumGothic" panose="020D0604000000000000" pitchFamily="34" charset="-127"/>
              </a:rPr>
              <a:t>U</a:t>
            </a:r>
            <a:r>
              <a:rPr lang="en-US" sz="1200" dirty="0" err="1">
                <a:latin typeface="NanumGothic" panose="020D0604000000000000" pitchFamily="34" charset="-127"/>
                <a:ea typeface="NanumGothic" panose="020D0604000000000000" pitchFamily="34" charset="-127"/>
              </a:rPr>
              <a:t>nbonding</a:t>
            </a:r>
            <a:r>
              <a:rPr lang="en-US" sz="1200" dirty="0">
                <a:latin typeface="NanumGothic" panose="020D0604000000000000" pitchFamily="34" charset="-127"/>
                <a:ea typeface="NanumGothic" panose="020D0604000000000000" pitchFamily="34" charset="-127"/>
              </a:rPr>
              <a:t> period of the chain, </a:t>
            </a:r>
            <a:r>
              <a:rPr lang="en-US" altLang="ko-KR" sz="1200" dirty="0">
                <a:latin typeface="NanumGothic" panose="020D0604000000000000" pitchFamily="34" charset="-127"/>
                <a:ea typeface="NanumGothic" panose="020D0604000000000000" pitchFamily="34" charset="-127"/>
              </a:rPr>
              <a:t>Latest</a:t>
            </a:r>
            <a:r>
              <a:rPr lang="en-US" sz="1200" dirty="0">
                <a:latin typeface="NanumGothic" panose="020D0604000000000000" pitchFamily="34" charset="-127"/>
                <a:ea typeface="NanumGothic" panose="020D0604000000000000" pitchFamily="34" charset="-127"/>
              </a:rPr>
              <a:t> height of the client, </a:t>
            </a:r>
            <a:r>
              <a:rPr lang="en-US" sz="1200" dirty="0" err="1">
                <a:latin typeface="NanumGothic" panose="020D0604000000000000" pitchFamily="34" charset="-127"/>
                <a:ea typeface="NanumGothic" panose="020D0604000000000000" pitchFamily="34" charset="-127"/>
              </a:rPr>
              <a:t>etc</a:t>
            </a:r>
            <a:endParaRPr lang="en-US" sz="1200" dirty="0">
              <a:latin typeface="NanumGothic" panose="020D0604000000000000" pitchFamily="34" charset="-127"/>
              <a:ea typeface="NanumGothic" panose="020D0604000000000000" pitchFamily="34" charset="-127"/>
            </a:endParaRPr>
          </a:p>
          <a:p>
            <a:r>
              <a:rPr lang="en-US" sz="1600" dirty="0" err="1">
                <a:latin typeface="NanumGothic" panose="020D0604000000000000" pitchFamily="34" charset="-127"/>
                <a:ea typeface="NanumGothic" panose="020D0604000000000000" pitchFamily="34" charset="-127"/>
              </a:rPr>
              <a:t>TrustingPeriod</a:t>
            </a:r>
            <a:endParaRPr lang="en-US" sz="1600" dirty="0">
              <a:latin typeface="NanumGothic" panose="020D0604000000000000" pitchFamily="34" charset="-127"/>
              <a:ea typeface="NanumGothic" panose="020D0604000000000000" pitchFamily="34" charset="-127"/>
            </a:endParaRPr>
          </a:p>
          <a:p>
            <a:pPr lvl="1"/>
            <a:r>
              <a:rPr lang="en-US" sz="1200" dirty="0">
                <a:latin typeface="NanumGothic" panose="020D0604000000000000" pitchFamily="34" charset="-127"/>
                <a:ea typeface="NanumGothic" panose="020D0604000000000000" pitchFamily="34" charset="-127"/>
              </a:rPr>
              <a:t>Duration of the period that submitted headers are valid for upgrade since the latest timestamp</a:t>
            </a:r>
            <a:endParaRPr lang="en-US" sz="2000" dirty="0">
              <a:latin typeface="NanumGothic" panose="020D0604000000000000" pitchFamily="34" charset="-127"/>
              <a:ea typeface="NanumGothic" panose="020D0604000000000000" pitchFamily="34" charset="-127"/>
            </a:endParaRPr>
          </a:p>
          <a:p>
            <a:r>
              <a:rPr lang="en-US" sz="1600" dirty="0" err="1">
                <a:latin typeface="NanumGothic" panose="020D0604000000000000" pitchFamily="34" charset="-127"/>
                <a:ea typeface="NanumGothic" panose="020D0604000000000000" pitchFamily="34" charset="-127"/>
              </a:rPr>
              <a:t>TrustLevel</a:t>
            </a:r>
            <a:endParaRPr lang="en-US" sz="1600" dirty="0">
              <a:latin typeface="NanumGothic" panose="020D0604000000000000" pitchFamily="34" charset="-127"/>
              <a:ea typeface="NanumGothic" panose="020D0604000000000000" pitchFamily="34" charset="-127"/>
            </a:endParaRPr>
          </a:p>
          <a:p>
            <a:pPr lvl="1"/>
            <a:r>
              <a:rPr lang="en-US" sz="1200" dirty="0">
                <a:latin typeface="NanumGothic" panose="020D0604000000000000" pitchFamily="34" charset="-127"/>
                <a:ea typeface="NanumGothic" panose="020D0604000000000000" pitchFamily="34" charset="-127"/>
              </a:rPr>
              <a:t>Portion of the validator set</a:t>
            </a:r>
          </a:p>
          <a:p>
            <a:pPr lvl="1"/>
            <a:r>
              <a:rPr lang="en-US" sz="1200" dirty="0" err="1">
                <a:latin typeface="NanumGothic" panose="020D0604000000000000" pitchFamily="34" charset="-127"/>
                <a:ea typeface="NanumGothic" panose="020D0604000000000000" pitchFamily="34" charset="-127"/>
              </a:rPr>
              <a:t>CometBFT</a:t>
            </a:r>
            <a:r>
              <a:rPr lang="en-US" sz="1200" dirty="0">
                <a:latin typeface="NanumGothic" panose="020D0604000000000000" pitchFamily="34" charset="-127"/>
                <a:ea typeface="NanumGothic" panose="020D0604000000000000" pitchFamily="34" charset="-127"/>
              </a:rPr>
              <a:t> defines this as 2/3, client inherits this property from </a:t>
            </a:r>
            <a:r>
              <a:rPr lang="en-US" sz="1200" dirty="0" err="1">
                <a:latin typeface="NanumGothic" panose="020D0604000000000000" pitchFamily="34" charset="-127"/>
                <a:ea typeface="NanumGothic" panose="020D0604000000000000" pitchFamily="34" charset="-127"/>
              </a:rPr>
              <a:t>CometBFT</a:t>
            </a:r>
            <a:endParaRPr lang="en-US" sz="1200" dirty="0">
              <a:latin typeface="NanumGothic" panose="020D0604000000000000" pitchFamily="34" charset="-127"/>
              <a:ea typeface="NanumGothic" panose="020D0604000000000000" pitchFamily="34" charset="-127"/>
            </a:endParaRPr>
          </a:p>
          <a:p>
            <a:r>
              <a:rPr lang="en-US" sz="1600" dirty="0">
                <a:latin typeface="NanumGothic" panose="020D0604000000000000" pitchFamily="34" charset="-127"/>
                <a:ea typeface="NanumGothic" panose="020D0604000000000000" pitchFamily="34" charset="-127"/>
              </a:rPr>
              <a:t>Certain parameters of an IBC client </a:t>
            </a:r>
            <a:r>
              <a:rPr lang="en-US" sz="1600" u="sng" dirty="0">
                <a:latin typeface="NanumGothic" panose="020D0604000000000000" pitchFamily="34" charset="-127"/>
                <a:ea typeface="NanumGothic" panose="020D0604000000000000" pitchFamily="34" charset="-127"/>
              </a:rPr>
              <a:t>cannot be updated</a:t>
            </a:r>
            <a:r>
              <a:rPr lang="en-US" sz="1600" dirty="0">
                <a:latin typeface="NanumGothic" panose="020D0604000000000000" pitchFamily="34" charset="-127"/>
                <a:ea typeface="NanumGothic" panose="020D0604000000000000" pitchFamily="34" charset="-127"/>
              </a:rPr>
              <a:t> after the client has been created, in order to preserve the security.</a:t>
            </a:r>
          </a:p>
          <a:p>
            <a:pPr lvl="1"/>
            <a:r>
              <a:rPr lang="en-US" sz="1200" dirty="0" err="1">
                <a:latin typeface="NanumGothic" panose="020D0604000000000000" pitchFamily="34" charset="-127"/>
                <a:ea typeface="NanumGothic" panose="020D0604000000000000" pitchFamily="34" charset="-127"/>
              </a:rPr>
              <a:t>MaxClockDrift</a:t>
            </a:r>
            <a:r>
              <a:rPr lang="en-US" sz="1200" dirty="0">
                <a:latin typeface="NanumGothic" panose="020D0604000000000000" pitchFamily="34" charset="-127"/>
                <a:ea typeface="NanumGothic" panose="020D0604000000000000" pitchFamily="34" charset="-127"/>
              </a:rPr>
              <a:t>, </a:t>
            </a:r>
            <a:r>
              <a:rPr lang="en-US" sz="1200" dirty="0" err="1">
                <a:latin typeface="NanumGothic" panose="020D0604000000000000" pitchFamily="34" charset="-127"/>
                <a:ea typeface="NanumGothic" panose="020D0604000000000000" pitchFamily="34" charset="-127"/>
              </a:rPr>
              <a:t>TrustLevel</a:t>
            </a:r>
            <a:endParaRPr lang="en-US" sz="1200" dirty="0">
              <a:latin typeface="NanumGothic" panose="020D0604000000000000" pitchFamily="34" charset="-127"/>
              <a:ea typeface="NanumGothic" panose="020D0604000000000000" pitchFamily="34" charset="-127"/>
            </a:endParaRPr>
          </a:p>
        </p:txBody>
      </p:sp>
      <p:sp>
        <p:nvSpPr>
          <p:cNvPr id="11" name="Rectangle 10">
            <a:extLst>
              <a:ext uri="{FF2B5EF4-FFF2-40B4-BE49-F238E27FC236}">
                <a16:creationId xmlns:a16="http://schemas.microsoft.com/office/drawing/2014/main" id="{AFACD226-4C0F-B766-6235-A16AD059A5B9}"/>
              </a:ext>
            </a:extLst>
          </p:cNvPr>
          <p:cNvSpPr/>
          <p:nvPr/>
        </p:nvSpPr>
        <p:spPr>
          <a:xfrm rot="697828">
            <a:off x="2646133" y="1801925"/>
            <a:ext cx="1786205" cy="2942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err="1"/>
              <a:t>CometBFT</a:t>
            </a:r>
            <a:r>
              <a:rPr lang="en-US" sz="1300" dirty="0"/>
              <a:t> </a:t>
            </a:r>
            <a:r>
              <a:rPr lang="en-US" sz="1300" dirty="0" err="1"/>
              <a:t>ClientState</a:t>
            </a:r>
            <a:r>
              <a:rPr lang="en-US" sz="1300" dirty="0"/>
              <a:t> </a:t>
            </a:r>
            <a:endParaRPr lang="en-KR" sz="1300" dirty="0"/>
          </a:p>
        </p:txBody>
      </p:sp>
    </p:spTree>
    <p:extLst>
      <p:ext uri="{BB962C8B-B14F-4D97-AF65-F5344CB8AC3E}">
        <p14:creationId xmlns:p14="http://schemas.microsoft.com/office/powerpoint/2010/main" val="3641953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Client</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[4/7]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A526861-3AA1-0404-8C61-5730901F4ACA}"/>
              </a:ext>
            </a:extLst>
          </p:cNvPr>
          <p:cNvSpPr>
            <a:spLocks noGrp="1"/>
          </p:cNvSpPr>
          <p:nvPr>
            <p:ph idx="1"/>
          </p:nvPr>
        </p:nvSpPr>
        <p:spPr>
          <a:xfrm>
            <a:off x="4443664" y="1766003"/>
            <a:ext cx="6910136" cy="4726867"/>
          </a:xfrm>
        </p:spPr>
        <p:txBody>
          <a:bodyPr>
            <a:normAutofit/>
          </a:bodyPr>
          <a:lstStyle/>
          <a:p>
            <a:r>
              <a:rPr lang="en-US" altLang="ko-KR" sz="1600" dirty="0">
                <a:latin typeface="NanumGothic" panose="020D0604000000000000" pitchFamily="34" charset="-127"/>
                <a:ea typeface="NanumGothic" panose="020D0604000000000000" pitchFamily="34" charset="-127"/>
              </a:rPr>
              <a:t>Timestamp</a:t>
            </a:r>
          </a:p>
          <a:p>
            <a:pPr lvl="1"/>
            <a:r>
              <a:rPr lang="en-US" altLang="ko-KR" sz="1200" dirty="0">
                <a:latin typeface="NanumGothic" panose="020D0604000000000000" pitchFamily="34" charset="-127"/>
                <a:ea typeface="NanumGothic" panose="020D0604000000000000" pitchFamily="34" charset="-127"/>
              </a:rPr>
              <a:t>Timestamp of the block being created</a:t>
            </a:r>
          </a:p>
          <a:p>
            <a:r>
              <a:rPr lang="en-US" altLang="ko-KR" sz="1600" dirty="0">
                <a:latin typeface="NanumGothic" panose="020D0604000000000000" pitchFamily="34" charset="-127"/>
                <a:ea typeface="NanumGothic" panose="020D0604000000000000" pitchFamily="34" charset="-127"/>
              </a:rPr>
              <a:t>NextValidatorsHash</a:t>
            </a:r>
          </a:p>
          <a:p>
            <a:pPr lvl="1"/>
            <a:r>
              <a:rPr lang="en-US" altLang="ko-KR" sz="1200" dirty="0">
                <a:latin typeface="NanumGothic" panose="020D0604000000000000" pitchFamily="34" charset="-127"/>
                <a:ea typeface="NanumGothic" panose="020D0604000000000000" pitchFamily="34" charset="-127"/>
              </a:rPr>
              <a:t>The hash of the validator set for the next block of the counterparty blockchain</a:t>
            </a:r>
          </a:p>
          <a:p>
            <a:pPr lvl="1"/>
            <a:r>
              <a:rPr lang="en-US" altLang="ko-KR" sz="1200" dirty="0">
                <a:latin typeface="NanumGothic" panose="020D0604000000000000" pitchFamily="34" charset="-127"/>
                <a:ea typeface="NanumGothic" panose="020D0604000000000000" pitchFamily="34" charset="-127"/>
              </a:rPr>
              <a:t>The next validator set is used for verifying subsequent submitted headers or updates to the counterparty ConsensusState</a:t>
            </a:r>
          </a:p>
          <a:p>
            <a:r>
              <a:rPr lang="en-US" altLang="ko-KR" sz="1600" dirty="0">
                <a:latin typeface="NanumGothic" panose="020D0604000000000000" pitchFamily="34" charset="-127"/>
                <a:ea typeface="NanumGothic" panose="020D0604000000000000" pitchFamily="34" charset="-127"/>
              </a:rPr>
              <a:t>CommitmentRoot</a:t>
            </a:r>
          </a:p>
          <a:p>
            <a:pPr lvl="1"/>
            <a:r>
              <a:rPr lang="en-US" altLang="ko-KR" sz="1200" dirty="0">
                <a:latin typeface="NanumGothic" panose="020D0604000000000000" pitchFamily="34" charset="-127"/>
                <a:ea typeface="NanumGothic" panose="020D0604000000000000" pitchFamily="34" charset="-127"/>
              </a:rPr>
              <a:t>Root of the counterparty blockchain</a:t>
            </a:r>
          </a:p>
          <a:p>
            <a:pPr lvl="1"/>
            <a:r>
              <a:rPr lang="en-US" altLang="ko-KR" sz="1200" dirty="0">
                <a:latin typeface="NanumGothic" panose="020D0604000000000000" pitchFamily="34" charset="-127"/>
                <a:ea typeface="NanumGothic" panose="020D0604000000000000" pitchFamily="34" charset="-127"/>
              </a:rPr>
              <a:t>Root hash used on a receiving chain when verifying </a:t>
            </a:r>
            <a:r>
              <a:rPr lang="en-US" altLang="ko-KR" sz="1200" u="sng" dirty="0">
                <a:latin typeface="NanumGothic" panose="020D0604000000000000" pitchFamily="34" charset="-127"/>
                <a:ea typeface="NanumGothic" panose="020D0604000000000000" pitchFamily="34" charset="-127"/>
              </a:rPr>
              <a:t>Merkle proofs</a:t>
            </a:r>
            <a:r>
              <a:rPr lang="en-US" altLang="ko-KR" sz="1200" dirty="0">
                <a:latin typeface="NanumGothic" panose="020D0604000000000000" pitchFamily="34" charset="-127"/>
                <a:ea typeface="NanumGothic" panose="020D0604000000000000" pitchFamily="34" charset="-127"/>
              </a:rPr>
              <a:t> associated with a packet coming over IBC, to determine whether or not the relevant transaction has been actually been executed on the sending chain</a:t>
            </a:r>
          </a:p>
          <a:p>
            <a:pPr lvl="1"/>
            <a:endParaRPr lang="en-US" altLang="ko-KR" sz="1600" dirty="0">
              <a:latin typeface="NanumGothic" panose="020D0604000000000000" pitchFamily="34" charset="-127"/>
              <a:ea typeface="NanumGothic" panose="020D0604000000000000" pitchFamily="34" charset="-127"/>
            </a:endParaRPr>
          </a:p>
        </p:txBody>
      </p:sp>
      <p:pic>
        <p:nvPicPr>
          <p:cNvPr id="5" name="Picture 4">
            <a:extLst>
              <a:ext uri="{FF2B5EF4-FFF2-40B4-BE49-F238E27FC236}">
                <a16:creationId xmlns:a16="http://schemas.microsoft.com/office/drawing/2014/main" id="{EB91BDDA-33F7-35A5-798C-B6345C976C86}"/>
              </a:ext>
            </a:extLst>
          </p:cNvPr>
          <p:cNvPicPr>
            <a:picLocks noChangeAspect="1"/>
          </p:cNvPicPr>
          <p:nvPr/>
        </p:nvPicPr>
        <p:blipFill>
          <a:blip r:embed="rId3"/>
          <a:stretch>
            <a:fillRect/>
          </a:stretch>
        </p:blipFill>
        <p:spPr>
          <a:xfrm>
            <a:off x="838200" y="1766003"/>
            <a:ext cx="3378200" cy="1993900"/>
          </a:xfrm>
          <a:prstGeom prst="rect">
            <a:avLst/>
          </a:prstGeom>
        </p:spPr>
      </p:pic>
      <p:sp>
        <p:nvSpPr>
          <p:cNvPr id="12" name="Rectangle 11">
            <a:extLst>
              <a:ext uri="{FF2B5EF4-FFF2-40B4-BE49-F238E27FC236}">
                <a16:creationId xmlns:a16="http://schemas.microsoft.com/office/drawing/2014/main" id="{595C2D62-56A4-8E3D-9F2C-21FF12763BE5}"/>
              </a:ext>
            </a:extLst>
          </p:cNvPr>
          <p:cNvSpPr/>
          <p:nvPr/>
        </p:nvSpPr>
        <p:spPr>
          <a:xfrm rot="697828">
            <a:off x="2458581" y="1801925"/>
            <a:ext cx="2161309" cy="2942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err="1"/>
              <a:t>CometBFT</a:t>
            </a:r>
            <a:r>
              <a:rPr lang="en-US" sz="1300" dirty="0"/>
              <a:t> ConsensusState </a:t>
            </a:r>
            <a:endParaRPr lang="en-KR" sz="1300" dirty="0"/>
          </a:p>
        </p:txBody>
      </p:sp>
      <p:sp>
        <p:nvSpPr>
          <p:cNvPr id="14" name="Rectangle 13">
            <a:extLst>
              <a:ext uri="{FF2B5EF4-FFF2-40B4-BE49-F238E27FC236}">
                <a16:creationId xmlns:a16="http://schemas.microsoft.com/office/drawing/2014/main" id="{F213BF97-B915-B4B2-A0B4-C47B9C1898F7}"/>
              </a:ext>
            </a:extLst>
          </p:cNvPr>
          <p:cNvSpPr/>
          <p:nvPr/>
        </p:nvSpPr>
        <p:spPr>
          <a:xfrm>
            <a:off x="838200" y="4672803"/>
            <a:ext cx="10515600" cy="1008107"/>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dirty="0" err="1">
                <a:solidFill>
                  <a:schemeClr val="tx1"/>
                </a:solidFill>
                <a:latin typeface="NanumGothic" panose="020D0604000000000000" pitchFamily="34" charset="-127"/>
                <a:ea typeface="NanumGothic" panose="020D0604000000000000" pitchFamily="34" charset="-127"/>
              </a:rPr>
              <a:t>cometBFT</a:t>
            </a:r>
            <a:r>
              <a:rPr lang="ko-KR" altLang="en-US" sz="1500" dirty="0">
                <a:solidFill>
                  <a:schemeClr val="tx1"/>
                </a:solidFill>
                <a:latin typeface="NanumGothic" panose="020D0604000000000000" pitchFamily="34" charset="-127"/>
                <a:ea typeface="NanumGothic" panose="020D0604000000000000" pitchFamily="34" charset="-127"/>
              </a:rPr>
              <a:t>에서 </a:t>
            </a:r>
            <a:r>
              <a:rPr lang="ko-KR" altLang="en-US" sz="1500" u="sng" dirty="0" err="1">
                <a:solidFill>
                  <a:schemeClr val="tx1"/>
                </a:solidFill>
                <a:latin typeface="NanumGothic" panose="020D0604000000000000" pitchFamily="34" charset="-127"/>
                <a:ea typeface="NanumGothic" panose="020D0604000000000000" pitchFamily="34" charset="-127"/>
              </a:rPr>
              <a:t>검증자</a:t>
            </a:r>
            <a:r>
              <a:rPr lang="ko-KR" altLang="en-US" sz="1500" u="sng" dirty="0">
                <a:solidFill>
                  <a:schemeClr val="tx1"/>
                </a:solidFill>
                <a:latin typeface="NanumGothic" panose="020D0604000000000000" pitchFamily="34" charset="-127"/>
                <a:ea typeface="NanumGothic" panose="020D0604000000000000" pitchFamily="34" charset="-127"/>
              </a:rPr>
              <a:t> 집합은 현재 블록을 생성하고 합의하는 시점이 아닌</a:t>
            </a:r>
            <a:r>
              <a:rPr lang="en-US" altLang="ko-KR" sz="1500" u="sng" dirty="0">
                <a:solidFill>
                  <a:schemeClr val="tx1"/>
                </a:solidFill>
                <a:latin typeface="NanumGothic" panose="020D0604000000000000" pitchFamily="34" charset="-127"/>
                <a:ea typeface="NanumGothic" panose="020D0604000000000000" pitchFamily="34" charset="-127"/>
              </a:rPr>
              <a:t>,</a:t>
            </a:r>
            <a:r>
              <a:rPr lang="ko-KR" altLang="en-US" sz="1500" u="sng" dirty="0">
                <a:solidFill>
                  <a:schemeClr val="tx1"/>
                </a:solidFill>
                <a:latin typeface="NanumGothic" panose="020D0604000000000000" pitchFamily="34" charset="-127"/>
                <a:ea typeface="NanumGothic" panose="020D0604000000000000" pitchFamily="34" charset="-127"/>
              </a:rPr>
              <a:t> 이전 블록이 생성될 때 미리 결정</a:t>
            </a:r>
            <a:r>
              <a:rPr lang="ko-KR" altLang="en-US" sz="1500" dirty="0">
                <a:solidFill>
                  <a:schemeClr val="tx1"/>
                </a:solidFill>
                <a:latin typeface="NanumGothic" panose="020D0604000000000000" pitchFamily="34" charset="-127"/>
                <a:ea typeface="NanumGothic" panose="020D0604000000000000" pitchFamily="34" charset="-127"/>
              </a:rPr>
              <a:t>된다</a:t>
            </a:r>
            <a:r>
              <a:rPr lang="en-US" altLang="ko-KR" sz="1500" dirty="0">
                <a:solidFill>
                  <a:schemeClr val="tx1"/>
                </a:solidFill>
                <a:latin typeface="NanumGothic" panose="020D0604000000000000" pitchFamily="34" charset="-127"/>
                <a:ea typeface="NanumGothic" panose="020D0604000000000000" pitchFamily="34" charset="-127"/>
              </a:rPr>
              <a:t>.</a:t>
            </a:r>
          </a:p>
          <a:p>
            <a:r>
              <a:rPr lang="en-US" altLang="ko-KR" sz="1500" dirty="0">
                <a:solidFill>
                  <a:schemeClr val="tx1"/>
                </a:solidFill>
                <a:latin typeface="NanumGothic" panose="020D0604000000000000" pitchFamily="34" charset="-127"/>
                <a:ea typeface="NanumGothic" panose="020D0604000000000000" pitchFamily="34" charset="-127"/>
              </a:rPr>
              <a:t>-</a:t>
            </a:r>
            <a:r>
              <a:rPr lang="ko-KR" altLang="en-US" sz="1500" dirty="0">
                <a:solidFill>
                  <a:schemeClr val="tx1"/>
                </a:solidFill>
                <a:latin typeface="NanumGothic" panose="020D0604000000000000" pitchFamily="34" charset="-127"/>
                <a:ea typeface="NanumGothic" panose="020D0604000000000000" pitchFamily="34" charset="-127"/>
              </a:rPr>
              <a:t> 미리 </a:t>
            </a:r>
            <a:r>
              <a:rPr lang="ko-KR" altLang="en-US" sz="1500" dirty="0" err="1">
                <a:solidFill>
                  <a:schemeClr val="tx1"/>
                </a:solidFill>
                <a:latin typeface="NanumGothic" panose="020D0604000000000000" pitchFamily="34" charset="-127"/>
                <a:ea typeface="NanumGothic" panose="020D0604000000000000" pitchFamily="34" charset="-127"/>
              </a:rPr>
              <a:t>검증자</a:t>
            </a:r>
            <a:r>
              <a:rPr lang="ko-KR" altLang="en-US" sz="1500" dirty="0">
                <a:solidFill>
                  <a:schemeClr val="tx1"/>
                </a:solidFill>
                <a:latin typeface="NanumGothic" panose="020D0604000000000000" pitchFamily="34" charset="-127"/>
                <a:ea typeface="NanumGothic" panose="020D0604000000000000" pitchFamily="34" charset="-127"/>
              </a:rPr>
              <a:t> 집합을 준비함으로써</a:t>
            </a:r>
            <a:r>
              <a:rPr lang="en-US" altLang="ko-KR" sz="1500" dirty="0">
                <a:solidFill>
                  <a:schemeClr val="tx1"/>
                </a:solidFill>
                <a:latin typeface="NanumGothic" panose="020D0604000000000000" pitchFamily="34" charset="-127"/>
                <a:ea typeface="NanumGothic" panose="020D0604000000000000" pitchFamily="34" charset="-127"/>
              </a:rPr>
              <a:t>,</a:t>
            </a:r>
            <a:r>
              <a:rPr lang="ko-KR" altLang="en-US" sz="1500" dirty="0">
                <a:solidFill>
                  <a:schemeClr val="tx1"/>
                </a:solidFill>
                <a:latin typeface="NanumGothic" panose="020D0604000000000000" pitchFamily="34" charset="-127"/>
                <a:ea typeface="NanumGothic" panose="020D0604000000000000" pitchFamily="34" charset="-127"/>
              </a:rPr>
              <a:t> 네트워크의 안전성과 효율성을 높이고 추가 계산 없이 바로 검증절차에 들어갈 수 있음</a:t>
            </a:r>
            <a:endParaRPr lang="en-US" altLang="ko-KR" sz="1500" dirty="0">
              <a:solidFill>
                <a:schemeClr val="tx1"/>
              </a:solidFill>
              <a:latin typeface="NanumGothic" panose="020D0604000000000000" pitchFamily="34" charset="-127"/>
              <a:ea typeface="NanumGothic" panose="020D0604000000000000" pitchFamily="34" charset="-127"/>
            </a:endParaRPr>
          </a:p>
          <a:p>
            <a:r>
              <a:rPr lang="en-US" altLang="ko-KR" sz="1500" dirty="0">
                <a:solidFill>
                  <a:schemeClr val="tx1"/>
                </a:solidFill>
                <a:latin typeface="NanumGothic" panose="020D0604000000000000" pitchFamily="34" charset="-127"/>
                <a:ea typeface="NanumGothic" panose="020D0604000000000000" pitchFamily="34" charset="-127"/>
              </a:rPr>
              <a:t>-</a:t>
            </a:r>
            <a:r>
              <a:rPr lang="ko-KR" altLang="en-US" sz="1500" dirty="0">
                <a:solidFill>
                  <a:schemeClr val="tx1"/>
                </a:solidFill>
                <a:latin typeface="NanumGothic" panose="020D0604000000000000" pitchFamily="34" charset="-127"/>
                <a:ea typeface="NanumGothic" panose="020D0604000000000000" pitchFamily="34" charset="-127"/>
              </a:rPr>
              <a:t> </a:t>
            </a:r>
            <a:r>
              <a:rPr lang="ko-KR" altLang="en-US" sz="1500" dirty="0" err="1">
                <a:solidFill>
                  <a:schemeClr val="tx1"/>
                </a:solidFill>
                <a:latin typeface="NanumGothic" panose="020D0604000000000000" pitchFamily="34" charset="-127"/>
                <a:ea typeface="NanumGothic" panose="020D0604000000000000" pitchFamily="34" charset="-127"/>
              </a:rPr>
              <a:t>검증자</a:t>
            </a:r>
            <a:r>
              <a:rPr lang="ko-KR" altLang="en-US" sz="1500" dirty="0">
                <a:solidFill>
                  <a:schemeClr val="tx1"/>
                </a:solidFill>
                <a:latin typeface="NanumGothic" panose="020D0604000000000000" pitchFamily="34" charset="-127"/>
                <a:ea typeface="NanumGothic" panose="020D0604000000000000" pitchFamily="34" charset="-127"/>
              </a:rPr>
              <a:t> 집합이 블록마다 동적으로 변경될 수 있으므로</a:t>
            </a:r>
            <a:r>
              <a:rPr lang="en-US" altLang="ko-KR" sz="1500" dirty="0">
                <a:solidFill>
                  <a:schemeClr val="tx1"/>
                </a:solidFill>
                <a:latin typeface="NanumGothic" panose="020D0604000000000000" pitchFamily="34" charset="-127"/>
                <a:ea typeface="NanumGothic" panose="020D0604000000000000" pitchFamily="34" charset="-127"/>
              </a:rPr>
              <a:t>,</a:t>
            </a:r>
            <a:r>
              <a:rPr lang="ko-KR" altLang="en-US" sz="1500" dirty="0">
                <a:solidFill>
                  <a:schemeClr val="tx1"/>
                </a:solidFill>
                <a:latin typeface="NanumGothic" panose="020D0604000000000000" pitchFamily="34" charset="-127"/>
                <a:ea typeface="NanumGothic" panose="020D0604000000000000" pitchFamily="34" charset="-127"/>
              </a:rPr>
              <a:t> 미리 </a:t>
            </a:r>
            <a:r>
              <a:rPr lang="ko-KR" altLang="en-US" sz="1500" dirty="0" err="1">
                <a:solidFill>
                  <a:schemeClr val="tx1"/>
                </a:solidFill>
                <a:latin typeface="NanumGothic" panose="020D0604000000000000" pitchFamily="34" charset="-127"/>
                <a:ea typeface="NanumGothic" panose="020D0604000000000000" pitchFamily="34" charset="-127"/>
              </a:rPr>
              <a:t>검증자</a:t>
            </a:r>
            <a:r>
              <a:rPr lang="ko-KR" altLang="en-US" sz="1500" dirty="0">
                <a:solidFill>
                  <a:schemeClr val="tx1"/>
                </a:solidFill>
                <a:latin typeface="NanumGothic" panose="020D0604000000000000" pitchFamily="34" charset="-127"/>
                <a:ea typeface="NanumGothic" panose="020D0604000000000000" pitchFamily="34" charset="-127"/>
              </a:rPr>
              <a:t> 집합을 설정하여 보안성과 공정성을 높일 수 있음</a:t>
            </a:r>
            <a:endParaRPr lang="en-US" sz="1500" dirty="0">
              <a:solidFill>
                <a:schemeClr val="tx1"/>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532124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Client</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[5/7]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122" name="Picture 2" descr="undefined">
            <a:extLst>
              <a:ext uri="{FF2B5EF4-FFF2-40B4-BE49-F238E27FC236}">
                <a16:creationId xmlns:a16="http://schemas.microsoft.com/office/drawing/2014/main" id="{C0D1C784-62B6-4AE0-FB74-E21D7E306C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158" y="1764283"/>
            <a:ext cx="4575052" cy="291164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CC092025-EC4E-E19E-E8C7-0920FA9A4357}"/>
              </a:ext>
            </a:extLst>
          </p:cNvPr>
          <p:cNvSpPr>
            <a:spLocks noGrp="1"/>
          </p:cNvSpPr>
          <p:nvPr>
            <p:ph idx="1"/>
          </p:nvPr>
        </p:nvSpPr>
        <p:spPr>
          <a:xfrm>
            <a:off x="5414210" y="1766003"/>
            <a:ext cx="5939589" cy="4726867"/>
          </a:xfrm>
        </p:spPr>
        <p:txBody>
          <a:bodyPr>
            <a:normAutofit/>
          </a:bodyPr>
          <a:lstStyle/>
          <a:p>
            <a:r>
              <a:rPr lang="en-US" sz="2000" dirty="0">
                <a:latin typeface="NanumGothic" panose="020D0604000000000000" pitchFamily="34" charset="-127"/>
                <a:ea typeface="NanumGothic" panose="020D0604000000000000" pitchFamily="34" charset="-127"/>
              </a:rPr>
              <a:t>I</a:t>
            </a:r>
            <a:r>
              <a:rPr lang="en-US" altLang="ko-KR" sz="2000" dirty="0">
                <a:latin typeface="NanumGothic" panose="020D0604000000000000" pitchFamily="34" charset="-127"/>
                <a:ea typeface="NanumGothic" panose="020D0604000000000000" pitchFamily="34" charset="-127"/>
              </a:rPr>
              <a:t>BC</a:t>
            </a:r>
            <a:r>
              <a:rPr lang="ko-KR" altLang="en-US" sz="2000" dirty="0">
                <a:latin typeface="NanumGothic" panose="020D0604000000000000" pitchFamily="34" charset="-127"/>
                <a:ea typeface="NanumGothic" panose="020D0604000000000000" pitchFamily="34" charset="-127"/>
              </a:rPr>
              <a:t>는</a:t>
            </a:r>
            <a:r>
              <a:rPr lang="en-US" altLang="ko-KR" sz="2000" dirty="0">
                <a:latin typeface="NanumGothic" panose="020D0604000000000000" pitchFamily="34" charset="-127"/>
                <a:ea typeface="NanumGothic" panose="020D0604000000000000" pitchFamily="34" charset="-127"/>
              </a:rPr>
              <a:t> IVAL </a:t>
            </a:r>
            <a:r>
              <a:rPr lang="ko-KR" altLang="en-US" sz="2000" dirty="0">
                <a:latin typeface="NanumGothic" panose="020D0604000000000000" pitchFamily="34" charset="-127"/>
                <a:ea typeface="NanumGothic" panose="020D0604000000000000" pitchFamily="34" charset="-127"/>
              </a:rPr>
              <a:t>구조로 블록의 트랜잭션 상태를 구성</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Leaf node : </a:t>
            </a:r>
            <a:r>
              <a:rPr lang="ko-KR" altLang="en-US" sz="1600" dirty="0">
                <a:latin typeface="NanumGothic" panose="020D0604000000000000" pitchFamily="34" charset="-127"/>
                <a:ea typeface="NanumGothic" panose="020D0604000000000000" pitchFamily="34" charset="-127"/>
              </a:rPr>
              <a:t>말단 트랜잭션</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검증 대상</a:t>
            </a:r>
            <a:r>
              <a:rPr lang="en-US" altLang="ko-KR" sz="1600" dirty="0">
                <a:latin typeface="NanumGothic" panose="020D0604000000000000" pitchFamily="34" charset="-127"/>
                <a:ea typeface="NanumGothic" panose="020D0604000000000000" pitchFamily="34" charset="-127"/>
              </a:rPr>
              <a:t>)</a:t>
            </a:r>
          </a:p>
          <a:p>
            <a:pPr lvl="1"/>
            <a:r>
              <a:rPr lang="en-US" altLang="ko-KR" sz="1600" dirty="0">
                <a:latin typeface="NanumGothic" panose="020D0604000000000000" pitchFamily="34" charset="-127"/>
                <a:ea typeface="NanumGothic" panose="020D0604000000000000" pitchFamily="34" charset="-127"/>
              </a:rPr>
              <a:t>Aunt node : </a:t>
            </a:r>
            <a:r>
              <a:rPr lang="ko-KR" altLang="en-US" sz="1600" dirty="0" err="1">
                <a:latin typeface="NanumGothic" panose="020D0604000000000000" pitchFamily="34" charset="-127"/>
                <a:ea typeface="NanumGothic" panose="020D0604000000000000" pitchFamily="34" charset="-127"/>
              </a:rPr>
              <a:t>리프노드와</a:t>
            </a:r>
            <a:r>
              <a:rPr lang="ko-KR" altLang="en-US" sz="1600" dirty="0">
                <a:latin typeface="NanumGothic" panose="020D0604000000000000" pitchFamily="34" charset="-127"/>
                <a:ea typeface="NanumGothic" panose="020D0604000000000000" pitchFamily="34" charset="-127"/>
              </a:rPr>
              <a:t> 동일 레벨 노드</a:t>
            </a:r>
            <a:endParaRPr lang="en-US" altLang="ko-KR" sz="16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Root node : </a:t>
            </a:r>
            <a:r>
              <a:rPr lang="ko-KR" altLang="en-US" sz="1600" dirty="0" err="1">
                <a:latin typeface="NanumGothic" panose="020D0604000000000000" pitchFamily="34" charset="-127"/>
                <a:ea typeface="NanumGothic" panose="020D0604000000000000" pitchFamily="34" charset="-127"/>
              </a:rPr>
              <a:t>머클트리</a:t>
            </a:r>
            <a:r>
              <a:rPr lang="ko-KR" altLang="en-US" sz="1600" dirty="0">
                <a:latin typeface="NanumGothic" panose="020D0604000000000000" pitchFamily="34" charset="-127"/>
                <a:ea typeface="NanumGothic" panose="020D0604000000000000" pitchFamily="34" charset="-127"/>
              </a:rPr>
              <a:t> </a:t>
            </a:r>
            <a:r>
              <a:rPr lang="ko-KR" altLang="en-US" sz="1600" dirty="0" err="1">
                <a:latin typeface="NanumGothic" panose="020D0604000000000000" pitchFamily="34" charset="-127"/>
                <a:ea typeface="NanumGothic" panose="020D0604000000000000" pitchFamily="34" charset="-127"/>
              </a:rPr>
              <a:t>최상단</a:t>
            </a:r>
            <a:r>
              <a:rPr lang="ko-KR" altLang="en-US" sz="1600" dirty="0">
                <a:latin typeface="NanumGothic" panose="020D0604000000000000" pitchFamily="34" charset="-127"/>
                <a:ea typeface="NanumGothic" panose="020D0604000000000000" pitchFamily="34" charset="-127"/>
              </a:rPr>
              <a:t> 노드</a:t>
            </a:r>
            <a:endParaRPr lang="en-US" altLang="ko-KR" sz="1600" dirty="0">
              <a:latin typeface="NanumGothic" panose="020D0604000000000000" pitchFamily="34" charset="-127"/>
              <a:ea typeface="NanumGothic" panose="020D0604000000000000" pitchFamily="34" charset="-127"/>
            </a:endParaRPr>
          </a:p>
          <a:p>
            <a:r>
              <a:rPr lang="en-US" altLang="ko-KR" sz="2000" dirty="0">
                <a:latin typeface="NanumGothic" panose="020D0604000000000000" pitchFamily="34" charset="-127"/>
                <a:ea typeface="NanumGothic" panose="020D0604000000000000" pitchFamily="34" charset="-127"/>
              </a:rPr>
              <a:t>ICS-23</a:t>
            </a:r>
          </a:p>
          <a:p>
            <a:pPr lvl="1"/>
            <a:r>
              <a:rPr lang="en-US" altLang="ko-KR" sz="1600" dirty="0" err="1">
                <a:latin typeface="NanumGothic" panose="020D0604000000000000" pitchFamily="34" charset="-127"/>
                <a:ea typeface="NanumGothic" panose="020D0604000000000000" pitchFamily="34" charset="-127"/>
              </a:rPr>
              <a:t>CometBFT</a:t>
            </a:r>
            <a:r>
              <a:rPr lang="ko-KR" altLang="en-US" sz="1600" dirty="0">
                <a:latin typeface="NanumGothic" panose="020D0604000000000000" pitchFamily="34" charset="-127"/>
                <a:ea typeface="NanumGothic" panose="020D0604000000000000" pitchFamily="34" charset="-127"/>
              </a:rPr>
              <a:t>에서 </a:t>
            </a:r>
            <a:r>
              <a:rPr lang="en-US" altLang="ko-KR" sz="1600" dirty="0">
                <a:latin typeface="NanumGothic" panose="020D0604000000000000" pitchFamily="34" charset="-127"/>
                <a:ea typeface="NanumGothic" panose="020D0604000000000000" pitchFamily="34" charset="-127"/>
              </a:rPr>
              <a:t>Merkle </a:t>
            </a:r>
            <a:r>
              <a:rPr lang="ko-KR" altLang="en-US" sz="1600" dirty="0">
                <a:latin typeface="NanumGothic" panose="020D0604000000000000" pitchFamily="34" charset="-127"/>
                <a:ea typeface="NanumGothic" panose="020D0604000000000000" pitchFamily="34" charset="-127"/>
              </a:rPr>
              <a:t>증명을 처리하는 표준 방식</a:t>
            </a:r>
            <a:endParaRPr lang="en-US" altLang="ko-KR" sz="1600" dirty="0">
              <a:latin typeface="NanumGothic" panose="020D0604000000000000" pitchFamily="34" charset="-127"/>
              <a:ea typeface="NanumGothic" panose="020D0604000000000000" pitchFamily="34" charset="-127"/>
            </a:endParaRPr>
          </a:p>
          <a:p>
            <a:pPr lvl="1"/>
            <a:r>
              <a:rPr lang="en-US" altLang="ko-KR" sz="1600" dirty="0" err="1">
                <a:latin typeface="NanumGothic" panose="020D0604000000000000" pitchFamily="34" charset="-127"/>
                <a:ea typeface="NanumGothic" panose="020D0604000000000000" pitchFamily="34" charset="-127"/>
              </a:rPr>
              <a:t>VerifyMembership</a:t>
            </a:r>
            <a:r>
              <a:rPr lang="en-US" altLang="ko-KR" sz="1600" dirty="0">
                <a:latin typeface="NanumGothic" panose="020D0604000000000000" pitchFamily="34" charset="-127"/>
                <a:ea typeface="NanumGothic" panose="020D0604000000000000" pitchFamily="34" charset="-127"/>
              </a:rPr>
              <a:t>, </a:t>
            </a:r>
            <a:r>
              <a:rPr lang="en-US" altLang="ko-KR" sz="1600" dirty="0" err="1">
                <a:latin typeface="NanumGothic" panose="020D0604000000000000" pitchFamily="34" charset="-127"/>
                <a:ea typeface="NanumGothic" panose="020D0604000000000000" pitchFamily="34" charset="-127"/>
              </a:rPr>
              <a:t>VerifyNonMembership</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sz="12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16" name="Rectangle 15">
            <a:extLst>
              <a:ext uri="{FF2B5EF4-FFF2-40B4-BE49-F238E27FC236}">
                <a16:creationId xmlns:a16="http://schemas.microsoft.com/office/drawing/2014/main" id="{F0695E27-82D8-6B41-154C-6920CF90BBF1}"/>
              </a:ext>
            </a:extLst>
          </p:cNvPr>
          <p:cNvSpPr/>
          <p:nvPr/>
        </p:nvSpPr>
        <p:spPr>
          <a:xfrm rot="697828">
            <a:off x="3308812" y="1777259"/>
            <a:ext cx="2161309" cy="2942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t>Merkle Proof</a:t>
            </a:r>
            <a:endParaRPr lang="en-KR" sz="1300" dirty="0"/>
          </a:p>
        </p:txBody>
      </p:sp>
    </p:spTree>
    <p:extLst>
      <p:ext uri="{BB962C8B-B14F-4D97-AF65-F5344CB8AC3E}">
        <p14:creationId xmlns:p14="http://schemas.microsoft.com/office/powerpoint/2010/main" val="1178606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Client</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[6/7]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CD4FBCF-4389-8170-E755-7DAAB3AE9D5B}"/>
              </a:ext>
            </a:extLst>
          </p:cNvPr>
          <p:cNvPicPr>
            <a:picLocks noChangeAspect="1"/>
          </p:cNvPicPr>
          <p:nvPr/>
        </p:nvPicPr>
        <p:blipFill rotWithShape="1">
          <a:blip r:embed="rId3"/>
          <a:srcRect t="13768" b="12343"/>
          <a:stretch/>
        </p:blipFill>
        <p:spPr>
          <a:xfrm>
            <a:off x="838200" y="1815628"/>
            <a:ext cx="5626100" cy="1679713"/>
          </a:xfrm>
          <a:prstGeom prst="rect">
            <a:avLst/>
          </a:prstGeom>
        </p:spPr>
      </p:pic>
      <p:sp>
        <p:nvSpPr>
          <p:cNvPr id="9" name="Rectangle 8">
            <a:extLst>
              <a:ext uri="{FF2B5EF4-FFF2-40B4-BE49-F238E27FC236}">
                <a16:creationId xmlns:a16="http://schemas.microsoft.com/office/drawing/2014/main" id="{4BF445CD-E522-73C8-D844-F922B1007B8E}"/>
              </a:ext>
            </a:extLst>
          </p:cNvPr>
          <p:cNvSpPr/>
          <p:nvPr/>
        </p:nvSpPr>
        <p:spPr>
          <a:xfrm rot="697828">
            <a:off x="5383645" y="1773791"/>
            <a:ext cx="2161309" cy="2942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err="1">
                <a:effectLst/>
                <a:latin typeface="Inter var"/>
              </a:rPr>
              <a:t>CometBFT</a:t>
            </a:r>
            <a:r>
              <a:rPr lang="en-US" sz="1400" b="0" i="0" dirty="0">
                <a:effectLst/>
                <a:latin typeface="Inter var"/>
              </a:rPr>
              <a:t> client </a:t>
            </a:r>
            <a:r>
              <a:rPr lang="en-US" sz="1400" dirty="0"/>
              <a:t>Header</a:t>
            </a:r>
            <a:endParaRPr lang="en-KR" sz="1300" dirty="0"/>
          </a:p>
        </p:txBody>
      </p:sp>
      <p:sp>
        <p:nvSpPr>
          <p:cNvPr id="10" name="Content Placeholder 2">
            <a:extLst>
              <a:ext uri="{FF2B5EF4-FFF2-40B4-BE49-F238E27FC236}">
                <a16:creationId xmlns:a16="http://schemas.microsoft.com/office/drawing/2014/main" id="{E6895C12-60D2-DE5C-35F3-358FE3E3B36F}"/>
              </a:ext>
            </a:extLst>
          </p:cNvPr>
          <p:cNvSpPr>
            <a:spLocks noGrp="1"/>
          </p:cNvSpPr>
          <p:nvPr>
            <p:ph idx="1"/>
          </p:nvPr>
        </p:nvSpPr>
        <p:spPr>
          <a:xfrm>
            <a:off x="838200" y="3666435"/>
            <a:ext cx="10515600" cy="2903325"/>
          </a:xfrm>
        </p:spPr>
        <p:txBody>
          <a:bodyPr>
            <a:normAutofit lnSpcReduction="10000"/>
          </a:bodyPr>
          <a:lstStyle/>
          <a:p>
            <a:r>
              <a:rPr lang="ko-KR" altLang="en-US" sz="2000" b="0" dirty="0">
                <a:effectLst/>
                <a:latin typeface="NanumGothic" panose="020D0604000000000000" pitchFamily="34" charset="-127"/>
                <a:ea typeface="NanumGothic" panose="020D0604000000000000" pitchFamily="34" charset="-127"/>
              </a:rPr>
              <a:t>클라이언트는 릴레이어로부터 전달된 </a:t>
            </a:r>
            <a:r>
              <a:rPr lang="en-US" altLang="ko-KR" sz="2000" b="0" u="sng" dirty="0">
                <a:effectLst/>
                <a:latin typeface="NanumGothic" panose="020D0604000000000000" pitchFamily="34" charset="-127"/>
                <a:ea typeface="NanumGothic" panose="020D0604000000000000" pitchFamily="34" charset="-127"/>
              </a:rPr>
              <a:t>MsgUpdateClient</a:t>
            </a:r>
            <a:r>
              <a:rPr lang="en-US" altLang="ko-KR" sz="2000" b="0" dirty="0">
                <a:effectLst/>
                <a:latin typeface="NanumGothic" panose="020D0604000000000000" pitchFamily="34" charset="-127"/>
                <a:ea typeface="NanumGothic" panose="020D0604000000000000" pitchFamily="34" charset="-127"/>
              </a:rPr>
              <a:t> </a:t>
            </a:r>
            <a:r>
              <a:rPr lang="ko-KR" altLang="en-US" sz="2000" b="0" dirty="0">
                <a:effectLst/>
                <a:latin typeface="NanumGothic" panose="020D0604000000000000" pitchFamily="34" charset="-127"/>
                <a:ea typeface="NanumGothic" panose="020D0604000000000000" pitchFamily="34" charset="-127"/>
              </a:rPr>
              <a:t>메시지를 통해 업데이트</a:t>
            </a:r>
            <a:endParaRPr lang="en-US" altLang="ko-KR" sz="2000" b="0" dirty="0">
              <a:effectLst/>
              <a:latin typeface="NanumGothic" panose="020D0604000000000000" pitchFamily="34" charset="-127"/>
              <a:ea typeface="NanumGothic" panose="020D0604000000000000" pitchFamily="34" charset="-127"/>
            </a:endParaRPr>
          </a:p>
          <a:p>
            <a:pPr lvl="1"/>
            <a:r>
              <a:rPr lang="ko-KR" altLang="en-US" sz="1700" dirty="0">
                <a:latin typeface="NanumGothic" panose="020D0604000000000000" pitchFamily="34" charset="-127"/>
                <a:ea typeface="NanumGothic" panose="020D0604000000000000" pitchFamily="34" charset="-127"/>
              </a:rPr>
              <a:t>클라이언트의 </a:t>
            </a:r>
            <a:r>
              <a:rPr lang="en-US" altLang="ko-KR" sz="1700" dirty="0">
                <a:latin typeface="NanumGothic" panose="020D0604000000000000" pitchFamily="34" charset="-127"/>
                <a:ea typeface="NanumGothic" panose="020D0604000000000000" pitchFamily="34" charset="-127"/>
              </a:rPr>
              <a:t>ConsensusState</a:t>
            </a:r>
            <a:r>
              <a:rPr lang="ko-KR" altLang="en-US" sz="1700" dirty="0">
                <a:latin typeface="NanumGothic" panose="020D0604000000000000" pitchFamily="34" charset="-127"/>
                <a:ea typeface="NanumGothic" panose="020D0604000000000000" pitchFamily="34" charset="-127"/>
              </a:rPr>
              <a:t> 업데이트에 필요한 체인의 헤더를 포함</a:t>
            </a:r>
            <a:endParaRPr lang="en-US" sz="1700" b="0" dirty="0">
              <a:effectLst/>
              <a:latin typeface="NanumGothic" panose="020D0604000000000000" pitchFamily="34" charset="-127"/>
              <a:ea typeface="NanumGothic" panose="020D0604000000000000" pitchFamily="34" charset="-127"/>
            </a:endParaRPr>
          </a:p>
          <a:p>
            <a:r>
              <a:rPr lang="en-US" sz="2000" dirty="0" err="1">
                <a:latin typeface="NanumGothic" panose="020D0604000000000000" pitchFamily="34" charset="-127"/>
                <a:ea typeface="NanumGothic" panose="020D0604000000000000" pitchFamily="34" charset="-127"/>
              </a:rPr>
              <a:t>ValidatorSet</a:t>
            </a:r>
            <a:endParaRPr lang="en-US"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해당 블록을 실제로 검증한 </a:t>
            </a:r>
            <a:r>
              <a:rPr lang="ko-KR" altLang="en-US" sz="1600" dirty="0" err="1">
                <a:latin typeface="NanumGothic" panose="020D0604000000000000" pitchFamily="34" charset="-127"/>
                <a:ea typeface="NanumGothic" panose="020D0604000000000000" pitchFamily="34" charset="-127"/>
              </a:rPr>
              <a:t>검증자</a:t>
            </a:r>
            <a:r>
              <a:rPr lang="ko-KR" altLang="en-US" sz="1600" dirty="0">
                <a:latin typeface="NanumGothic" panose="020D0604000000000000" pitchFamily="34" charset="-127"/>
                <a:ea typeface="NanumGothic" panose="020D0604000000000000" pitchFamily="34" charset="-127"/>
              </a:rPr>
              <a:t> 집합</a:t>
            </a:r>
            <a:r>
              <a:rPr lang="en-US" altLang="ko-KR" sz="1600" dirty="0">
                <a:latin typeface="NanumGothic" panose="020D0604000000000000" pitchFamily="34" charset="-127"/>
                <a:ea typeface="NanumGothic" panose="020D0604000000000000" pitchFamily="34" charset="-127"/>
              </a:rPr>
              <a:t>(</a:t>
            </a:r>
            <a:r>
              <a:rPr lang="en-US" altLang="ko-KR" sz="1600" dirty="0" err="1">
                <a:latin typeface="NanumGothic" panose="020D0604000000000000" pitchFamily="34" charset="-127"/>
                <a:ea typeface="NanumGothic" panose="020D0604000000000000" pitchFamily="34" charset="-127"/>
              </a:rPr>
              <a:t>consensusState</a:t>
            </a:r>
            <a:r>
              <a:rPr lang="ko-KR" altLang="en-US" sz="1600" dirty="0">
                <a:latin typeface="NanumGothic" panose="020D0604000000000000" pitchFamily="34" charset="-127"/>
                <a:ea typeface="NanumGothic" panose="020D0604000000000000" pitchFamily="34" charset="-127"/>
              </a:rPr>
              <a:t>의 </a:t>
            </a:r>
            <a:r>
              <a:rPr lang="en-US" altLang="ko-KR" sz="1600" dirty="0" err="1">
                <a:latin typeface="NanumGothic" panose="020D0604000000000000" pitchFamily="34" charset="-127"/>
                <a:ea typeface="NanumGothic" panose="020D0604000000000000" pitchFamily="34" charset="-127"/>
              </a:rPr>
              <a:t>nextValidatorSet</a:t>
            </a:r>
            <a:r>
              <a:rPr lang="ko-KR" altLang="en-US" sz="1600" dirty="0">
                <a:latin typeface="NanumGothic" panose="020D0604000000000000" pitchFamily="34" charset="-127"/>
                <a:ea typeface="NanumGothic" panose="020D0604000000000000" pitchFamily="34" charset="-127"/>
              </a:rPr>
              <a:t>과 다름</a:t>
            </a:r>
            <a:r>
              <a:rPr lang="en-US" altLang="ko-KR" sz="1600" dirty="0">
                <a:latin typeface="NanumGothic" panose="020D0604000000000000" pitchFamily="34" charset="-127"/>
                <a:ea typeface="NanumGothic" panose="020D0604000000000000" pitchFamily="34" charset="-127"/>
              </a:rPr>
              <a:t>)</a:t>
            </a:r>
            <a:endParaRPr lang="en-US" sz="1600" b="0" dirty="0">
              <a:effectLst/>
              <a:latin typeface="NanumGothic" panose="020D0604000000000000" pitchFamily="34" charset="-127"/>
              <a:ea typeface="NanumGothic" panose="020D0604000000000000" pitchFamily="34" charset="-127"/>
            </a:endParaRPr>
          </a:p>
          <a:p>
            <a:r>
              <a:rPr lang="en-US" sz="2000" b="0" dirty="0" err="1">
                <a:effectLst/>
                <a:latin typeface="NanumGothic" panose="020D0604000000000000" pitchFamily="34" charset="-127"/>
                <a:ea typeface="NanumGothic" panose="020D0604000000000000" pitchFamily="34" charset="-127"/>
              </a:rPr>
              <a:t>TrustedHeight</a:t>
            </a:r>
            <a:endParaRPr lang="en-US" sz="2000" b="0" dirty="0">
              <a:effectLst/>
              <a:latin typeface="NanumGothic" panose="020D0604000000000000" pitchFamily="34" charset="-127"/>
              <a:ea typeface="NanumGothic" panose="020D0604000000000000" pitchFamily="34" charset="-127"/>
            </a:endParaRPr>
          </a:p>
          <a:p>
            <a:pPr lvl="1"/>
            <a:r>
              <a:rPr lang="en-US" sz="1600" dirty="0">
                <a:latin typeface="NanumGothic" panose="020D0604000000000000" pitchFamily="34" charset="-127"/>
                <a:ea typeface="NanumGothic" panose="020D0604000000000000" pitchFamily="34" charset="-127"/>
              </a:rPr>
              <a:t>ConsensusState</a:t>
            </a:r>
            <a:r>
              <a:rPr lang="ko-KR" altLang="en-US" sz="1600" dirty="0">
                <a:latin typeface="NanumGothic" panose="020D0604000000000000" pitchFamily="34" charset="-127"/>
                <a:ea typeface="NanumGothic" panose="020D0604000000000000" pitchFamily="34" charset="-127"/>
              </a:rPr>
              <a:t>에 해당하는 블록 높이</a:t>
            </a:r>
            <a:endParaRPr lang="en-US" sz="1600" b="0" dirty="0">
              <a:effectLst/>
              <a:latin typeface="NanumGothic" panose="020D0604000000000000" pitchFamily="34" charset="-127"/>
              <a:ea typeface="NanumGothic" panose="020D0604000000000000" pitchFamily="34" charset="-127"/>
            </a:endParaRPr>
          </a:p>
          <a:p>
            <a:r>
              <a:rPr lang="en-US" sz="2000" b="0" dirty="0" err="1">
                <a:effectLst/>
                <a:latin typeface="NanumGothic" panose="020D0604000000000000" pitchFamily="34" charset="-127"/>
                <a:ea typeface="NanumGothic" panose="020D0604000000000000" pitchFamily="34" charset="-127"/>
              </a:rPr>
              <a:t>TrustedValidatorSet</a:t>
            </a:r>
            <a:endParaRPr lang="en-US" sz="2000" b="0" dirty="0">
              <a:effectLst/>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다음 블록에 사용될 약속된 </a:t>
            </a:r>
            <a:r>
              <a:rPr lang="ko-KR" altLang="en-US" sz="1600" dirty="0" err="1">
                <a:latin typeface="NanumGothic" panose="020D0604000000000000" pitchFamily="34" charset="-127"/>
                <a:ea typeface="NanumGothic" panose="020D0604000000000000" pitchFamily="34" charset="-127"/>
              </a:rPr>
              <a:t>검증자</a:t>
            </a:r>
            <a:r>
              <a:rPr lang="ko-KR" altLang="en-US" sz="1600" dirty="0">
                <a:latin typeface="NanumGothic" panose="020D0604000000000000" pitchFamily="34" charset="-127"/>
                <a:ea typeface="NanumGothic" panose="020D0604000000000000" pitchFamily="34" charset="-127"/>
              </a:rPr>
              <a:t> 집합</a:t>
            </a:r>
            <a:endParaRPr lang="en-US" sz="1600" b="0" dirty="0">
              <a:effectLst/>
              <a:latin typeface="NanumGothic" panose="020D0604000000000000" pitchFamily="34" charset="-127"/>
              <a:ea typeface="NanumGothic" panose="020D0604000000000000" pitchFamily="34" charset="-127"/>
            </a:endParaRPr>
          </a:p>
          <a:p>
            <a:pPr lvl="1"/>
            <a:r>
              <a:rPr lang="en-US" sz="1600" dirty="0">
                <a:latin typeface="NanumGothic" panose="020D0604000000000000" pitchFamily="34" charset="-127"/>
                <a:ea typeface="NanumGothic" panose="020D0604000000000000" pitchFamily="34" charset="-127"/>
              </a:rPr>
              <a:t>ConsensusState</a:t>
            </a:r>
            <a:r>
              <a:rPr lang="ko-KR" altLang="en-US" sz="1600" dirty="0">
                <a:latin typeface="NanumGothic" panose="020D0604000000000000" pitchFamily="34" charset="-127"/>
                <a:ea typeface="NanumGothic" panose="020D0604000000000000" pitchFamily="34" charset="-127"/>
              </a:rPr>
              <a:t>의 </a:t>
            </a:r>
            <a:r>
              <a:rPr lang="en-US" altLang="ko-KR" sz="1600" dirty="0" err="1">
                <a:latin typeface="NanumGothic" panose="020D0604000000000000" pitchFamily="34" charset="-127"/>
                <a:ea typeface="NanumGothic" panose="020D0604000000000000" pitchFamily="34" charset="-127"/>
              </a:rPr>
              <a:t>nextValidatorsHash</a:t>
            </a:r>
            <a:r>
              <a:rPr lang="ko-KR" altLang="en-US" sz="1600" dirty="0">
                <a:latin typeface="NanumGothic" panose="020D0604000000000000" pitchFamily="34" charset="-127"/>
                <a:ea typeface="NanumGothic" panose="020D0604000000000000" pitchFamily="34" charset="-127"/>
              </a:rPr>
              <a:t> 생성에 사용</a:t>
            </a:r>
            <a:endParaRPr lang="en-US" sz="1600" b="0" dirty="0">
              <a:effectLst/>
              <a:latin typeface="NanumGothic" panose="020D0604000000000000" pitchFamily="34" charset="-127"/>
              <a:ea typeface="NanumGothic" panose="020D0604000000000000" pitchFamily="34" charset="-127"/>
            </a:endParaRPr>
          </a:p>
          <a:p>
            <a:endParaRPr lang="en-US" sz="20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510113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Client</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[7/7]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 </a:t>
            </a:r>
            <a:r>
              <a:rPr lang="ko-KR" altLang="en-US" sz="1000" dirty="0"/>
              <a:t>프로토콜 보안 모델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CA5D1B6E-0494-724D-49AF-0ADFB85CB148}"/>
              </a:ext>
            </a:extLst>
          </p:cNvPr>
          <p:cNvSpPr>
            <a:spLocks noGrp="1"/>
          </p:cNvSpPr>
          <p:nvPr>
            <p:ph idx="1"/>
          </p:nvPr>
        </p:nvSpPr>
        <p:spPr>
          <a:xfrm>
            <a:off x="838200" y="1766004"/>
            <a:ext cx="10515600" cy="4594692"/>
          </a:xfrm>
        </p:spPr>
        <p:txBody>
          <a:bodyPr>
            <a:normAutofit/>
          </a:bodyPr>
          <a:lstStyle/>
          <a:p>
            <a:r>
              <a:rPr lang="en-US" sz="2000" dirty="0" err="1">
                <a:latin typeface="NanumGothic" panose="020D0604000000000000" pitchFamily="34" charset="-127"/>
                <a:ea typeface="NanumGothic" panose="020D0604000000000000" pitchFamily="34" charset="-127"/>
              </a:rPr>
              <a:t>CometBFT</a:t>
            </a:r>
            <a:r>
              <a:rPr lang="ko-KR" altLang="en-US" sz="2000" dirty="0">
                <a:latin typeface="NanumGothic" panose="020D0604000000000000" pitchFamily="34" charset="-127"/>
                <a:ea typeface="NanumGothic" panose="020D0604000000000000" pitchFamily="34" charset="-127"/>
              </a:rPr>
              <a:t> 합의 알고리즘</a:t>
            </a:r>
            <a:endParaRPr lang="en-US" altLang="ko-KR" sz="2000" dirty="0">
              <a:latin typeface="NanumGothic" panose="020D0604000000000000" pitchFamily="34" charset="-127"/>
              <a:ea typeface="NanumGothic" panose="020D0604000000000000" pitchFamily="34" charset="-127"/>
            </a:endParaRPr>
          </a:p>
          <a:p>
            <a:pPr lvl="1"/>
            <a:r>
              <a:rPr lang="en-US" sz="1600" dirty="0" err="1">
                <a:latin typeface="NanumGothic" panose="020D0604000000000000" pitchFamily="34" charset="-127"/>
                <a:ea typeface="NanumGothic" panose="020D0604000000000000" pitchFamily="34" charset="-127"/>
              </a:rPr>
              <a:t>CometBFT</a:t>
            </a:r>
            <a:r>
              <a:rPr lang="en-US"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전 </a:t>
            </a:r>
            <a:r>
              <a:rPr lang="en-US" altLang="ko-KR" sz="1600" dirty="0" err="1">
                <a:latin typeface="NanumGothic" panose="020D0604000000000000" pitchFamily="34" charset="-127"/>
                <a:ea typeface="NanumGothic" panose="020D0604000000000000" pitchFamily="34" charset="-127"/>
              </a:rPr>
              <a:t>Tendermint</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기반의 시스템 내 각 노드는 일정한 투표 권한</a:t>
            </a:r>
            <a:r>
              <a:rPr lang="en-US" altLang="ko-KR" sz="1600" dirty="0">
                <a:latin typeface="NanumGothic" panose="020D0604000000000000" pitchFamily="34" charset="-127"/>
                <a:ea typeface="NanumGothic" panose="020D0604000000000000" pitchFamily="34" charset="-127"/>
              </a:rPr>
              <a:t>(voting power)</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소유</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각 라운드마다 제안자</a:t>
            </a:r>
            <a:r>
              <a:rPr lang="en-US" altLang="ko-KR" sz="1600" dirty="0">
                <a:latin typeface="NanumGothic" panose="020D0604000000000000" pitchFamily="34" charset="-127"/>
                <a:ea typeface="NanumGothic" panose="020D0604000000000000" pitchFamily="34" charset="-127"/>
              </a:rPr>
              <a:t>(proposer)</a:t>
            </a:r>
            <a:r>
              <a:rPr lang="ko-KR" altLang="en-US" sz="1600" dirty="0">
                <a:latin typeface="NanumGothic" panose="020D0604000000000000" pitchFamily="34" charset="-127"/>
                <a:ea typeface="NanumGothic" panose="020D0604000000000000" pitchFamily="34" charset="-127"/>
              </a:rPr>
              <a:t>가 존재하며</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제안자는 새로운 블록에 대해 제안하고 다른 노드가 이에 투표</a:t>
            </a:r>
            <a:endParaRPr lang="en-US" altLang="ko-KR" sz="16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투표 방식</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제안자가 제안한 블록은 다수의 노드에서 </a:t>
            </a:r>
            <a:r>
              <a:rPr lang="en-US" altLang="ko-KR" sz="1600" dirty="0" err="1">
                <a:latin typeface="NanumGothic" panose="020D0604000000000000" pitchFamily="34" charset="-127"/>
                <a:ea typeface="NanumGothic" panose="020D0604000000000000" pitchFamily="34" charset="-127"/>
              </a:rPr>
              <a:t>prevote</a:t>
            </a:r>
            <a:r>
              <a:rPr lang="en-US" altLang="ko-KR" sz="1600" dirty="0">
                <a:latin typeface="NanumGothic" panose="020D0604000000000000" pitchFamily="34" charset="-127"/>
                <a:ea typeface="NanumGothic" panose="020D0604000000000000" pitchFamily="34" charset="-127"/>
              </a:rPr>
              <a:t>-&gt;</a:t>
            </a:r>
            <a:r>
              <a:rPr lang="en-US" altLang="ko-KR" sz="1600" dirty="0" err="1">
                <a:latin typeface="NanumGothic" panose="020D0604000000000000" pitchFamily="34" charset="-127"/>
                <a:ea typeface="NanumGothic" panose="020D0604000000000000" pitchFamily="34" charset="-127"/>
              </a:rPr>
              <a:t>precommit</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메시지를 통해 검증</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제안자는 </a:t>
            </a:r>
            <a:r>
              <a:rPr lang="en-US" altLang="ko-KR" sz="1600" dirty="0">
                <a:latin typeface="NanumGothic" panose="020D0604000000000000" pitchFamily="34" charset="-127"/>
                <a:ea typeface="NanumGothic" panose="020D0604000000000000" pitchFamily="34" charset="-127"/>
              </a:rPr>
              <a:t>Round-Robin</a:t>
            </a:r>
            <a:r>
              <a:rPr lang="ko-KR" altLang="en-US" sz="1600" dirty="0">
                <a:latin typeface="NanumGothic" panose="020D0604000000000000" pitchFamily="34" charset="-127"/>
                <a:ea typeface="NanumGothic" panose="020D0604000000000000" pitchFamily="34" charset="-127"/>
              </a:rPr>
              <a:t> 방식으로 결정되며</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하나의 블록에 대한 투표를 라운드라고 표현</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투표권의 </a:t>
            </a:r>
            <a:r>
              <a:rPr lang="en-US" altLang="ko-KR" sz="1600" dirty="0">
                <a:latin typeface="NanumGothic" panose="020D0604000000000000" pitchFamily="34" charset="-127"/>
                <a:ea typeface="NanumGothic" panose="020D0604000000000000" pitchFamily="34" charset="-127"/>
              </a:rPr>
              <a:t>2/3</a:t>
            </a:r>
            <a:r>
              <a:rPr lang="ko-KR" altLang="en-US" sz="1600" dirty="0">
                <a:latin typeface="NanumGothic" panose="020D0604000000000000" pitchFamily="34" charset="-127"/>
                <a:ea typeface="NanumGothic" panose="020D0604000000000000" pitchFamily="34" charset="-127"/>
              </a:rPr>
              <a:t> 이상의 </a:t>
            </a:r>
            <a:r>
              <a:rPr lang="en-US" altLang="ko-KR" sz="1600" dirty="0">
                <a:latin typeface="NanumGothic" panose="020D0604000000000000" pitchFamily="34" charset="-127"/>
                <a:ea typeface="NanumGothic" panose="020D0604000000000000" pitchFamily="34" charset="-127"/>
              </a:rPr>
              <a:t>voting</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power</a:t>
            </a:r>
            <a:r>
              <a:rPr lang="ko-KR" altLang="en-US" sz="1600" dirty="0">
                <a:latin typeface="NanumGothic" panose="020D0604000000000000" pitchFamily="34" charset="-127"/>
                <a:ea typeface="NanumGothic" panose="020D0604000000000000" pitchFamily="34" charset="-127"/>
              </a:rPr>
              <a:t>을 얻으면 해당 블록이 최종적으로 승인</a:t>
            </a:r>
            <a:endParaRPr lang="en-US" altLang="ko-KR" sz="1600" dirty="0">
              <a:latin typeface="NanumGothic" panose="020D0604000000000000" pitchFamily="34" charset="-127"/>
              <a:ea typeface="NanumGothic" panose="020D0604000000000000" pitchFamily="34" charset="-127"/>
            </a:endParaRPr>
          </a:p>
          <a:p>
            <a:pPr lvl="2"/>
            <a:r>
              <a:rPr lang="en-US" altLang="ko-KR" sz="1200" dirty="0">
                <a:latin typeface="NanumGothic" panose="020D0604000000000000" pitchFamily="34" charset="-127"/>
                <a:ea typeface="NanumGothic" panose="020D0604000000000000" pitchFamily="34" charset="-127"/>
              </a:rPr>
              <a:t>n=3f+1</a:t>
            </a:r>
            <a:r>
              <a:rPr lang="ko-KR" altLang="en-US" sz="1200" dirty="0">
                <a:latin typeface="NanumGothic" panose="020D0604000000000000" pitchFamily="34" charset="-127"/>
                <a:ea typeface="NanumGothic" panose="020D0604000000000000" pitchFamily="34" charset="-127"/>
              </a:rPr>
              <a:t> </a:t>
            </a:r>
            <a:r>
              <a:rPr lang="en-US" altLang="ko-KR" sz="1200" dirty="0">
                <a:latin typeface="NanumGothic" panose="020D0604000000000000" pitchFamily="34" charset="-127"/>
                <a:ea typeface="NanumGothic" panose="020D0604000000000000" pitchFamily="34" charset="-127"/>
              </a:rPr>
              <a:t>(n=</a:t>
            </a:r>
            <a:r>
              <a:rPr lang="ko-KR" altLang="en-US" sz="1200" dirty="0">
                <a:latin typeface="NanumGothic" panose="020D0604000000000000" pitchFamily="34" charset="-127"/>
                <a:ea typeface="NanumGothic" panose="020D0604000000000000" pitchFamily="34" charset="-127"/>
              </a:rPr>
              <a:t>시스템 전체 노드 수</a:t>
            </a:r>
            <a:r>
              <a:rPr lang="en-US" altLang="ko-KR" sz="1200" dirty="0">
                <a:latin typeface="NanumGothic" panose="020D0604000000000000" pitchFamily="34" charset="-127"/>
                <a:ea typeface="NanumGothic" panose="020D0604000000000000" pitchFamily="34" charset="-127"/>
              </a:rPr>
              <a:t>,</a:t>
            </a:r>
            <a:r>
              <a:rPr lang="ko-KR" altLang="en-US" sz="1200" dirty="0">
                <a:latin typeface="NanumGothic" panose="020D0604000000000000" pitchFamily="34" charset="-127"/>
                <a:ea typeface="NanumGothic" panose="020D0604000000000000" pitchFamily="34" charset="-127"/>
              </a:rPr>
              <a:t> </a:t>
            </a:r>
            <a:r>
              <a:rPr lang="en-US" altLang="ko-KR" sz="1200" dirty="0">
                <a:latin typeface="NanumGothic" panose="020D0604000000000000" pitchFamily="34" charset="-127"/>
                <a:ea typeface="NanumGothic" panose="020D0604000000000000" pitchFamily="34" charset="-127"/>
              </a:rPr>
              <a:t>f=</a:t>
            </a:r>
            <a:r>
              <a:rPr lang="ko-KR" altLang="en-US" sz="1200" dirty="0">
                <a:latin typeface="NanumGothic" panose="020D0604000000000000" pitchFamily="34" charset="-127"/>
                <a:ea typeface="NanumGothic" panose="020D0604000000000000" pitchFamily="34" charset="-127"/>
              </a:rPr>
              <a:t>비잔틴 오류를 발생시킬 수 있는 최대 노드 수</a:t>
            </a:r>
            <a:r>
              <a:rPr lang="en-US" altLang="ko-KR" sz="1200" dirty="0">
                <a:latin typeface="NanumGothic" panose="020D0604000000000000" pitchFamily="34" charset="-127"/>
                <a:ea typeface="NanumGothic" panose="020D0604000000000000" pitchFamily="34" charset="-127"/>
              </a:rPr>
              <a:t>)</a:t>
            </a:r>
          </a:p>
          <a:p>
            <a:pPr lvl="1"/>
            <a:r>
              <a:rPr lang="en-US" altLang="ko-KR" sz="1600" dirty="0" err="1">
                <a:latin typeface="NanumGothic" panose="020D0604000000000000" pitchFamily="34" charset="-127"/>
                <a:ea typeface="NanumGothic" panose="020D0604000000000000" pitchFamily="34" charset="-127"/>
              </a:rPr>
              <a:t>Prevote</a:t>
            </a:r>
            <a:endParaRPr lang="en-US" altLang="ko-KR" sz="1600" dirty="0">
              <a:latin typeface="NanumGothic" panose="020D0604000000000000" pitchFamily="34" charset="-127"/>
              <a:ea typeface="NanumGothic" panose="020D0604000000000000" pitchFamily="34" charset="-127"/>
            </a:endParaRPr>
          </a:p>
          <a:p>
            <a:pPr lvl="2"/>
            <a:r>
              <a:rPr lang="ko-KR" altLang="en-US" sz="1200" dirty="0">
                <a:latin typeface="NanumGothic" panose="020D0604000000000000" pitchFamily="34" charset="-127"/>
                <a:ea typeface="NanumGothic" panose="020D0604000000000000" pitchFamily="34" charset="-127"/>
              </a:rPr>
              <a:t>제안자가 제안한 블록을 검토 후 승인하였다는 내용을 다른 노드에게 전달하는 메시지</a:t>
            </a:r>
            <a:endParaRPr lang="en-US" altLang="ko-KR" sz="1200" dirty="0">
              <a:latin typeface="NanumGothic" panose="020D0604000000000000" pitchFamily="34" charset="-127"/>
              <a:ea typeface="NanumGothic" panose="020D0604000000000000" pitchFamily="34" charset="-127"/>
            </a:endParaRPr>
          </a:p>
          <a:p>
            <a:pPr lvl="1"/>
            <a:r>
              <a:rPr lang="en-US" altLang="ko-KR" sz="1600" dirty="0" err="1">
                <a:latin typeface="NanumGothic" panose="020D0604000000000000" pitchFamily="34" charset="-127"/>
                <a:ea typeface="NanumGothic" panose="020D0604000000000000" pitchFamily="34" charset="-127"/>
              </a:rPr>
              <a:t>Precommit</a:t>
            </a:r>
            <a:r>
              <a:rPr lang="en-US" altLang="ko-KR" sz="1600" dirty="0">
                <a:latin typeface="NanumGothic" panose="020D0604000000000000" pitchFamily="34" charset="-127"/>
                <a:ea typeface="NanumGothic" panose="020D0604000000000000" pitchFamily="34" charset="-127"/>
              </a:rPr>
              <a:t>	</a:t>
            </a:r>
          </a:p>
          <a:p>
            <a:pPr lvl="2"/>
            <a:r>
              <a:rPr lang="ko-KR" altLang="en-US" sz="1200" dirty="0">
                <a:latin typeface="NanumGothic" panose="020D0604000000000000" pitchFamily="34" charset="-127"/>
                <a:ea typeface="NanumGothic" panose="020D0604000000000000" pitchFamily="34" charset="-127"/>
              </a:rPr>
              <a:t>다른 노드로부터 </a:t>
            </a:r>
            <a:r>
              <a:rPr lang="en-US" altLang="ko-KR" sz="1200" dirty="0">
                <a:latin typeface="NanumGothic" panose="020D0604000000000000" pitchFamily="34" charset="-127"/>
                <a:ea typeface="NanumGothic" panose="020D0604000000000000" pitchFamily="34" charset="-127"/>
              </a:rPr>
              <a:t>2f+1</a:t>
            </a:r>
            <a:r>
              <a:rPr lang="ko-KR" altLang="en-US" sz="1200" dirty="0">
                <a:latin typeface="NanumGothic" panose="020D0604000000000000" pitchFamily="34" charset="-127"/>
                <a:ea typeface="NanumGothic" panose="020D0604000000000000" pitchFamily="34" charset="-127"/>
              </a:rPr>
              <a:t>개의 </a:t>
            </a:r>
            <a:r>
              <a:rPr lang="en-US" altLang="ko-KR" sz="1200" dirty="0" err="1">
                <a:latin typeface="NanumGothic" panose="020D0604000000000000" pitchFamily="34" charset="-127"/>
                <a:ea typeface="NanumGothic" panose="020D0604000000000000" pitchFamily="34" charset="-127"/>
              </a:rPr>
              <a:t>prevote</a:t>
            </a:r>
            <a:r>
              <a:rPr lang="ko-KR" altLang="en-US" sz="1200" dirty="0">
                <a:latin typeface="NanumGothic" panose="020D0604000000000000" pitchFamily="34" charset="-127"/>
                <a:ea typeface="NanumGothic" panose="020D0604000000000000" pitchFamily="34" charset="-127"/>
              </a:rPr>
              <a:t> 메시지를 받은 노드가 다른 노드에게 전달하는 메시지</a:t>
            </a:r>
            <a:endParaRPr lang="en-US" altLang="ko-KR" sz="1200" dirty="0">
              <a:latin typeface="NanumGothic" panose="020D0604000000000000" pitchFamily="34" charset="-127"/>
              <a:ea typeface="NanumGothic" panose="020D0604000000000000" pitchFamily="34" charset="-127"/>
            </a:endParaRPr>
          </a:p>
          <a:p>
            <a:pPr lvl="2"/>
            <a:r>
              <a:rPr lang="ko-KR" altLang="en-US" sz="1200" dirty="0">
                <a:latin typeface="NanumGothic" panose="020D0604000000000000" pitchFamily="34" charset="-127"/>
                <a:ea typeface="NanumGothic" panose="020D0604000000000000" pitchFamily="34" charset="-127"/>
              </a:rPr>
              <a:t>다른 노드로부터 </a:t>
            </a:r>
            <a:r>
              <a:rPr lang="en-US" altLang="ko-KR" sz="1200" dirty="0">
                <a:latin typeface="NanumGothic" panose="020D0604000000000000" pitchFamily="34" charset="-127"/>
                <a:ea typeface="NanumGothic" panose="020D0604000000000000" pitchFamily="34" charset="-127"/>
              </a:rPr>
              <a:t>2f+1</a:t>
            </a:r>
            <a:r>
              <a:rPr lang="ko-KR" altLang="en-US" sz="1200" dirty="0">
                <a:latin typeface="NanumGothic" panose="020D0604000000000000" pitchFamily="34" charset="-127"/>
                <a:ea typeface="NanumGothic" panose="020D0604000000000000" pitchFamily="34" charset="-127"/>
              </a:rPr>
              <a:t>개 이상의 </a:t>
            </a:r>
            <a:r>
              <a:rPr lang="en-US" altLang="ko-KR" sz="1200" dirty="0" err="1">
                <a:latin typeface="NanumGothic" panose="020D0604000000000000" pitchFamily="34" charset="-127"/>
                <a:ea typeface="NanumGothic" panose="020D0604000000000000" pitchFamily="34" charset="-127"/>
              </a:rPr>
              <a:t>precommit</a:t>
            </a:r>
            <a:r>
              <a:rPr lang="ko-KR" altLang="en-US" sz="1200" dirty="0">
                <a:latin typeface="NanumGothic" panose="020D0604000000000000" pitchFamily="34" charset="-127"/>
                <a:ea typeface="NanumGothic" panose="020D0604000000000000" pitchFamily="34" charset="-127"/>
              </a:rPr>
              <a:t> 메시지를 받으면 최종 합의 상태로 변경</a:t>
            </a:r>
            <a:endParaRPr lang="en-US" altLang="ko-KR" sz="1200" dirty="0">
              <a:latin typeface="NanumGothic" panose="020D0604000000000000" pitchFamily="34" charset="-127"/>
              <a:ea typeface="NanumGothic" panose="020D0604000000000000" pitchFamily="34" charset="-127"/>
            </a:endParaRPr>
          </a:p>
        </p:txBody>
      </p:sp>
      <p:sp>
        <p:nvSpPr>
          <p:cNvPr id="14" name="Rectangle 13">
            <a:extLst>
              <a:ext uri="{FF2B5EF4-FFF2-40B4-BE49-F238E27FC236}">
                <a16:creationId xmlns:a16="http://schemas.microsoft.com/office/drawing/2014/main" id="{ED34C1D6-7AA0-143D-82B2-E7C6081359E7}"/>
              </a:ext>
            </a:extLst>
          </p:cNvPr>
          <p:cNvSpPr/>
          <p:nvPr/>
        </p:nvSpPr>
        <p:spPr>
          <a:xfrm>
            <a:off x="6815248" y="5869700"/>
            <a:ext cx="4538552" cy="4909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400" b="0" dirty="0">
                <a:effectLst/>
                <a:latin typeface="NanumGothic" panose="020D0604000000000000" pitchFamily="34" charset="-127"/>
                <a:ea typeface="NanumGothic" panose="020D0604000000000000" pitchFamily="34" charset="-127"/>
              </a:rPr>
              <a:t> </a:t>
            </a:r>
            <a:r>
              <a:rPr lang="en-US" sz="1400" b="0" dirty="0">
                <a:effectLst/>
                <a:latin typeface="NanumGothic" panose="020D0604000000000000" pitchFamily="34" charset="-127"/>
                <a:ea typeface="NanumGothic" panose="020D0604000000000000" pitchFamily="34" charset="-127"/>
              </a:rPr>
              <a:t>T</a:t>
            </a:r>
            <a:r>
              <a:rPr lang="en-US" sz="1400" dirty="0">
                <a:latin typeface="NanumGothic" panose="020D0604000000000000" pitchFamily="34" charset="-127"/>
                <a:ea typeface="NanumGothic" panose="020D0604000000000000" pitchFamily="34" charset="-127"/>
              </a:rPr>
              <a:t>he latest gossip on BFT consensus</a:t>
            </a:r>
          </a:p>
          <a:p>
            <a:r>
              <a:rPr lang="en-US" altLang="ko-KR" sz="1400" dirty="0">
                <a:latin typeface="NanumGothic" panose="020D0604000000000000" pitchFamily="34" charset="-127"/>
                <a:ea typeface="NanumGothic" panose="020D0604000000000000" pitchFamily="34" charset="-127"/>
              </a:rPr>
              <a:t>-</a:t>
            </a:r>
            <a:r>
              <a:rPr lang="ko-KR" altLang="en-US" sz="1400" dirty="0">
                <a:latin typeface="NanumGothic" panose="020D0604000000000000" pitchFamily="34" charset="-127"/>
                <a:ea typeface="NanumGothic" panose="020D0604000000000000" pitchFamily="34" charset="-127"/>
              </a:rPr>
              <a:t> </a:t>
            </a:r>
            <a:r>
              <a:rPr lang="en-US" sz="1400" dirty="0">
                <a:latin typeface="NanumGothic" panose="020D0604000000000000" pitchFamily="34" charset="-127"/>
                <a:ea typeface="NanumGothic" panose="020D0604000000000000" pitchFamily="34" charset="-127"/>
              </a:rPr>
              <a:t>Ethan Buchman, Jae Kwon and Zarko Milosevic</a:t>
            </a:r>
            <a:endParaRPr lang="en-KR" sz="1300" dirty="0"/>
          </a:p>
        </p:txBody>
      </p:sp>
    </p:spTree>
    <p:extLst>
      <p:ext uri="{BB962C8B-B14F-4D97-AF65-F5344CB8AC3E}">
        <p14:creationId xmlns:p14="http://schemas.microsoft.com/office/powerpoint/2010/main" val="2813330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Bridge</a:t>
            </a:r>
            <a:endParaRPr lang="en-KR" sz="4000" dirty="0">
              <a:latin typeface="NanumGothic" panose="020D0604000000000000" pitchFamily="34" charset="-127"/>
              <a:ea typeface="NanumGothic" panose="020D0604000000000000" pitchFamily="34" charset="-127"/>
            </a:endParaRPr>
          </a:p>
        </p:txBody>
      </p:sp>
      <p:sp>
        <p:nvSpPr>
          <p:cNvPr id="3" name="Content Placeholder 2">
            <a:extLst>
              <a:ext uri="{FF2B5EF4-FFF2-40B4-BE49-F238E27FC236}">
                <a16:creationId xmlns:a16="http://schemas.microsoft.com/office/drawing/2014/main" id="{5017D327-DB33-B677-AD74-724CD2559DBC}"/>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서로 다른 두 체인 간 자산을 교환하기 위해 사용</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자산을 보내는 체인</a:t>
            </a:r>
            <a:r>
              <a:rPr lang="en-US" altLang="ko-KR" sz="1600" dirty="0">
                <a:latin typeface="NanumGothic" panose="020D0604000000000000" pitchFamily="34" charset="-127"/>
                <a:ea typeface="NanumGothic" panose="020D0604000000000000" pitchFamily="34" charset="-127"/>
              </a:rPr>
              <a:t>(source)</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자산 잠금</a:t>
            </a:r>
            <a:r>
              <a:rPr lang="en-US" altLang="ko-KR" sz="1600" dirty="0">
                <a:latin typeface="NanumGothic" panose="020D0604000000000000" pitchFamily="34" charset="-127"/>
                <a:ea typeface="NanumGothic" panose="020D0604000000000000" pitchFamily="34" charset="-127"/>
              </a:rPr>
              <a:t>(lock)</a:t>
            </a:r>
          </a:p>
          <a:p>
            <a:pPr lvl="1"/>
            <a:r>
              <a:rPr lang="ko-KR" altLang="en-US" sz="1600" b="0" dirty="0">
                <a:effectLst/>
                <a:latin typeface="NanumGothic" panose="020D0604000000000000" pitchFamily="34" charset="-127"/>
                <a:ea typeface="NanumGothic" panose="020D0604000000000000" pitchFamily="34" charset="-127"/>
              </a:rPr>
              <a:t>자산을 받는 체인</a:t>
            </a:r>
            <a:r>
              <a:rPr lang="en-US" altLang="ko-KR" sz="1600" b="0" dirty="0">
                <a:effectLst/>
                <a:latin typeface="NanumGothic" panose="020D0604000000000000" pitchFamily="34" charset="-127"/>
                <a:ea typeface="NanumGothic" panose="020D0604000000000000" pitchFamily="34" charset="-127"/>
              </a:rPr>
              <a:t>(destination)</a:t>
            </a:r>
            <a:r>
              <a:rPr lang="ko-KR" altLang="en-US" sz="1600" b="0" dirty="0">
                <a:effectLst/>
                <a:latin typeface="NanumGothic" panose="020D0604000000000000" pitchFamily="34" charset="-127"/>
                <a:ea typeface="NanumGothic" panose="020D0604000000000000" pitchFamily="34" charset="-127"/>
              </a:rPr>
              <a:t> </a:t>
            </a:r>
            <a:r>
              <a:rPr lang="en-US" altLang="ko-KR" sz="1600" b="0" dirty="0">
                <a:effectLst/>
                <a:latin typeface="NanumGothic" panose="020D0604000000000000" pitchFamily="34" charset="-127"/>
                <a:ea typeface="NanumGothic" panose="020D0604000000000000" pitchFamily="34" charset="-127"/>
              </a:rPr>
              <a:t>: </a:t>
            </a:r>
            <a:r>
              <a:rPr lang="ko-KR" altLang="en-US" sz="1600" b="0" dirty="0">
                <a:effectLst/>
                <a:latin typeface="NanumGothic" panose="020D0604000000000000" pitchFamily="34" charset="-127"/>
                <a:ea typeface="NanumGothic" panose="020D0604000000000000" pitchFamily="34" charset="-127"/>
              </a:rPr>
              <a:t>자산에 해당하는 가치를 지닌 바우처</a:t>
            </a:r>
            <a:r>
              <a:rPr lang="en-US" altLang="ko-KR" sz="1600" b="0" dirty="0">
                <a:effectLst/>
                <a:latin typeface="NanumGothic" panose="020D0604000000000000" pitchFamily="34" charset="-127"/>
                <a:ea typeface="NanumGothic" panose="020D0604000000000000" pitchFamily="34" charset="-127"/>
              </a:rPr>
              <a:t>(voucher)</a:t>
            </a:r>
            <a:r>
              <a:rPr lang="ko-KR" altLang="en-US" sz="1600" b="0" dirty="0">
                <a:effectLst/>
                <a:latin typeface="NanumGothic" panose="020D0604000000000000" pitchFamily="34" charset="-127"/>
                <a:ea typeface="NanumGothic" panose="020D0604000000000000" pitchFamily="34" charset="-127"/>
              </a:rPr>
              <a:t> 토큰 발행</a:t>
            </a:r>
            <a:r>
              <a:rPr lang="en-US" altLang="ko-KR" sz="1600" b="0" dirty="0">
                <a:effectLst/>
                <a:latin typeface="NanumGothic" panose="020D0604000000000000" pitchFamily="34" charset="-127"/>
                <a:ea typeface="NanumGothic" panose="020D0604000000000000" pitchFamily="34" charset="-127"/>
              </a:rPr>
              <a:t>(mint)</a:t>
            </a:r>
          </a:p>
          <a:p>
            <a:r>
              <a:rPr lang="ko-KR" altLang="en-US" sz="2000" b="0" dirty="0">
                <a:effectLst/>
                <a:latin typeface="NanumGothic" panose="020D0604000000000000" pitchFamily="34" charset="-127"/>
                <a:ea typeface="NanumGothic" panose="020D0604000000000000" pitchFamily="34" charset="-127"/>
              </a:rPr>
              <a:t>자산 이동을 검증하는 주체에 따라 </a:t>
            </a:r>
            <a:r>
              <a:rPr lang="en-US" altLang="ko-KR" sz="2000" b="0" dirty="0">
                <a:effectLst/>
                <a:latin typeface="NanumGothic" panose="020D0604000000000000" pitchFamily="34" charset="-127"/>
                <a:ea typeface="NanumGothic" panose="020D0604000000000000" pitchFamily="34" charset="-127"/>
              </a:rPr>
              <a:t>Trusted, Trustless </a:t>
            </a:r>
            <a:r>
              <a:rPr lang="ko-KR" altLang="en-US" sz="2000" b="0" dirty="0">
                <a:effectLst/>
                <a:latin typeface="NanumGothic" panose="020D0604000000000000" pitchFamily="34" charset="-127"/>
                <a:ea typeface="NanumGothic" panose="020D0604000000000000" pitchFamily="34" charset="-127"/>
              </a:rPr>
              <a:t>방식으로 구분</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Trusted</a:t>
            </a:r>
          </a:p>
          <a:p>
            <a:pPr lvl="2"/>
            <a:r>
              <a:rPr lang="ko-KR" altLang="en-US" sz="1200" b="0" dirty="0">
                <a:effectLst/>
                <a:latin typeface="NanumGothic" panose="020D0604000000000000" pitchFamily="34" charset="-127"/>
                <a:ea typeface="NanumGothic" panose="020D0604000000000000" pitchFamily="34" charset="-127"/>
              </a:rPr>
              <a:t>각 체인이 직접 연결되어 있고</a:t>
            </a:r>
            <a:r>
              <a:rPr lang="en-US" altLang="ko-KR" sz="1200" b="0" dirty="0">
                <a:effectLst/>
                <a:latin typeface="NanumGothic" panose="020D0604000000000000" pitchFamily="34" charset="-127"/>
                <a:ea typeface="NanumGothic" panose="020D0604000000000000" pitchFamily="34" charset="-127"/>
              </a:rPr>
              <a:t>,</a:t>
            </a:r>
            <a:r>
              <a:rPr lang="ko-KR" altLang="en-US" sz="1200" b="0" dirty="0">
                <a:effectLst/>
                <a:latin typeface="NanumGothic" panose="020D0604000000000000" pitchFamily="34" charset="-127"/>
                <a:ea typeface="NanumGothic" panose="020D0604000000000000" pitchFamily="34" charset="-127"/>
              </a:rPr>
              <a:t> </a:t>
            </a:r>
            <a:r>
              <a:rPr lang="ko-KR" altLang="en-US" sz="1200" b="0" dirty="0" err="1">
                <a:effectLst/>
                <a:latin typeface="NanumGothic" panose="020D0604000000000000" pitchFamily="34" charset="-127"/>
                <a:ea typeface="NanumGothic" panose="020D0604000000000000" pitchFamily="34" charset="-127"/>
              </a:rPr>
              <a:t>브릿지와</a:t>
            </a:r>
            <a:r>
              <a:rPr lang="ko-KR" altLang="en-US" sz="1200" b="0" dirty="0">
                <a:effectLst/>
                <a:latin typeface="NanumGothic" panose="020D0604000000000000" pitchFamily="34" charset="-127"/>
                <a:ea typeface="NanumGothic" panose="020D0604000000000000" pitchFamily="34" charset="-127"/>
              </a:rPr>
              <a:t> 같은 중계자를 통해 자산 이동을 관리하고 거래를 검증</a:t>
            </a:r>
            <a:endParaRPr lang="en-US" altLang="ko-KR" sz="1200" b="0" dirty="0">
              <a:effectLst/>
              <a:latin typeface="NanumGothic" panose="020D0604000000000000" pitchFamily="34" charset="-127"/>
              <a:ea typeface="NanumGothic" panose="020D0604000000000000" pitchFamily="34" charset="-127"/>
            </a:endParaRPr>
          </a:p>
          <a:p>
            <a:pPr lvl="2"/>
            <a:r>
              <a:rPr lang="ko-KR" altLang="en-US" sz="1200" dirty="0">
                <a:latin typeface="NanumGothic" panose="020D0604000000000000" pitchFamily="34" charset="-127"/>
                <a:ea typeface="NanumGothic" panose="020D0604000000000000" pitchFamily="34" charset="-127"/>
              </a:rPr>
              <a:t>중계자에서 모든 자산을 관리 </a:t>
            </a:r>
            <a:r>
              <a:rPr lang="en-US" altLang="ko-KR" sz="1200" dirty="0">
                <a:latin typeface="NanumGothic" panose="020D0604000000000000" pitchFamily="34" charset="-127"/>
                <a:ea typeface="NanumGothic" panose="020D0604000000000000" pitchFamily="34" charset="-127"/>
              </a:rPr>
              <a:t>-&gt;</a:t>
            </a:r>
            <a:r>
              <a:rPr lang="ko-KR" altLang="en-US" sz="1200" dirty="0">
                <a:latin typeface="NanumGothic" panose="020D0604000000000000" pitchFamily="34" charset="-127"/>
                <a:ea typeface="NanumGothic" panose="020D0604000000000000" pitchFamily="34" charset="-127"/>
              </a:rPr>
              <a:t> 단일 </a:t>
            </a:r>
            <a:r>
              <a:rPr lang="ko-KR" altLang="en-US" sz="1200" dirty="0" err="1">
                <a:latin typeface="NanumGothic" panose="020D0604000000000000" pitchFamily="34" charset="-127"/>
                <a:ea typeface="NanumGothic" panose="020D0604000000000000" pitchFamily="34" charset="-127"/>
              </a:rPr>
              <a:t>실패점</a:t>
            </a:r>
            <a:r>
              <a:rPr lang="ko-KR" altLang="en-US" sz="1200" dirty="0">
                <a:latin typeface="NanumGothic" panose="020D0604000000000000" pitchFamily="34" charset="-127"/>
                <a:ea typeface="NanumGothic" panose="020D0604000000000000" pitchFamily="34" charset="-127"/>
              </a:rPr>
              <a:t> 가능성이 존재하며 </a:t>
            </a:r>
            <a:r>
              <a:rPr lang="en-US" altLang="ko-KR" sz="1200" dirty="0">
                <a:latin typeface="NanumGothic" panose="020D0604000000000000" pitchFamily="34" charset="-127"/>
                <a:ea typeface="NanumGothic" panose="020D0604000000000000" pitchFamily="34" charset="-127"/>
              </a:rPr>
              <a:t>trustless</a:t>
            </a:r>
            <a:r>
              <a:rPr lang="ko-KR" altLang="en-US" sz="1200" dirty="0">
                <a:latin typeface="NanumGothic" panose="020D0604000000000000" pitchFamily="34" charset="-127"/>
                <a:ea typeface="NanumGothic" panose="020D0604000000000000" pitchFamily="34" charset="-127"/>
              </a:rPr>
              <a:t> 방식에 비해 보안상 취약할 수 있음</a:t>
            </a:r>
            <a:r>
              <a:rPr lang="en-US" altLang="ko-KR" sz="1200" dirty="0">
                <a:latin typeface="NanumGothic" panose="020D0604000000000000" pitchFamily="34" charset="-127"/>
                <a:ea typeface="NanumGothic" panose="020D0604000000000000" pitchFamily="34" charset="-127"/>
              </a:rPr>
              <a:t> (</a:t>
            </a:r>
            <a:r>
              <a:rPr lang="ko-KR" altLang="en-US" sz="1200" dirty="0">
                <a:latin typeface="NanumGothic" panose="020D0604000000000000" pitchFamily="34" charset="-127"/>
                <a:ea typeface="NanumGothic" panose="020D0604000000000000" pitchFamily="34" charset="-127"/>
              </a:rPr>
              <a:t>예</a:t>
            </a:r>
            <a:r>
              <a:rPr lang="en-US" altLang="ko-KR" sz="1200" dirty="0">
                <a:latin typeface="NanumGothic" panose="020D0604000000000000" pitchFamily="34" charset="-127"/>
                <a:ea typeface="NanumGothic" panose="020D0604000000000000" pitchFamily="34" charset="-127"/>
              </a:rPr>
              <a:t>:</a:t>
            </a:r>
            <a:r>
              <a:rPr lang="ko-KR" altLang="en-US" sz="1200" dirty="0">
                <a:latin typeface="NanumGothic" panose="020D0604000000000000" pitchFamily="34" charset="-127"/>
                <a:ea typeface="NanumGothic" panose="020D0604000000000000" pitchFamily="34" charset="-127"/>
              </a:rPr>
              <a:t> </a:t>
            </a:r>
            <a:r>
              <a:rPr lang="en-US" altLang="ko-KR" sz="1200" dirty="0">
                <a:latin typeface="NanumGothic" panose="020D0604000000000000" pitchFamily="34" charset="-127"/>
                <a:ea typeface="NanumGothic" panose="020D0604000000000000" pitchFamily="34" charset="-127"/>
              </a:rPr>
              <a:t>Ronin Bridge)</a:t>
            </a:r>
          </a:p>
          <a:p>
            <a:pPr lvl="2"/>
            <a:r>
              <a:rPr lang="ko-KR" altLang="en-US" sz="1200" dirty="0">
                <a:latin typeface="NanumGothic" panose="020D0604000000000000" pitchFamily="34" charset="-127"/>
                <a:ea typeface="NanumGothic" panose="020D0604000000000000" pitchFamily="34" charset="-127"/>
              </a:rPr>
              <a:t>기술적으로 </a:t>
            </a:r>
            <a:r>
              <a:rPr lang="en-US" altLang="ko-KR" sz="1200" dirty="0">
                <a:latin typeface="NanumGothic" panose="020D0604000000000000" pitchFamily="34" charset="-127"/>
                <a:ea typeface="NanumGothic" panose="020D0604000000000000" pitchFamily="34" charset="-127"/>
              </a:rPr>
              <a:t>Trustless </a:t>
            </a:r>
            <a:r>
              <a:rPr lang="ko-KR" altLang="en-US" sz="1200" dirty="0">
                <a:latin typeface="NanumGothic" panose="020D0604000000000000" pitchFamily="34" charset="-127"/>
                <a:ea typeface="NanumGothic" panose="020D0604000000000000" pitchFamily="34" charset="-127"/>
              </a:rPr>
              <a:t>방식에 비해 덜 복잡하고 관리에 용이해 많은 프로젝트에서 사용 </a:t>
            </a:r>
            <a:r>
              <a:rPr lang="en-US" altLang="ko-KR" sz="1200" dirty="0">
                <a:latin typeface="NanumGothic" panose="020D0604000000000000" pitchFamily="34" charset="-127"/>
                <a:ea typeface="NanumGothic" panose="020D0604000000000000" pitchFamily="34" charset="-127"/>
              </a:rPr>
              <a:t>(</a:t>
            </a:r>
            <a:r>
              <a:rPr lang="en-US" altLang="ko-KR" sz="1200" dirty="0" err="1">
                <a:latin typeface="NanumGothic" panose="020D0604000000000000" pitchFamily="34" charset="-127"/>
                <a:ea typeface="NanumGothic" panose="020D0604000000000000" pitchFamily="34" charset="-127"/>
              </a:rPr>
              <a:t>Binance</a:t>
            </a:r>
            <a:r>
              <a:rPr lang="en-US" altLang="ko-KR" sz="1200" dirty="0">
                <a:latin typeface="NanumGothic" panose="020D0604000000000000" pitchFamily="34" charset="-127"/>
                <a:ea typeface="NanumGothic" panose="020D0604000000000000" pitchFamily="34" charset="-127"/>
              </a:rPr>
              <a:t>, Polygon </a:t>
            </a:r>
            <a:r>
              <a:rPr lang="en-US" altLang="ko-KR" sz="1200" dirty="0" err="1">
                <a:latin typeface="NanumGothic" panose="020D0604000000000000" pitchFamily="34" charset="-127"/>
                <a:ea typeface="NanumGothic" panose="020D0604000000000000" pitchFamily="34" charset="-127"/>
              </a:rPr>
              <a:t>PoS</a:t>
            </a:r>
            <a:r>
              <a:rPr lang="en-US" altLang="ko-KR" sz="1200" dirty="0">
                <a:latin typeface="NanumGothic" panose="020D0604000000000000" pitchFamily="34" charset="-127"/>
                <a:ea typeface="NanumGothic" panose="020D0604000000000000" pitchFamily="34" charset="-127"/>
              </a:rPr>
              <a:t>, Avalanche, </a:t>
            </a:r>
            <a:r>
              <a:rPr lang="en-US" altLang="ko-KR" sz="1200" dirty="0" err="1">
                <a:latin typeface="NanumGothic" panose="020D0604000000000000" pitchFamily="34" charset="-127"/>
                <a:ea typeface="NanumGothic" panose="020D0604000000000000" pitchFamily="34" charset="-127"/>
              </a:rPr>
              <a:t>etc</a:t>
            </a:r>
            <a:r>
              <a:rPr lang="en-US" altLang="ko-KR" sz="1200" dirty="0">
                <a:latin typeface="NanumGothic" panose="020D0604000000000000" pitchFamily="34" charset="-127"/>
                <a:ea typeface="NanumGothic" panose="020D0604000000000000" pitchFamily="34" charset="-127"/>
              </a:rPr>
              <a:t>)</a:t>
            </a:r>
          </a:p>
          <a:p>
            <a:pPr lvl="1"/>
            <a:r>
              <a:rPr lang="en-US" altLang="ko-KR" sz="1600" dirty="0">
                <a:latin typeface="NanumGothic" panose="020D0604000000000000" pitchFamily="34" charset="-127"/>
                <a:ea typeface="NanumGothic" panose="020D0604000000000000" pitchFamily="34" charset="-127"/>
              </a:rPr>
              <a:t>Trustless</a:t>
            </a:r>
          </a:p>
          <a:p>
            <a:pPr lvl="2"/>
            <a:r>
              <a:rPr lang="ko-KR" altLang="en-US" sz="1200" dirty="0">
                <a:latin typeface="NanumGothic" panose="020D0604000000000000" pitchFamily="34" charset="-127"/>
                <a:ea typeface="NanumGothic" panose="020D0604000000000000" pitchFamily="34" charset="-127"/>
              </a:rPr>
              <a:t>각 체인에서 발생한 자산의 이동이 중계자를 통해 이동하나</a:t>
            </a:r>
            <a:r>
              <a:rPr lang="en-US" altLang="ko-KR" sz="1200" dirty="0">
                <a:latin typeface="NanumGothic" panose="020D0604000000000000" pitchFamily="34" charset="-127"/>
                <a:ea typeface="NanumGothic" panose="020D0604000000000000" pitchFamily="34" charset="-127"/>
              </a:rPr>
              <a:t>,</a:t>
            </a:r>
            <a:r>
              <a:rPr lang="ko-KR" altLang="en-US" sz="1200" dirty="0">
                <a:latin typeface="NanumGothic" panose="020D0604000000000000" pitchFamily="34" charset="-127"/>
                <a:ea typeface="NanumGothic" panose="020D0604000000000000" pitchFamily="34" charset="-127"/>
              </a:rPr>
              <a:t> 중계자는 체인을 검증하거나 자산을 관리하지 않음</a:t>
            </a:r>
            <a:endParaRPr lang="en-US" altLang="ko-KR" sz="1200" dirty="0">
              <a:latin typeface="NanumGothic" panose="020D0604000000000000" pitchFamily="34" charset="-127"/>
              <a:ea typeface="NanumGothic" panose="020D0604000000000000" pitchFamily="34" charset="-127"/>
            </a:endParaRPr>
          </a:p>
          <a:p>
            <a:pPr lvl="2"/>
            <a:r>
              <a:rPr lang="ko-KR" altLang="en-US" sz="1200" dirty="0">
                <a:latin typeface="NanumGothic" panose="020D0604000000000000" pitchFamily="34" charset="-127"/>
                <a:ea typeface="NanumGothic" panose="020D0604000000000000" pitchFamily="34" charset="-127"/>
              </a:rPr>
              <a:t>스마트 </a:t>
            </a:r>
            <a:r>
              <a:rPr lang="ko-KR" altLang="en-US" sz="1200" dirty="0" err="1">
                <a:latin typeface="NanumGothic" panose="020D0604000000000000" pitchFamily="34" charset="-127"/>
                <a:ea typeface="NanumGothic" panose="020D0604000000000000" pitchFamily="34" charset="-127"/>
              </a:rPr>
              <a:t>컨트랙트</a:t>
            </a:r>
            <a:r>
              <a:rPr lang="ko-KR" altLang="en-US" sz="1200" dirty="0">
                <a:latin typeface="NanumGothic" panose="020D0604000000000000" pitchFamily="34" charset="-127"/>
                <a:ea typeface="NanumGothic" panose="020D0604000000000000" pitchFamily="34" charset="-127"/>
              </a:rPr>
              <a:t> 또는 별도의 체인이나 도구를 사용</a:t>
            </a:r>
            <a:endParaRPr lang="en-US" altLang="ko-KR" sz="1200" dirty="0">
              <a:latin typeface="NanumGothic" panose="020D0604000000000000" pitchFamily="34" charset="-127"/>
              <a:ea typeface="NanumGothic" panose="020D0604000000000000" pitchFamily="34" charset="-127"/>
            </a:endParaRPr>
          </a:p>
          <a:p>
            <a:pPr lvl="3"/>
            <a:r>
              <a:rPr lang="en-US" altLang="ko-KR" sz="1000" dirty="0">
                <a:latin typeface="NanumGothic" panose="020D0604000000000000" pitchFamily="34" charset="-127"/>
                <a:ea typeface="NanumGothic" panose="020D0604000000000000" pitchFamily="34" charset="-127"/>
              </a:rPr>
              <a:t>IBC:</a:t>
            </a:r>
            <a:r>
              <a:rPr lang="ko-KR" altLang="en-US" sz="1000" dirty="0">
                <a:latin typeface="NanumGothic" panose="020D0604000000000000" pitchFamily="34" charset="-127"/>
                <a:ea typeface="NanumGothic" panose="020D0604000000000000" pitchFamily="34" charset="-127"/>
              </a:rPr>
              <a:t> </a:t>
            </a:r>
            <a:r>
              <a:rPr lang="ko-KR" altLang="en-US" sz="1000" dirty="0" err="1">
                <a:latin typeface="NanumGothic" panose="020D0604000000000000" pitchFamily="34" charset="-127"/>
                <a:ea typeface="NanumGothic" panose="020D0604000000000000" pitchFamily="34" charset="-127"/>
              </a:rPr>
              <a:t>릴레이어는</a:t>
            </a:r>
            <a:r>
              <a:rPr lang="ko-KR" altLang="en-US" sz="1000" dirty="0">
                <a:latin typeface="NanumGothic" panose="020D0604000000000000" pitchFamily="34" charset="-127"/>
                <a:ea typeface="NanumGothic" panose="020D0604000000000000" pitchFamily="34" charset="-127"/>
              </a:rPr>
              <a:t> 자산의 이동</a:t>
            </a:r>
            <a:r>
              <a:rPr lang="en-US" altLang="ko-KR" sz="1000" dirty="0">
                <a:latin typeface="NanumGothic" panose="020D0604000000000000" pitchFamily="34" charset="-127"/>
                <a:ea typeface="NanumGothic" panose="020D0604000000000000" pitchFamily="34" charset="-127"/>
              </a:rPr>
              <a:t>,</a:t>
            </a:r>
            <a:r>
              <a:rPr lang="ko-KR" altLang="en-US" sz="1000" dirty="0">
                <a:latin typeface="NanumGothic" panose="020D0604000000000000" pitchFamily="34" charset="-127"/>
                <a:ea typeface="NanumGothic" panose="020D0604000000000000" pitchFamily="34" charset="-127"/>
              </a:rPr>
              <a:t> 상대 체인의 상태 변경에 대한 이벤트 전달 등 중계의 역할만 담당하고</a:t>
            </a:r>
            <a:r>
              <a:rPr lang="en-US" altLang="ko-KR" sz="1000" dirty="0">
                <a:latin typeface="NanumGothic" panose="020D0604000000000000" pitchFamily="34" charset="-127"/>
                <a:ea typeface="NanumGothic" panose="020D0604000000000000" pitchFamily="34" charset="-127"/>
              </a:rPr>
              <a:t>,</a:t>
            </a:r>
            <a:r>
              <a:rPr lang="ko-KR" altLang="en-US" sz="1000" dirty="0">
                <a:latin typeface="NanumGothic" panose="020D0604000000000000" pitchFamily="34" charset="-127"/>
                <a:ea typeface="NanumGothic" panose="020D0604000000000000" pitchFamily="34" charset="-127"/>
              </a:rPr>
              <a:t> 실제 체인의 검증은 클라이언트에서 수행</a:t>
            </a:r>
            <a:endParaRPr lang="en-US" altLang="ko-KR" sz="1000" dirty="0">
              <a:latin typeface="NanumGothic" panose="020D0604000000000000" pitchFamily="34" charset="-127"/>
              <a:ea typeface="NanumGothic" panose="020D0604000000000000" pitchFamily="34" charset="-127"/>
            </a:endParaRPr>
          </a:p>
          <a:p>
            <a:pPr lvl="3"/>
            <a:r>
              <a:rPr lang="en-US" altLang="ko-KR" sz="1000" dirty="0">
                <a:latin typeface="NanumGothic" panose="020D0604000000000000" pitchFamily="34" charset="-127"/>
                <a:ea typeface="NanumGothic" panose="020D0604000000000000" pitchFamily="34" charset="-127"/>
              </a:rPr>
              <a:t>Atomic Swap</a:t>
            </a:r>
            <a:r>
              <a:rPr lang="ko-KR" altLang="en-US" sz="1000" dirty="0">
                <a:latin typeface="NanumGothic" panose="020D0604000000000000" pitchFamily="34" charset="-127"/>
                <a:ea typeface="NanumGothic" panose="020D0604000000000000" pitchFamily="34" charset="-127"/>
              </a:rPr>
              <a:t>을 이용하여 자산의 잠금과 발행을 체인 내 스마트 </a:t>
            </a:r>
            <a:r>
              <a:rPr lang="ko-KR" altLang="en-US" sz="1000" dirty="0" err="1">
                <a:latin typeface="NanumGothic" panose="020D0604000000000000" pitchFamily="34" charset="-127"/>
                <a:ea typeface="NanumGothic" panose="020D0604000000000000" pitchFamily="34" charset="-127"/>
              </a:rPr>
              <a:t>컨트랙트에서</a:t>
            </a:r>
            <a:r>
              <a:rPr lang="ko-KR" altLang="en-US" sz="1000" dirty="0">
                <a:latin typeface="NanumGothic" panose="020D0604000000000000" pitchFamily="34" charset="-127"/>
                <a:ea typeface="NanumGothic" panose="020D0604000000000000" pitchFamily="34" charset="-127"/>
              </a:rPr>
              <a:t> 처리하여</a:t>
            </a:r>
            <a:r>
              <a:rPr lang="en-US" altLang="ko-KR" sz="1000" dirty="0">
                <a:latin typeface="NanumGothic" panose="020D0604000000000000" pitchFamily="34" charset="-127"/>
                <a:ea typeface="NanumGothic" panose="020D0604000000000000" pitchFamily="34" charset="-127"/>
              </a:rPr>
              <a:t>,</a:t>
            </a:r>
            <a:r>
              <a:rPr lang="ko-KR" altLang="en-US" sz="1000" dirty="0">
                <a:latin typeface="NanumGothic" panose="020D0604000000000000" pitchFamily="34" charset="-127"/>
                <a:ea typeface="NanumGothic" panose="020D0604000000000000" pitchFamily="34" charset="-127"/>
              </a:rPr>
              <a:t> 체인 내에서 자산의 검증과 관리를 진행</a:t>
            </a:r>
            <a:endParaRPr lang="en-US" altLang="ko-KR" sz="1000" dirty="0">
              <a:latin typeface="NanumGothic" panose="020D0604000000000000" pitchFamily="34" charset="-127"/>
              <a:ea typeface="NanumGothic" panose="020D0604000000000000" pitchFamily="34" charset="-127"/>
            </a:endParaRPr>
          </a:p>
          <a:p>
            <a:pPr lvl="2"/>
            <a:r>
              <a:rPr lang="ko-KR" altLang="en-US" sz="1400" dirty="0">
                <a:latin typeface="NanumGothic" panose="020D0604000000000000" pitchFamily="34" charset="-127"/>
                <a:ea typeface="NanumGothic" panose="020D0604000000000000" pitchFamily="34" charset="-127"/>
              </a:rPr>
              <a:t>블록체인마다 존재하는 다양한 프로토콜과 표준을 모두 만족할 수 없는 한계점 존재</a:t>
            </a:r>
            <a:endParaRPr lang="en-US" altLang="ko-KR" sz="1400" dirty="0">
              <a:latin typeface="NanumGothic" panose="020D0604000000000000" pitchFamily="34" charset="-127"/>
              <a:ea typeface="NanumGothic" panose="020D0604000000000000" pitchFamily="34" charset="-127"/>
            </a:endParaRPr>
          </a:p>
          <a:p>
            <a:pPr lvl="2"/>
            <a:r>
              <a:rPr lang="ko-KR" altLang="en-US" sz="1400" dirty="0">
                <a:latin typeface="NanumGothic" panose="020D0604000000000000" pitchFamily="34" charset="-127"/>
                <a:ea typeface="NanumGothic" panose="020D0604000000000000" pitchFamily="34" charset="-127"/>
              </a:rPr>
              <a:t>신뢰하고자 하는 체인의 수에 따른 통신 연결 개수로 인한 네트워크 복잡도 증가</a:t>
            </a:r>
            <a:endParaRPr lang="en-US" altLang="ko-KR" sz="1400" dirty="0">
              <a:latin typeface="NanumGothic" panose="020D0604000000000000" pitchFamily="34" charset="-127"/>
              <a:ea typeface="NanumGothic" panose="020D0604000000000000" pitchFamily="34" charset="-127"/>
            </a:endParaRPr>
          </a:p>
          <a:p>
            <a:pPr lvl="2"/>
            <a:endParaRPr lang="en-US" altLang="ko-KR" sz="1400" dirty="0">
              <a:latin typeface="NanumGothic" panose="020D0604000000000000" pitchFamily="34" charset="-127"/>
              <a:ea typeface="NanumGothic" panose="020D0604000000000000" pitchFamily="34" charset="-127"/>
            </a:endParaRPr>
          </a:p>
          <a:p>
            <a:pPr lvl="2"/>
            <a:endParaRPr lang="en-US" altLang="ko-KR" sz="1200" b="0" dirty="0">
              <a:effectLst/>
              <a:latin typeface="NanumGothic" panose="020D0604000000000000" pitchFamily="34" charset="-127"/>
              <a:ea typeface="NanumGothic" panose="020D0604000000000000" pitchFamily="34" charset="-127"/>
            </a:endParaRPr>
          </a:p>
          <a:p>
            <a:pPr lvl="1"/>
            <a:endParaRPr lang="en-US" sz="1600" b="0" dirty="0">
              <a:effectLst/>
              <a:latin typeface="NanumGothic" panose="020D0604000000000000" pitchFamily="34" charset="-127"/>
              <a:ea typeface="NanumGothic" panose="020D0604000000000000" pitchFamily="34" charset="-127"/>
            </a:endParaRPr>
          </a:p>
          <a:p>
            <a:endParaRPr lang="en-US" sz="20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a:t>
            </a:r>
            <a:r>
              <a:rPr lang="ko-KR" altLang="en-US" sz="1000" dirty="0"/>
              <a:t>와 타</a:t>
            </a:r>
            <a:r>
              <a:rPr lang="en-US" altLang="ko-KR" sz="1000" dirty="0"/>
              <a:t> Bridge </a:t>
            </a:r>
            <a:r>
              <a:rPr lang="ko-KR" altLang="en-US" sz="1000" dirty="0" err="1"/>
              <a:t>와의</a:t>
            </a:r>
            <a:r>
              <a:rPr lang="ko-KR" altLang="en-US" sz="1000" dirty="0"/>
              <a:t> 보안 모델 비교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089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IBC</a:t>
            </a:r>
            <a:endParaRPr lang="en-KR" sz="4000" dirty="0">
              <a:latin typeface="NanumGothic" panose="020D0604000000000000" pitchFamily="34" charset="-127"/>
              <a:ea typeface="NanumGothic" panose="020D0604000000000000" pitchFamily="34" charset="-127"/>
            </a:endParaRPr>
          </a:p>
        </p:txBody>
      </p:sp>
      <p:sp>
        <p:nvSpPr>
          <p:cNvPr id="3" name="Content Placeholder 2">
            <a:extLst>
              <a:ext uri="{FF2B5EF4-FFF2-40B4-BE49-F238E27FC236}">
                <a16:creationId xmlns:a16="http://schemas.microsoft.com/office/drawing/2014/main" id="{5017D327-DB33-B677-AD74-724CD2559DBC}"/>
              </a:ext>
            </a:extLst>
          </p:cNvPr>
          <p:cNvSpPr>
            <a:spLocks noGrp="1"/>
          </p:cNvSpPr>
          <p:nvPr>
            <p:ph idx="1"/>
          </p:nvPr>
        </p:nvSpPr>
        <p:spPr>
          <a:xfrm>
            <a:off x="838200" y="1766004"/>
            <a:ext cx="10515600" cy="4594692"/>
          </a:xfrm>
        </p:spPr>
        <p:txBody>
          <a:bodyPr>
            <a:normAutofit/>
          </a:bodyPr>
          <a:lstStyle/>
          <a:p>
            <a:r>
              <a:rPr lang="en-US" altLang="ko-KR" sz="2000" dirty="0" err="1">
                <a:latin typeface="NanumGothic" panose="020D0604000000000000" pitchFamily="34" charset="-127"/>
                <a:ea typeface="NanumGothic" panose="020D0604000000000000" pitchFamily="34" charset="-127"/>
              </a:rPr>
              <a:t>cometBFT</a:t>
            </a:r>
            <a:r>
              <a:rPr lang="ko-KR" altLang="en-US" sz="2000" dirty="0">
                <a:latin typeface="NanumGothic" panose="020D0604000000000000" pitchFamily="34" charset="-127"/>
                <a:ea typeface="NanumGothic" panose="020D0604000000000000" pitchFamily="34" charset="-127"/>
              </a:rPr>
              <a:t> 합의 알고리즘을 사용하는 체인의 경우</a:t>
            </a:r>
            <a:r>
              <a:rPr lang="en-US" altLang="ko-KR" sz="2000" dirty="0">
                <a:latin typeface="NanumGothic" panose="020D0604000000000000" pitchFamily="34" charset="-127"/>
                <a:ea typeface="NanumGothic" panose="020D0604000000000000" pitchFamily="34" charset="-127"/>
              </a:rPr>
              <a:t>,</a:t>
            </a:r>
            <a:r>
              <a:rPr lang="ko-KR" altLang="en-US" sz="2000" dirty="0">
                <a:latin typeface="NanumGothic" panose="020D0604000000000000" pitchFamily="34" charset="-127"/>
                <a:ea typeface="NanumGothic" panose="020D0604000000000000" pitchFamily="34" charset="-127"/>
              </a:rPr>
              <a:t> 손쉬운 체인 간 연결 및 자산 이동 가능</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완결성</a:t>
            </a:r>
            <a:r>
              <a:rPr lang="en-US" altLang="ko-KR" sz="1600" dirty="0">
                <a:latin typeface="NanumGothic" panose="020D0604000000000000" pitchFamily="34" charset="-127"/>
                <a:ea typeface="NanumGothic" panose="020D0604000000000000" pitchFamily="34" charset="-127"/>
              </a:rPr>
              <a:t>(finality)</a:t>
            </a:r>
            <a:r>
              <a:rPr lang="ko-KR" altLang="en-US" sz="1600" dirty="0">
                <a:latin typeface="NanumGothic" panose="020D0604000000000000" pitchFamily="34" charset="-127"/>
                <a:ea typeface="NanumGothic" panose="020D0604000000000000" pitchFamily="34" charset="-127"/>
              </a:rPr>
              <a:t>을 보장하지 않는</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체인 </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peg zone</a:t>
            </a:r>
            <a:r>
              <a:rPr lang="ko-KR" altLang="en-US" sz="1600" dirty="0">
                <a:latin typeface="NanumGothic" panose="020D0604000000000000" pitchFamily="34" charset="-127"/>
                <a:ea typeface="NanumGothic" panose="020D0604000000000000" pitchFamily="34" charset="-127"/>
              </a:rPr>
              <a:t>을 통한 체인간 연결 가능</a:t>
            </a:r>
            <a:endParaRPr lang="en-US" altLang="ko-KR" sz="1600" dirty="0">
              <a:latin typeface="NanumGothic" panose="020D0604000000000000" pitchFamily="34" charset="-127"/>
              <a:ea typeface="NanumGothic" panose="020D0604000000000000" pitchFamily="34" charset="-127"/>
            </a:endParaRPr>
          </a:p>
          <a:p>
            <a:r>
              <a:rPr lang="en-US" altLang="ko-KR" sz="2000" dirty="0">
                <a:latin typeface="NanumGothic" panose="020D0604000000000000" pitchFamily="34" charset="-127"/>
                <a:ea typeface="NanumGothic" panose="020D0604000000000000" pitchFamily="34" charset="-127"/>
              </a:rPr>
              <a:t>Hub-zone(</a:t>
            </a:r>
            <a:r>
              <a:rPr lang="ko-KR" altLang="en-US" sz="2000" dirty="0">
                <a:latin typeface="NanumGothic" panose="020D0604000000000000" pitchFamily="34" charset="-127"/>
                <a:ea typeface="NanumGothic" panose="020D0604000000000000" pitchFamily="34" charset="-127"/>
              </a:rPr>
              <a:t>허브</a:t>
            </a:r>
            <a:r>
              <a:rPr lang="en-US" altLang="ko-KR" sz="2000" dirty="0">
                <a:latin typeface="NanumGothic" panose="020D0604000000000000" pitchFamily="34" charset="-127"/>
                <a:ea typeface="NanumGothic" panose="020D0604000000000000" pitchFamily="34" charset="-127"/>
              </a:rPr>
              <a:t>-</a:t>
            </a:r>
            <a:r>
              <a:rPr lang="ko-KR" altLang="en-US" sz="2000" dirty="0">
                <a:latin typeface="NanumGothic" panose="020D0604000000000000" pitchFamily="34" charset="-127"/>
                <a:ea typeface="NanumGothic" panose="020D0604000000000000" pitchFamily="34" charset="-127"/>
              </a:rPr>
              <a:t>존</a:t>
            </a:r>
            <a:r>
              <a:rPr lang="en-US" altLang="ko-KR" sz="2000" dirty="0">
                <a:latin typeface="NanumGothic" panose="020D0604000000000000" pitchFamily="34" charset="-127"/>
                <a:ea typeface="NanumGothic" panose="020D0604000000000000" pitchFamily="34" charset="-127"/>
              </a:rPr>
              <a:t>)</a:t>
            </a:r>
          </a:p>
          <a:p>
            <a:pPr lvl="1"/>
            <a:r>
              <a:rPr lang="ko-KR" altLang="en-US" sz="1600" dirty="0">
                <a:latin typeface="NanumGothic" panose="020D0604000000000000" pitchFamily="34" charset="-127"/>
                <a:ea typeface="NanumGothic" panose="020D0604000000000000" pitchFamily="34" charset="-127"/>
              </a:rPr>
              <a:t>코스모스 기반의 체인을 </a:t>
            </a:r>
            <a:r>
              <a:rPr lang="en-US" altLang="ko-KR" sz="1600" dirty="0">
                <a:latin typeface="NanumGothic" panose="020D0604000000000000" pitchFamily="34" charset="-127"/>
                <a:ea typeface="NanumGothic" panose="020D0604000000000000" pitchFamily="34" charset="-127"/>
              </a:rPr>
              <a:t>zone</a:t>
            </a:r>
            <a:r>
              <a:rPr lang="ko-KR" altLang="en-US" sz="1600" dirty="0">
                <a:latin typeface="NanumGothic" panose="020D0604000000000000" pitchFamily="34" charset="-127"/>
                <a:ea typeface="NanumGothic" panose="020D0604000000000000" pitchFamily="34" charset="-127"/>
              </a:rPr>
              <a:t>이라 할 때</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각 체인은 허브</a:t>
            </a:r>
            <a:r>
              <a:rPr lang="en-US" altLang="ko-KR" sz="1600" dirty="0">
                <a:latin typeface="NanumGothic" panose="020D0604000000000000" pitchFamily="34" charset="-127"/>
                <a:ea typeface="NanumGothic" panose="020D0604000000000000" pitchFamily="34" charset="-127"/>
              </a:rPr>
              <a:t>(Hub)</a:t>
            </a:r>
            <a:r>
              <a:rPr lang="ko-KR" altLang="en-US" sz="1600" dirty="0">
                <a:latin typeface="NanumGothic" panose="020D0604000000000000" pitchFamily="34" charset="-127"/>
                <a:ea typeface="NanumGothic" panose="020D0604000000000000" pitchFamily="34" charset="-127"/>
              </a:rPr>
              <a:t>라는 </a:t>
            </a:r>
            <a:br>
              <a:rPr lang="en-US" altLang="ko-KR" sz="1600" dirty="0">
                <a:latin typeface="NanumGothic" panose="020D0604000000000000" pitchFamily="34" charset="-127"/>
                <a:ea typeface="NanumGothic" panose="020D0604000000000000" pitchFamily="34" charset="-127"/>
              </a:rPr>
            </a:br>
            <a:r>
              <a:rPr lang="ko-KR" altLang="en-US" sz="1600" dirty="0">
                <a:latin typeface="NanumGothic" panose="020D0604000000000000" pitchFamily="34" charset="-127"/>
                <a:ea typeface="NanumGothic" panose="020D0604000000000000" pitchFamily="34" charset="-127"/>
              </a:rPr>
              <a:t>하나의 구심점을 통해 서로 상호작용</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기존에 체인간 연결을 통해 생성해야 하는 클라이언트 수를 </a:t>
            </a:r>
            <a:r>
              <a:rPr lang="en-US" altLang="ko-KR" sz="1600" dirty="0">
                <a:latin typeface="NanumGothic" panose="020D0604000000000000" pitchFamily="34" charset="-127"/>
                <a:ea typeface="NanumGothic" panose="020D0604000000000000" pitchFamily="34" charset="-127"/>
              </a:rPr>
              <a:t>n(n-1)</a:t>
            </a:r>
            <a:br>
              <a:rPr lang="en-US" altLang="ko-KR" sz="1600" dirty="0">
                <a:latin typeface="NanumGothic" panose="020D0604000000000000" pitchFamily="34" charset="-127"/>
                <a:ea typeface="NanumGothic" panose="020D0604000000000000" pitchFamily="34" charset="-127"/>
              </a:rPr>
            </a:br>
            <a:r>
              <a:rPr lang="ko-KR" altLang="en-US" sz="1600" dirty="0">
                <a:latin typeface="NanumGothic" panose="020D0604000000000000" pitchFamily="34" charset="-127"/>
                <a:ea typeface="NanumGothic" panose="020D0604000000000000" pitchFamily="34" charset="-127"/>
              </a:rPr>
              <a:t>이라 할 때</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허브</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존 방식을 통해 </a:t>
            </a:r>
            <a:r>
              <a:rPr lang="en-US" altLang="ko-KR" sz="1600" dirty="0">
                <a:latin typeface="NanumGothic" panose="020D0604000000000000" pitchFamily="34" charset="-127"/>
                <a:ea typeface="NanumGothic" panose="020D0604000000000000" pitchFamily="34" charset="-127"/>
              </a:rPr>
              <a:t>2n</a:t>
            </a:r>
            <a:r>
              <a:rPr lang="ko-KR" altLang="en-US" sz="1600" dirty="0">
                <a:latin typeface="NanumGothic" panose="020D0604000000000000" pitchFamily="34" charset="-127"/>
                <a:ea typeface="NanumGothic" panose="020D0604000000000000" pitchFamily="34" charset="-127"/>
              </a:rPr>
              <a:t>개의 클라이언트만으로 모든 </a:t>
            </a:r>
            <a:br>
              <a:rPr lang="en-US" altLang="ko-KR" sz="1600" dirty="0">
                <a:latin typeface="NanumGothic" panose="020D0604000000000000" pitchFamily="34" charset="-127"/>
                <a:ea typeface="NanumGothic" panose="020D0604000000000000" pitchFamily="34" charset="-127"/>
              </a:rPr>
            </a:br>
            <a:r>
              <a:rPr lang="ko-KR" altLang="en-US" sz="1600" dirty="0">
                <a:latin typeface="NanumGothic" panose="020D0604000000000000" pitchFamily="34" charset="-127"/>
                <a:ea typeface="NanumGothic" panose="020D0604000000000000" pitchFamily="34" charset="-127"/>
              </a:rPr>
              <a:t>체인간 통신 가능 및 네트워크 복잡도 해결</a:t>
            </a:r>
            <a:endParaRPr lang="en-US" altLang="ko-KR" sz="16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이종 플랫폼 간 </a:t>
            </a:r>
            <a:r>
              <a:rPr lang="en-US" altLang="ko-KR" sz="2000" dirty="0">
                <a:latin typeface="NanumGothic" panose="020D0604000000000000" pitchFamily="34" charset="-127"/>
                <a:ea typeface="NanumGothic" panose="020D0604000000000000" pitchFamily="34" charset="-127"/>
              </a:rPr>
              <a:t>IBC </a:t>
            </a:r>
            <a:r>
              <a:rPr lang="ko-KR" altLang="en-US" sz="2000" dirty="0">
                <a:latin typeface="NanumGothic" panose="020D0604000000000000" pitchFamily="34" charset="-127"/>
                <a:ea typeface="NanumGothic" panose="020D0604000000000000" pitchFamily="34" charset="-127"/>
              </a:rPr>
              <a:t>연결 사례</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Hyperledger YUI</a:t>
            </a:r>
          </a:p>
          <a:p>
            <a:pPr lvl="1"/>
            <a:r>
              <a:rPr lang="ko-KR" altLang="en-US" sz="1600" dirty="0">
                <a:latin typeface="NanumGothic" panose="020D0604000000000000" pitchFamily="34" charset="-127"/>
                <a:ea typeface="NanumGothic" panose="020D0604000000000000" pitchFamily="34" charset="-127"/>
              </a:rPr>
              <a:t>퍼블릭 블록체인과 </a:t>
            </a:r>
            <a:r>
              <a:rPr lang="ko-KR" altLang="en-US" sz="1600" dirty="0" err="1">
                <a:latin typeface="NanumGothic" panose="020D0604000000000000" pitchFamily="34" charset="-127"/>
                <a:ea typeface="NanumGothic" panose="020D0604000000000000" pitchFamily="34" charset="-127"/>
              </a:rPr>
              <a:t>프라이빗</a:t>
            </a:r>
            <a:r>
              <a:rPr lang="ko-KR" altLang="en-US" sz="1600" dirty="0">
                <a:latin typeface="NanumGothic" panose="020D0604000000000000" pitchFamily="34" charset="-127"/>
                <a:ea typeface="NanumGothic" panose="020D0604000000000000" pitchFamily="34" charset="-127"/>
              </a:rPr>
              <a:t> 블록체인 간 상호운용성 제공</a:t>
            </a:r>
            <a:endParaRPr lang="en-US" altLang="ko-KR" sz="1600" dirty="0">
              <a:latin typeface="NanumGothic" panose="020D0604000000000000" pitchFamily="34" charset="-127"/>
              <a:ea typeface="NanumGothic" panose="020D0604000000000000" pitchFamily="34" charset="-127"/>
            </a:endParaRPr>
          </a:p>
          <a:p>
            <a:pPr lvl="1"/>
            <a:r>
              <a:rPr lang="ko-KR" altLang="en-US" sz="1600" dirty="0" err="1">
                <a:latin typeface="NanumGothic" panose="020D0604000000000000" pitchFamily="34" charset="-127"/>
                <a:ea typeface="NanumGothic" panose="020D0604000000000000" pitchFamily="34" charset="-127"/>
              </a:rPr>
              <a:t>이더리움</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BNB</a:t>
            </a:r>
            <a:r>
              <a:rPr lang="ko-KR" altLang="en-US" sz="1600" dirty="0">
                <a:latin typeface="NanumGothic" panose="020D0604000000000000" pitchFamily="34" charset="-127"/>
                <a:ea typeface="NanumGothic" panose="020D0604000000000000" pitchFamily="34" charset="-127"/>
              </a:rPr>
              <a:t>체인과 </a:t>
            </a:r>
            <a:r>
              <a:rPr lang="en-US" altLang="ko-KR" sz="1600" dirty="0">
                <a:latin typeface="NanumGothic" panose="020D0604000000000000" pitchFamily="34" charset="-127"/>
                <a:ea typeface="NanumGothic" panose="020D0604000000000000" pitchFamily="34" charset="-127"/>
              </a:rPr>
              <a:t>Hyperledger Fabric, </a:t>
            </a:r>
            <a:r>
              <a:rPr lang="en-US" altLang="ko-KR" sz="1600" dirty="0" err="1">
                <a:latin typeface="NanumGothic" panose="020D0604000000000000" pitchFamily="34" charset="-127"/>
                <a:ea typeface="NanumGothic" panose="020D0604000000000000" pitchFamily="34" charset="-127"/>
              </a:rPr>
              <a:t>Besu</a:t>
            </a:r>
            <a:r>
              <a:rPr lang="en-US" altLang="ko-KR" sz="1600" dirty="0">
                <a:latin typeface="NanumGothic" panose="020D0604000000000000" pitchFamily="34" charset="-127"/>
                <a:ea typeface="NanumGothic" panose="020D0604000000000000" pitchFamily="34" charset="-127"/>
              </a:rPr>
              <a:t>, Corda</a:t>
            </a:r>
            <a:r>
              <a:rPr lang="ko-KR" altLang="en-US" sz="1600" dirty="0">
                <a:latin typeface="NanumGothic" panose="020D0604000000000000" pitchFamily="34" charset="-127"/>
                <a:ea typeface="NanumGothic" panose="020D0604000000000000" pitchFamily="34" charset="-127"/>
              </a:rPr>
              <a:t> 등을 </a:t>
            </a:r>
            <a:br>
              <a:rPr lang="en-US" altLang="ko-KR" sz="1600" dirty="0">
                <a:latin typeface="NanumGothic" panose="020D0604000000000000" pitchFamily="34" charset="-127"/>
                <a:ea typeface="NanumGothic" panose="020D0604000000000000" pitchFamily="34" charset="-127"/>
              </a:rPr>
            </a:br>
            <a:r>
              <a:rPr lang="ko-KR" altLang="en-US" sz="1600" dirty="0">
                <a:latin typeface="NanumGothic" panose="020D0604000000000000" pitchFamily="34" charset="-127"/>
                <a:ea typeface="NanumGothic" panose="020D0604000000000000" pitchFamily="34" charset="-127"/>
              </a:rPr>
              <a:t>대상으로 토큰 전송</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Atomic Swap</a:t>
            </a:r>
            <a:r>
              <a:rPr lang="ko-KR" altLang="en-US" sz="1600" dirty="0">
                <a:latin typeface="NanumGothic" panose="020D0604000000000000" pitchFamily="34" charset="-127"/>
                <a:ea typeface="NanumGothic" panose="020D0604000000000000" pitchFamily="34" charset="-127"/>
              </a:rPr>
              <a:t> 기능 제공</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1400" dirty="0">
              <a:latin typeface="NanumGothic" panose="020D0604000000000000" pitchFamily="34" charset="-127"/>
              <a:ea typeface="NanumGothic" panose="020D0604000000000000" pitchFamily="34" charset="-127"/>
            </a:endParaRPr>
          </a:p>
          <a:p>
            <a:pPr lvl="2"/>
            <a:endParaRPr lang="en-US" altLang="ko-KR" sz="1400" dirty="0">
              <a:latin typeface="NanumGothic" panose="020D0604000000000000" pitchFamily="34" charset="-127"/>
              <a:ea typeface="NanumGothic" panose="020D0604000000000000" pitchFamily="34" charset="-127"/>
            </a:endParaRPr>
          </a:p>
          <a:p>
            <a:pPr lvl="2"/>
            <a:endParaRPr lang="en-US" altLang="ko-KR" sz="1200" b="0" dirty="0">
              <a:effectLst/>
              <a:latin typeface="NanumGothic" panose="020D0604000000000000" pitchFamily="34" charset="-127"/>
              <a:ea typeface="NanumGothic" panose="020D0604000000000000" pitchFamily="34" charset="-127"/>
            </a:endParaRPr>
          </a:p>
          <a:p>
            <a:pPr lvl="1"/>
            <a:endParaRPr lang="en-US" sz="1600" b="0" dirty="0">
              <a:effectLst/>
              <a:latin typeface="NanumGothic" panose="020D0604000000000000" pitchFamily="34" charset="-127"/>
              <a:ea typeface="NanumGothic" panose="020D0604000000000000" pitchFamily="34" charset="-127"/>
            </a:endParaRPr>
          </a:p>
          <a:p>
            <a:endParaRPr lang="en-US" sz="20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a:t>
            </a:r>
            <a:r>
              <a:rPr lang="ko-KR" altLang="en-US" sz="1000" dirty="0"/>
              <a:t>와 타</a:t>
            </a:r>
            <a:r>
              <a:rPr lang="en-US" altLang="ko-KR" sz="1000" dirty="0"/>
              <a:t> Bridge </a:t>
            </a:r>
            <a:r>
              <a:rPr lang="ko-KR" altLang="en-US" sz="1000" dirty="0" err="1"/>
              <a:t>와의</a:t>
            </a:r>
            <a:r>
              <a:rPr lang="ko-KR" altLang="en-US" sz="1000" dirty="0"/>
              <a:t> 보안 모델 비교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7F3EDF7-7DD3-3943-7C81-0B09332A4E6F}"/>
              </a:ext>
            </a:extLst>
          </p:cNvPr>
          <p:cNvPicPr>
            <a:picLocks noChangeAspect="1"/>
          </p:cNvPicPr>
          <p:nvPr/>
        </p:nvPicPr>
        <p:blipFill>
          <a:blip r:embed="rId3"/>
          <a:stretch>
            <a:fillRect/>
          </a:stretch>
        </p:blipFill>
        <p:spPr>
          <a:xfrm>
            <a:off x="7573617" y="2699207"/>
            <a:ext cx="3780183" cy="1993831"/>
          </a:xfrm>
          <a:prstGeom prst="rect">
            <a:avLst/>
          </a:prstGeom>
          <a:ln w="19050" cap="sq">
            <a:solidFill>
              <a:schemeClr val="tx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23834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IBC</a:t>
            </a:r>
            <a:r>
              <a:rPr lang="ko-KR" altLang="en-US" sz="4000" dirty="0">
                <a:latin typeface="NanumGothic" panose="020D0604000000000000" pitchFamily="34" charset="-127"/>
                <a:ea typeface="NanumGothic" panose="020D0604000000000000" pitchFamily="34" charset="-127"/>
              </a:rPr>
              <a:t>와 </a:t>
            </a:r>
            <a:r>
              <a:rPr lang="en-US" altLang="ko-KR" sz="4000" dirty="0">
                <a:latin typeface="NanumGothic" panose="020D0604000000000000" pitchFamily="34" charset="-127"/>
                <a:ea typeface="NanumGothic" panose="020D0604000000000000" pitchFamily="34" charset="-127"/>
              </a:rPr>
              <a:t>Bridge </a:t>
            </a:r>
            <a:r>
              <a:rPr lang="ko-KR" altLang="en-US" sz="4000" dirty="0">
                <a:latin typeface="NanumGothic" panose="020D0604000000000000" pitchFamily="34" charset="-127"/>
                <a:ea typeface="NanumGothic" panose="020D0604000000000000" pitchFamily="34" charset="-127"/>
              </a:rPr>
              <a:t>기술 비교</a:t>
            </a:r>
            <a:r>
              <a:rPr 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1</a:t>
            </a:r>
            <a:r>
              <a:rPr lang="en-US" sz="4000" dirty="0">
                <a:latin typeface="NanumGothic" panose="020D0604000000000000" pitchFamily="34" charset="-127"/>
                <a:ea typeface="NanumGothic" panose="020D0604000000000000" pitchFamily="34" charset="-127"/>
              </a:rPr>
              <a:t>/</a:t>
            </a:r>
            <a:r>
              <a:rPr lang="en-US" altLang="ko-KR" sz="4000" dirty="0">
                <a:latin typeface="NanumGothic" panose="020D0604000000000000" pitchFamily="34" charset="-127"/>
                <a:ea typeface="NanumGothic" panose="020D0604000000000000" pitchFamily="34" charset="-127"/>
              </a:rPr>
              <a:t>2</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3" name="Content Placeholder 2">
            <a:extLst>
              <a:ext uri="{FF2B5EF4-FFF2-40B4-BE49-F238E27FC236}">
                <a16:creationId xmlns:a16="http://schemas.microsoft.com/office/drawing/2014/main" id="{5017D327-DB33-B677-AD74-724CD2559DBC}"/>
              </a:ext>
            </a:extLst>
          </p:cNvPr>
          <p:cNvSpPr>
            <a:spLocks noGrp="1"/>
          </p:cNvSpPr>
          <p:nvPr>
            <p:ph idx="1"/>
          </p:nvPr>
        </p:nvSpPr>
        <p:spPr>
          <a:xfrm>
            <a:off x="838200" y="1766004"/>
            <a:ext cx="10515600" cy="4594692"/>
          </a:xfrm>
        </p:spPr>
        <p:txBody>
          <a:bodyPr>
            <a:normAutofit/>
          </a:bodyPr>
          <a:lstStyle/>
          <a:p>
            <a:r>
              <a:rPr lang="en-US" altLang="ko-KR" sz="2000" dirty="0">
                <a:latin typeface="NanumGothic" panose="020D0604000000000000" pitchFamily="34" charset="-127"/>
                <a:ea typeface="NanumGothic" panose="020D0604000000000000" pitchFamily="34" charset="-127"/>
              </a:rPr>
              <a:t>IBC</a:t>
            </a:r>
            <a:r>
              <a:rPr lang="ko-KR" altLang="en-US" sz="2000" dirty="0">
                <a:latin typeface="NanumGothic" panose="020D0604000000000000" pitchFamily="34" charset="-127"/>
                <a:ea typeface="NanumGothic" panose="020D0604000000000000" pitchFamily="34" charset="-127"/>
              </a:rPr>
              <a:t>와 기존 </a:t>
            </a:r>
            <a:r>
              <a:rPr lang="ko-KR" altLang="en-US" sz="2000" dirty="0" err="1">
                <a:latin typeface="NanumGothic" panose="020D0604000000000000" pitchFamily="34" charset="-127"/>
                <a:ea typeface="NanumGothic" panose="020D0604000000000000" pitchFamily="34" charset="-127"/>
              </a:rPr>
              <a:t>브릿지</a:t>
            </a:r>
            <a:r>
              <a:rPr lang="ko-KR" altLang="en-US" sz="2000" dirty="0">
                <a:latin typeface="NanumGothic" panose="020D0604000000000000" pitchFamily="34" charset="-127"/>
                <a:ea typeface="NanumGothic" panose="020D0604000000000000" pitchFamily="34" charset="-127"/>
              </a:rPr>
              <a:t> 기술과의 비교를 위해 </a:t>
            </a:r>
            <a:r>
              <a:rPr lang="en-US" altLang="ko-KR" sz="2000" dirty="0">
                <a:latin typeface="NanumGothic" panose="020D0604000000000000" pitchFamily="34" charset="-127"/>
                <a:ea typeface="NanumGothic" panose="020D0604000000000000" pitchFamily="34" charset="-127"/>
              </a:rPr>
              <a:t>3</a:t>
            </a:r>
            <a:r>
              <a:rPr lang="ko-KR" altLang="en-US" sz="2000" dirty="0">
                <a:latin typeface="NanumGothic" panose="020D0604000000000000" pitchFamily="34" charset="-127"/>
                <a:ea typeface="NanumGothic" panose="020D0604000000000000" pitchFamily="34" charset="-127"/>
              </a:rPr>
              <a:t>가지 카테고리로 구분</a:t>
            </a:r>
            <a:endParaRPr lang="en-US" altLang="ko-KR" sz="2000" dirty="0">
              <a:latin typeface="NanumGothic" panose="020D0604000000000000" pitchFamily="34" charset="-127"/>
              <a:ea typeface="NanumGothic" panose="020D0604000000000000" pitchFamily="34" charset="-127"/>
            </a:endParaRPr>
          </a:p>
          <a:p>
            <a:pPr lvl="1"/>
            <a:r>
              <a:rPr lang="en-US" altLang="ko-KR" sz="1600" u="sng" dirty="0">
                <a:latin typeface="NanumGothic" panose="020D0604000000000000" pitchFamily="34" charset="-127"/>
                <a:ea typeface="NanumGothic" panose="020D0604000000000000" pitchFamily="34" charset="-127"/>
              </a:rPr>
              <a:t>IBC</a:t>
            </a:r>
            <a:r>
              <a:rPr lang="en-US" altLang="ko-KR" sz="1600" dirty="0">
                <a:latin typeface="NanumGothic" panose="020D0604000000000000" pitchFamily="34" charset="-127"/>
                <a:ea typeface="NanumGothic" panose="020D0604000000000000" pitchFamily="34" charset="-127"/>
              </a:rPr>
              <a:t>, </a:t>
            </a:r>
            <a:r>
              <a:rPr lang="en-US" altLang="ko-KR" sz="1600" u="sng" dirty="0">
                <a:latin typeface="NanumGothic" panose="020D0604000000000000" pitchFamily="34" charset="-127"/>
                <a:ea typeface="NanumGothic" panose="020D0604000000000000" pitchFamily="34" charset="-127"/>
              </a:rPr>
              <a:t>Custodian</a:t>
            </a:r>
            <a:r>
              <a:rPr lang="en-US" altLang="ko-KR" sz="1600" dirty="0">
                <a:latin typeface="NanumGothic" panose="020D0604000000000000" pitchFamily="34" charset="-127"/>
                <a:ea typeface="NanumGothic" panose="020D0604000000000000" pitchFamily="34" charset="-127"/>
              </a:rPr>
              <a:t>(Centralized Custody-Based Bridges), </a:t>
            </a:r>
            <a:r>
              <a:rPr lang="ko-KR" altLang="en-US" sz="1600" u="sng" dirty="0">
                <a:latin typeface="NanumGothic" panose="020D0604000000000000" pitchFamily="34" charset="-127"/>
                <a:ea typeface="NanumGothic" panose="020D0604000000000000" pitchFamily="34" charset="-127"/>
              </a:rPr>
              <a:t>다중 서명자</a:t>
            </a:r>
            <a:r>
              <a:rPr lang="en-US" altLang="ko-KR" sz="1600" dirty="0">
                <a:latin typeface="NanumGothic" panose="020D0604000000000000" pitchFamily="34" charset="-127"/>
                <a:ea typeface="NanumGothic" panose="020D0604000000000000" pitchFamily="34" charset="-127"/>
              </a:rPr>
              <a:t>(Multisig-Based Bridges)</a:t>
            </a:r>
          </a:p>
          <a:p>
            <a:r>
              <a:rPr lang="en-US" altLang="ko-KR" sz="2000" dirty="0">
                <a:latin typeface="NanumGothic" panose="020D0604000000000000" pitchFamily="34" charset="-127"/>
                <a:ea typeface="NanumGothic" panose="020D0604000000000000" pitchFamily="34" charset="-127"/>
              </a:rPr>
              <a:t>IBC (Trustless)</a:t>
            </a:r>
          </a:p>
          <a:p>
            <a:pPr lvl="1"/>
            <a:r>
              <a:rPr lang="ko-KR" altLang="en-US" sz="1600" dirty="0">
                <a:latin typeface="NanumGothic" panose="020D0604000000000000" pitchFamily="34" charset="-127"/>
                <a:ea typeface="NanumGothic" panose="020D0604000000000000" pitchFamily="34" charset="-127"/>
              </a:rPr>
              <a:t>클라이언트를 기반으로 각 체인의 상태를 검증</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자산에 대한 데이터를 </a:t>
            </a:r>
            <a:r>
              <a:rPr lang="ko-KR" altLang="en-US" sz="1600" dirty="0" err="1">
                <a:latin typeface="NanumGothic" panose="020D0604000000000000" pitchFamily="34" charset="-127"/>
                <a:ea typeface="NanumGothic" panose="020D0604000000000000" pitchFamily="34" charset="-127"/>
              </a:rPr>
              <a:t>릴레이어를</a:t>
            </a:r>
            <a:r>
              <a:rPr lang="ko-KR" altLang="en-US" sz="1600" dirty="0">
                <a:latin typeface="NanumGothic" panose="020D0604000000000000" pitchFamily="34" charset="-127"/>
                <a:ea typeface="NanumGothic" panose="020D0604000000000000" pitchFamily="34" charset="-127"/>
              </a:rPr>
              <a:t> 통해 전송</a:t>
            </a:r>
            <a:endParaRPr lang="en-US" altLang="ko-KR" sz="1600" dirty="0">
              <a:latin typeface="NanumGothic" panose="020D0604000000000000" pitchFamily="34" charset="-127"/>
              <a:ea typeface="NanumGothic" panose="020D0604000000000000" pitchFamily="34" charset="-127"/>
            </a:endParaRPr>
          </a:p>
          <a:p>
            <a:pPr lvl="1"/>
            <a:r>
              <a:rPr lang="ko-KR" altLang="en-US" sz="1600" dirty="0" err="1">
                <a:latin typeface="NanumGothic" panose="020D0604000000000000" pitchFamily="34" charset="-127"/>
                <a:ea typeface="NanumGothic" panose="020D0604000000000000" pitchFamily="34" charset="-127"/>
              </a:rPr>
              <a:t>머클</a:t>
            </a:r>
            <a:r>
              <a:rPr lang="ko-KR" altLang="en-US" sz="1600" dirty="0">
                <a:latin typeface="NanumGothic" panose="020D0604000000000000" pitchFamily="34" charset="-127"/>
                <a:ea typeface="NanumGothic" panose="020D0604000000000000" pitchFamily="34" charset="-127"/>
              </a:rPr>
              <a:t> 증명 등 최소한의 정보를 통해 상대 체인을 검증</a:t>
            </a:r>
            <a:endParaRPr lang="en-US" altLang="ko-KR" sz="1600" dirty="0">
              <a:latin typeface="NanumGothic" panose="020D0604000000000000" pitchFamily="34" charset="-127"/>
              <a:ea typeface="NanumGothic" panose="020D0604000000000000" pitchFamily="34" charset="-127"/>
            </a:endParaRPr>
          </a:p>
          <a:p>
            <a:pPr lvl="1"/>
            <a:r>
              <a:rPr lang="ko-KR" altLang="en-US" sz="1600" dirty="0" err="1">
                <a:latin typeface="NanumGothic" panose="020D0604000000000000" pitchFamily="34" charset="-127"/>
                <a:ea typeface="NanumGothic" panose="020D0604000000000000" pitchFamily="34" charset="-127"/>
              </a:rPr>
              <a:t>릴레이어는</a:t>
            </a:r>
            <a:r>
              <a:rPr lang="ko-KR" altLang="en-US" sz="1600" dirty="0">
                <a:latin typeface="NanumGothic" panose="020D0604000000000000" pitchFamily="34" charset="-127"/>
                <a:ea typeface="NanumGothic" panose="020D0604000000000000" pitchFamily="34" charset="-127"/>
              </a:rPr>
              <a:t> 데이터에 대한 중계만 담당하므로</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체인의 직접적인 문제가 아니면 네트워크 안전성 유지 가능</a:t>
            </a:r>
            <a:endParaRPr lang="en-US" altLang="ko-KR" sz="16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Cosmos, Osmosis </a:t>
            </a:r>
            <a:r>
              <a:rPr lang="ko-KR" altLang="en-US" sz="1600" dirty="0">
                <a:latin typeface="NanumGothic" panose="020D0604000000000000" pitchFamily="34" charset="-127"/>
                <a:ea typeface="NanumGothic" panose="020D0604000000000000" pitchFamily="34" charset="-127"/>
              </a:rPr>
              <a:t>등</a:t>
            </a:r>
            <a:endParaRPr lang="en-US" altLang="ko-KR" sz="1600" dirty="0">
              <a:latin typeface="NanumGothic" panose="020D0604000000000000" pitchFamily="34" charset="-127"/>
              <a:ea typeface="NanumGothic" panose="020D0604000000000000" pitchFamily="34" charset="-127"/>
            </a:endParaRPr>
          </a:p>
          <a:p>
            <a:r>
              <a:rPr lang="en-US" altLang="ko-KR" sz="2000" dirty="0">
                <a:latin typeface="NanumGothic" panose="020D0604000000000000" pitchFamily="34" charset="-127"/>
                <a:ea typeface="NanumGothic" panose="020D0604000000000000" pitchFamily="34" charset="-127"/>
              </a:rPr>
              <a:t>Custodian</a:t>
            </a:r>
            <a:r>
              <a:rPr lang="ko-KR" altLang="en-US" sz="2000" dirty="0">
                <a:latin typeface="NanumGothic" panose="020D0604000000000000" pitchFamily="34" charset="-127"/>
                <a:ea typeface="NanumGothic" panose="020D0604000000000000" pitchFamily="34" charset="-127"/>
              </a:rPr>
              <a:t> </a:t>
            </a:r>
            <a:r>
              <a:rPr lang="en-US" altLang="ko-KR" sz="2000" dirty="0">
                <a:latin typeface="NanumGothic" panose="020D0604000000000000" pitchFamily="34" charset="-127"/>
                <a:ea typeface="NanumGothic" panose="020D0604000000000000" pitchFamily="34" charset="-127"/>
              </a:rPr>
              <a:t>(Trusted)</a:t>
            </a:r>
          </a:p>
          <a:p>
            <a:pPr lvl="1"/>
            <a:r>
              <a:rPr lang="ko-KR" altLang="en-US" sz="1600" dirty="0">
                <a:latin typeface="NanumGothic" panose="020D0604000000000000" pitchFamily="34" charset="-127"/>
                <a:ea typeface="NanumGothic" panose="020D0604000000000000" pitchFamily="34" charset="-127"/>
              </a:rPr>
              <a:t>중앙화</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된 보관소에서 자산 관리</a:t>
            </a:r>
            <a:endParaRPr lang="en-US" altLang="ko-KR" sz="1600" dirty="0">
              <a:latin typeface="NanumGothic" panose="020D0604000000000000" pitchFamily="34" charset="-127"/>
              <a:ea typeface="NanumGothic" panose="020D0604000000000000" pitchFamily="34" charset="-127"/>
            </a:endParaRPr>
          </a:p>
          <a:p>
            <a:pPr lvl="1"/>
            <a:r>
              <a:rPr lang="en-US" altLang="ko-KR" sz="1600" dirty="0" err="1">
                <a:latin typeface="NanumGothic" panose="020D0604000000000000" pitchFamily="34" charset="-127"/>
                <a:ea typeface="NanumGothic" panose="020D0604000000000000" pitchFamily="34" charset="-127"/>
              </a:rPr>
              <a:t>RenBridge</a:t>
            </a:r>
            <a:r>
              <a:rPr lang="en-US" altLang="ko-KR" sz="1600" dirty="0">
                <a:latin typeface="NanumGothic" panose="020D0604000000000000" pitchFamily="34" charset="-127"/>
                <a:ea typeface="NanumGothic" panose="020D0604000000000000" pitchFamily="34" charset="-127"/>
              </a:rPr>
              <a:t>, WBTC</a:t>
            </a:r>
          </a:p>
          <a:p>
            <a:r>
              <a:rPr lang="ko-KR" altLang="en-US" sz="2000" dirty="0">
                <a:latin typeface="NanumGothic" panose="020D0604000000000000" pitchFamily="34" charset="-127"/>
                <a:ea typeface="NanumGothic" panose="020D0604000000000000" pitchFamily="34" charset="-127"/>
              </a:rPr>
              <a:t>다중 서명자</a:t>
            </a:r>
            <a:r>
              <a:rPr lang="en-US" altLang="ko-KR" sz="2000" dirty="0">
                <a:latin typeface="NanumGothic" panose="020D0604000000000000" pitchFamily="34" charset="-127"/>
                <a:ea typeface="NanumGothic" panose="020D0604000000000000" pitchFamily="34" charset="-127"/>
              </a:rPr>
              <a:t> (Trustless)</a:t>
            </a:r>
          </a:p>
          <a:p>
            <a:pPr lvl="1"/>
            <a:r>
              <a:rPr lang="ko-KR" altLang="en-US" sz="1600" dirty="0">
                <a:latin typeface="NanumGothic" panose="020D0604000000000000" pitchFamily="34" charset="-127"/>
                <a:ea typeface="NanumGothic" panose="020D0604000000000000" pitchFamily="34" charset="-127"/>
              </a:rPr>
              <a:t>여러 서명자가 트랜잭션을 검증하고</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해당 검증에 대한 합의가 완료되었을 때 자산 전송</a:t>
            </a:r>
            <a:endParaRPr lang="en-US" altLang="ko-KR" sz="16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Wormhole, Multichain</a:t>
            </a:r>
            <a:endParaRPr lang="en-US" altLang="ko-KR" sz="12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1400" dirty="0">
              <a:latin typeface="NanumGothic" panose="020D0604000000000000" pitchFamily="34" charset="-127"/>
              <a:ea typeface="NanumGothic" panose="020D0604000000000000" pitchFamily="34" charset="-127"/>
            </a:endParaRPr>
          </a:p>
          <a:p>
            <a:pPr lvl="2"/>
            <a:endParaRPr lang="en-US" altLang="ko-KR" sz="1400" dirty="0">
              <a:latin typeface="NanumGothic" panose="020D0604000000000000" pitchFamily="34" charset="-127"/>
              <a:ea typeface="NanumGothic" panose="020D0604000000000000" pitchFamily="34" charset="-127"/>
            </a:endParaRPr>
          </a:p>
          <a:p>
            <a:pPr lvl="2"/>
            <a:endParaRPr lang="en-US" altLang="ko-KR" sz="1200" b="0" dirty="0">
              <a:effectLst/>
              <a:latin typeface="NanumGothic" panose="020D0604000000000000" pitchFamily="34" charset="-127"/>
              <a:ea typeface="NanumGothic" panose="020D0604000000000000" pitchFamily="34" charset="-127"/>
            </a:endParaRPr>
          </a:p>
          <a:p>
            <a:pPr lvl="1"/>
            <a:endParaRPr lang="en-US" sz="1600" b="0" dirty="0">
              <a:effectLst/>
              <a:latin typeface="NanumGothic" panose="020D0604000000000000" pitchFamily="34" charset="-127"/>
              <a:ea typeface="NanumGothic" panose="020D0604000000000000" pitchFamily="34" charset="-127"/>
            </a:endParaRPr>
          </a:p>
          <a:p>
            <a:endParaRPr lang="en-US" sz="20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a:t>
            </a:r>
            <a:r>
              <a:rPr lang="ko-KR" altLang="en-US" sz="1000" dirty="0"/>
              <a:t>와 타</a:t>
            </a:r>
            <a:r>
              <a:rPr lang="en-US" altLang="ko-KR" sz="1000" dirty="0"/>
              <a:t> Bridge </a:t>
            </a:r>
            <a:r>
              <a:rPr lang="ko-KR" altLang="en-US" sz="1000" dirty="0" err="1"/>
              <a:t>와의</a:t>
            </a:r>
            <a:r>
              <a:rPr lang="ko-KR" altLang="en-US" sz="1000" dirty="0"/>
              <a:t> 보안 모델 비교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5444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IBC</a:t>
            </a:r>
            <a:r>
              <a:rPr lang="ko-KR" altLang="en-US" sz="4000" dirty="0">
                <a:latin typeface="NanumGothic" panose="020D0604000000000000" pitchFamily="34" charset="-127"/>
                <a:ea typeface="NanumGothic" panose="020D0604000000000000" pitchFamily="34" charset="-127"/>
              </a:rPr>
              <a:t>와 </a:t>
            </a:r>
            <a:r>
              <a:rPr lang="en-US" altLang="ko-KR" sz="4000" dirty="0">
                <a:latin typeface="NanumGothic" panose="020D0604000000000000" pitchFamily="34" charset="-127"/>
                <a:ea typeface="NanumGothic" panose="020D0604000000000000" pitchFamily="34" charset="-127"/>
              </a:rPr>
              <a:t>Bridge </a:t>
            </a:r>
            <a:r>
              <a:rPr lang="ko-KR" altLang="en-US" sz="4000" dirty="0">
                <a:latin typeface="NanumGothic" panose="020D0604000000000000" pitchFamily="34" charset="-127"/>
                <a:ea typeface="NanumGothic" panose="020D0604000000000000" pitchFamily="34" charset="-127"/>
              </a:rPr>
              <a:t>기술 비교</a:t>
            </a:r>
            <a:r>
              <a:rPr 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2</a:t>
            </a:r>
            <a:r>
              <a:rPr lang="en-US" sz="4000" dirty="0">
                <a:latin typeface="NanumGothic" panose="020D0604000000000000" pitchFamily="34" charset="-127"/>
                <a:ea typeface="NanumGothic" panose="020D0604000000000000" pitchFamily="34" charset="-127"/>
              </a:rPr>
              <a:t>/</a:t>
            </a:r>
            <a:r>
              <a:rPr lang="en-US" altLang="ko-KR" sz="4000" dirty="0">
                <a:latin typeface="NanumGothic" panose="020D0604000000000000" pitchFamily="34" charset="-127"/>
                <a:ea typeface="NanumGothic" panose="020D0604000000000000" pitchFamily="34" charset="-127"/>
              </a:rPr>
              <a:t>2</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1000" dirty="0"/>
              <a:t>IBC</a:t>
            </a:r>
            <a:r>
              <a:rPr lang="ko-KR" altLang="en-US" sz="1000" dirty="0"/>
              <a:t>와 타</a:t>
            </a:r>
            <a:r>
              <a:rPr lang="en-US" altLang="ko-KR" sz="1000" dirty="0"/>
              <a:t> Bridge </a:t>
            </a:r>
            <a:r>
              <a:rPr lang="ko-KR" altLang="en-US" sz="1000" dirty="0" err="1"/>
              <a:t>와의</a:t>
            </a:r>
            <a:r>
              <a:rPr lang="ko-KR" altLang="en-US" sz="1000" dirty="0"/>
              <a:t> 보안 모델 비교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9EBC8071-B5F5-80F6-1034-5E293961D0DC}"/>
              </a:ext>
            </a:extLst>
          </p:cNvPr>
          <p:cNvGraphicFramePr>
            <a:graphicFrameLocks noGrp="1"/>
          </p:cNvGraphicFramePr>
          <p:nvPr>
            <p:extLst>
              <p:ext uri="{D42A27DB-BD31-4B8C-83A1-F6EECF244321}">
                <p14:modId xmlns:p14="http://schemas.microsoft.com/office/powerpoint/2010/main" val="12962912"/>
              </p:ext>
            </p:extLst>
          </p:nvPr>
        </p:nvGraphicFramePr>
        <p:xfrm>
          <a:off x="838199" y="1693700"/>
          <a:ext cx="10442712" cy="4799172"/>
        </p:xfrm>
        <a:graphic>
          <a:graphicData uri="http://schemas.openxmlformats.org/drawingml/2006/table">
            <a:tbl>
              <a:tblPr firstRow="1" bandRow="1">
                <a:tableStyleId>{5C22544A-7EE6-4342-B048-85BDC9FD1C3A}</a:tableStyleId>
              </a:tblPr>
              <a:tblGrid>
                <a:gridCol w="1726097">
                  <a:extLst>
                    <a:ext uri="{9D8B030D-6E8A-4147-A177-3AD203B41FA5}">
                      <a16:colId xmlns:a16="http://schemas.microsoft.com/office/drawing/2014/main" val="3071899795"/>
                    </a:ext>
                  </a:extLst>
                </a:gridCol>
                <a:gridCol w="2842591">
                  <a:extLst>
                    <a:ext uri="{9D8B030D-6E8A-4147-A177-3AD203B41FA5}">
                      <a16:colId xmlns:a16="http://schemas.microsoft.com/office/drawing/2014/main" val="732713142"/>
                    </a:ext>
                  </a:extLst>
                </a:gridCol>
                <a:gridCol w="3190461">
                  <a:extLst>
                    <a:ext uri="{9D8B030D-6E8A-4147-A177-3AD203B41FA5}">
                      <a16:colId xmlns:a16="http://schemas.microsoft.com/office/drawing/2014/main" val="3746171950"/>
                    </a:ext>
                  </a:extLst>
                </a:gridCol>
                <a:gridCol w="2683563">
                  <a:extLst>
                    <a:ext uri="{9D8B030D-6E8A-4147-A177-3AD203B41FA5}">
                      <a16:colId xmlns:a16="http://schemas.microsoft.com/office/drawing/2014/main" val="2884649982"/>
                    </a:ext>
                  </a:extLst>
                </a:gridCol>
              </a:tblGrid>
              <a:tr h="799862">
                <a:tc>
                  <a:txBody>
                    <a:bodyPr/>
                    <a:lstStyle/>
                    <a:p>
                      <a:pPr algn="ctr"/>
                      <a:endParaRPr lang="en-KR" b="1" dirty="0">
                        <a:latin typeface="NanumGothic" panose="020D0604000000000000" pitchFamily="34" charset="-127"/>
                        <a:ea typeface="NanumGothic" panose="020D0604000000000000" pitchFamily="34" charset="-127"/>
                      </a:endParaRPr>
                    </a:p>
                  </a:txBody>
                  <a:tcPr anchor="ctr"/>
                </a:tc>
                <a:tc>
                  <a:txBody>
                    <a:bodyPr/>
                    <a:lstStyle/>
                    <a:p>
                      <a:pPr algn="ctr"/>
                      <a:r>
                        <a:rPr lang="en-KR" b="1" dirty="0">
                          <a:latin typeface="NanumGothic" panose="020D0604000000000000" pitchFamily="34" charset="-127"/>
                          <a:ea typeface="NanumGothic" panose="020D0604000000000000" pitchFamily="34" charset="-127"/>
                        </a:rPr>
                        <a:t>IBC</a:t>
                      </a:r>
                    </a:p>
                  </a:txBody>
                  <a:tcPr anchor="ctr"/>
                </a:tc>
                <a:tc>
                  <a:txBody>
                    <a:bodyPr/>
                    <a:lstStyle/>
                    <a:p>
                      <a:pPr algn="ctr"/>
                      <a:r>
                        <a:rPr lang="en-US" b="1" dirty="0">
                          <a:latin typeface="NanumGothic" panose="020D0604000000000000" pitchFamily="34" charset="-127"/>
                          <a:ea typeface="NanumGothic" panose="020D0604000000000000" pitchFamily="34" charset="-127"/>
                        </a:rPr>
                        <a:t>Custodian</a:t>
                      </a:r>
                      <a:endParaRPr lang="en-KR" b="1"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b="1" dirty="0">
                          <a:latin typeface="NanumGothic" panose="020D0604000000000000" pitchFamily="34" charset="-127"/>
                          <a:ea typeface="NanumGothic" panose="020D0604000000000000" pitchFamily="34" charset="-127"/>
                        </a:rPr>
                        <a:t>다중서명자</a:t>
                      </a:r>
                      <a:endParaRPr lang="en-KR" b="1" dirty="0">
                        <a:latin typeface="NanumGothic" panose="020D0604000000000000" pitchFamily="34" charset="-127"/>
                        <a:ea typeface="NanumGothic" panose="020D0604000000000000" pitchFamily="34" charset="-127"/>
                      </a:endParaRPr>
                    </a:p>
                  </a:txBody>
                  <a:tcPr anchor="ctr"/>
                </a:tc>
                <a:extLst>
                  <a:ext uri="{0D108BD9-81ED-4DB2-BD59-A6C34878D82A}">
                    <a16:rowId xmlns:a16="http://schemas.microsoft.com/office/drawing/2014/main" val="3909135288"/>
                  </a:ext>
                </a:extLst>
              </a:tr>
              <a:tr h="799862">
                <a:tc>
                  <a:txBody>
                    <a:bodyPr/>
                    <a:lstStyle/>
                    <a:p>
                      <a:pPr algn="ctr"/>
                      <a:r>
                        <a:rPr lang="ko-KR" altLang="en-US" b="1" dirty="0">
                          <a:latin typeface="NanumGothic" panose="020D0604000000000000" pitchFamily="34" charset="-127"/>
                          <a:ea typeface="NanumGothic" panose="020D0604000000000000" pitchFamily="34" charset="-127"/>
                        </a:rPr>
                        <a:t>탈중앙화 수준</a:t>
                      </a:r>
                      <a:endParaRPr lang="en-KR" b="1"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높음</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낮음</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중간</a:t>
                      </a:r>
                      <a:endParaRPr lang="en-KR" sz="1600" dirty="0">
                        <a:latin typeface="NanumGothic" panose="020D0604000000000000" pitchFamily="34" charset="-127"/>
                        <a:ea typeface="NanumGothic" panose="020D0604000000000000" pitchFamily="34" charset="-127"/>
                      </a:endParaRPr>
                    </a:p>
                  </a:txBody>
                  <a:tcPr anchor="ctr"/>
                </a:tc>
                <a:extLst>
                  <a:ext uri="{0D108BD9-81ED-4DB2-BD59-A6C34878D82A}">
                    <a16:rowId xmlns:a16="http://schemas.microsoft.com/office/drawing/2014/main" val="4005658772"/>
                  </a:ext>
                </a:extLst>
              </a:tr>
              <a:tr h="799862">
                <a:tc>
                  <a:txBody>
                    <a:bodyPr/>
                    <a:lstStyle/>
                    <a:p>
                      <a:pPr algn="ctr"/>
                      <a:r>
                        <a:rPr lang="ko-KR" altLang="en-US" b="1" dirty="0">
                          <a:latin typeface="NanumGothic" panose="020D0604000000000000" pitchFamily="34" charset="-127"/>
                          <a:ea typeface="NanumGothic" panose="020D0604000000000000" pitchFamily="34" charset="-127"/>
                        </a:rPr>
                        <a:t>보안 취약점</a:t>
                      </a:r>
                      <a:endParaRPr lang="en-KR" b="1"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체인</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중앙화 시스템</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서명자 네트워크</a:t>
                      </a:r>
                      <a:endParaRPr lang="en-KR" sz="1600" dirty="0">
                        <a:latin typeface="NanumGothic" panose="020D0604000000000000" pitchFamily="34" charset="-127"/>
                        <a:ea typeface="NanumGothic" panose="020D0604000000000000" pitchFamily="34" charset="-127"/>
                      </a:endParaRPr>
                    </a:p>
                  </a:txBody>
                  <a:tcPr anchor="ctr"/>
                </a:tc>
                <a:extLst>
                  <a:ext uri="{0D108BD9-81ED-4DB2-BD59-A6C34878D82A}">
                    <a16:rowId xmlns:a16="http://schemas.microsoft.com/office/drawing/2014/main" val="2945535367"/>
                  </a:ext>
                </a:extLst>
              </a:tr>
              <a:tr h="799862">
                <a:tc>
                  <a:txBody>
                    <a:bodyPr/>
                    <a:lstStyle/>
                    <a:p>
                      <a:pPr algn="ctr"/>
                      <a:r>
                        <a:rPr lang="ko-KR" altLang="en-US" b="1" dirty="0">
                          <a:latin typeface="NanumGothic" panose="020D0604000000000000" pitchFamily="34" charset="-127"/>
                          <a:ea typeface="NanumGothic" panose="020D0604000000000000" pitchFamily="34" charset="-127"/>
                        </a:rPr>
                        <a:t>확장성</a:t>
                      </a:r>
                      <a:endParaRPr lang="en-KR" b="1"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높음</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낮음</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중간</a:t>
                      </a:r>
                      <a:endParaRPr lang="en-KR" sz="1600" dirty="0">
                        <a:latin typeface="NanumGothic" panose="020D0604000000000000" pitchFamily="34" charset="-127"/>
                        <a:ea typeface="NanumGothic" panose="020D0604000000000000" pitchFamily="34" charset="-127"/>
                      </a:endParaRPr>
                    </a:p>
                  </a:txBody>
                  <a:tcPr anchor="ctr"/>
                </a:tc>
                <a:extLst>
                  <a:ext uri="{0D108BD9-81ED-4DB2-BD59-A6C34878D82A}">
                    <a16:rowId xmlns:a16="http://schemas.microsoft.com/office/drawing/2014/main" val="3990956655"/>
                  </a:ext>
                </a:extLst>
              </a:tr>
              <a:tr h="799862">
                <a:tc>
                  <a:txBody>
                    <a:bodyPr/>
                    <a:lstStyle/>
                    <a:p>
                      <a:pPr algn="ctr"/>
                      <a:r>
                        <a:rPr lang="ko-KR" altLang="en-US" b="1" dirty="0">
                          <a:latin typeface="NanumGothic" panose="020D0604000000000000" pitchFamily="34" charset="-127"/>
                          <a:ea typeface="NanumGothic" panose="020D0604000000000000" pitchFamily="34" charset="-127"/>
                        </a:rPr>
                        <a:t>속도</a:t>
                      </a:r>
                      <a:endParaRPr lang="en-KR" b="1"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느림</a:t>
                      </a:r>
                      <a:endParaRPr lang="en-US" altLang="ko-KR" sz="1600" dirty="0">
                        <a:latin typeface="NanumGothic" panose="020D0604000000000000" pitchFamily="34" charset="-127"/>
                        <a:ea typeface="NanumGothic" panose="020D0604000000000000" pitchFamily="34" charset="-127"/>
                      </a:endParaRPr>
                    </a:p>
                    <a:p>
                      <a:pPr algn="ct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체인 속도에 의존</a:t>
                      </a:r>
                      <a:r>
                        <a:rPr lang="en-US" altLang="ko-KR" sz="1600" dirty="0">
                          <a:latin typeface="NanumGothic" panose="020D0604000000000000" pitchFamily="34" charset="-127"/>
                          <a:ea typeface="NanumGothic" panose="020D0604000000000000" pitchFamily="34" charset="-127"/>
                        </a:rPr>
                        <a:t>)</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빠름</a:t>
                      </a:r>
                      <a:endParaRPr lang="en-US" altLang="ko-KR" sz="1600" dirty="0">
                        <a:latin typeface="NanumGothic" panose="020D0604000000000000" pitchFamily="34" charset="-127"/>
                        <a:ea typeface="NanumGothic" panose="020D0604000000000000" pitchFamily="34" charset="-127"/>
                      </a:endParaRPr>
                    </a:p>
                    <a:p>
                      <a:pPr algn="ct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중앙화 시스템 속도에 의존</a:t>
                      </a:r>
                      <a:r>
                        <a:rPr lang="en-US" altLang="ko-KR" sz="1600" dirty="0">
                          <a:latin typeface="NanumGothic" panose="020D0604000000000000" pitchFamily="34" charset="-127"/>
                          <a:ea typeface="NanumGothic" panose="020D0604000000000000" pitchFamily="34" charset="-127"/>
                        </a:rPr>
                        <a:t>)</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중간</a:t>
                      </a:r>
                      <a:endParaRPr lang="en-US" altLang="ko-KR" sz="1600" dirty="0">
                        <a:latin typeface="NanumGothic" panose="020D0604000000000000" pitchFamily="34" charset="-127"/>
                        <a:ea typeface="NanumGothic" panose="020D0604000000000000" pitchFamily="34" charset="-127"/>
                      </a:endParaRPr>
                    </a:p>
                    <a:p>
                      <a:pPr algn="ct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서명자 속도에 의존</a:t>
                      </a:r>
                      <a:r>
                        <a:rPr lang="en-US" altLang="ko-KR" sz="1600" dirty="0">
                          <a:latin typeface="NanumGothic" panose="020D0604000000000000" pitchFamily="34" charset="-127"/>
                          <a:ea typeface="NanumGothic" panose="020D0604000000000000" pitchFamily="34" charset="-127"/>
                        </a:rPr>
                        <a:t>)</a:t>
                      </a:r>
                      <a:endParaRPr lang="en-KR" sz="1600" dirty="0">
                        <a:latin typeface="NanumGothic" panose="020D0604000000000000" pitchFamily="34" charset="-127"/>
                        <a:ea typeface="NanumGothic" panose="020D0604000000000000" pitchFamily="34" charset="-127"/>
                      </a:endParaRPr>
                    </a:p>
                  </a:txBody>
                  <a:tcPr anchor="ctr"/>
                </a:tc>
                <a:extLst>
                  <a:ext uri="{0D108BD9-81ED-4DB2-BD59-A6C34878D82A}">
                    <a16:rowId xmlns:a16="http://schemas.microsoft.com/office/drawing/2014/main" val="2792854429"/>
                  </a:ext>
                </a:extLst>
              </a:tr>
              <a:tr h="799862">
                <a:tc>
                  <a:txBody>
                    <a:bodyPr/>
                    <a:lstStyle/>
                    <a:p>
                      <a:pPr algn="ctr"/>
                      <a:r>
                        <a:rPr lang="ko-KR" altLang="en-US" b="1" dirty="0">
                          <a:latin typeface="NanumGothic" panose="020D0604000000000000" pitchFamily="34" charset="-127"/>
                          <a:ea typeface="NanumGothic" panose="020D0604000000000000" pitchFamily="34" charset="-127"/>
                        </a:rPr>
                        <a:t>비용</a:t>
                      </a:r>
                      <a:endParaRPr lang="en-KR" b="1"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추가 유동성 요구 없음</a:t>
                      </a:r>
                      <a:endParaRPr lang="en-US" altLang="ko-KR" sz="1600" dirty="0">
                        <a:latin typeface="NanumGothic" panose="020D0604000000000000" pitchFamily="34" charset="-127"/>
                        <a:ea typeface="NanumGothic" panose="020D0604000000000000" pitchFamily="34" charset="-127"/>
                      </a:endParaRPr>
                    </a:p>
                    <a:p>
                      <a:pPr algn="ctr"/>
                      <a:r>
                        <a:rPr lang="ko-KR" altLang="en-US" sz="1600" dirty="0" err="1">
                          <a:latin typeface="NanumGothic" panose="020D0604000000000000" pitchFamily="34" charset="-127"/>
                          <a:ea typeface="NanumGothic" panose="020D0604000000000000" pitchFamily="34" charset="-127"/>
                        </a:rPr>
                        <a:t>릴레이어</a:t>
                      </a:r>
                      <a:r>
                        <a:rPr lang="ko-KR" altLang="en-US" sz="1600" dirty="0">
                          <a:latin typeface="NanumGothic" panose="020D0604000000000000" pitchFamily="34" charset="-127"/>
                          <a:ea typeface="NanumGothic" panose="020D0604000000000000" pitchFamily="34" charset="-127"/>
                        </a:rPr>
                        <a:t> 비용 발생 가능</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중앙화 시스템 운영 비용 발생</a:t>
                      </a:r>
                      <a:endParaRPr lang="en-KR" sz="1600" dirty="0">
                        <a:latin typeface="NanumGothic" panose="020D0604000000000000" pitchFamily="34" charset="-127"/>
                        <a:ea typeface="NanumGothic" panose="020D0604000000000000" pitchFamily="34" charset="-127"/>
                      </a:endParaRPr>
                    </a:p>
                  </a:txBody>
                  <a:tcPr anchor="ctr"/>
                </a:tc>
                <a:tc>
                  <a:txBody>
                    <a:bodyPr/>
                    <a:lstStyle/>
                    <a:p>
                      <a:pPr algn="ctr"/>
                      <a:r>
                        <a:rPr lang="ko-KR" altLang="en-US" sz="1600" dirty="0">
                          <a:latin typeface="NanumGothic" panose="020D0604000000000000" pitchFamily="34" charset="-127"/>
                          <a:ea typeface="NanumGothic" panose="020D0604000000000000" pitchFamily="34" charset="-127"/>
                        </a:rPr>
                        <a:t>서명자 네트워크 보상</a:t>
                      </a:r>
                      <a:endParaRPr lang="en-US" altLang="ko-KR" sz="1600" dirty="0">
                        <a:latin typeface="NanumGothic" panose="020D0604000000000000" pitchFamily="34" charset="-127"/>
                        <a:ea typeface="NanumGothic" panose="020D0604000000000000" pitchFamily="34" charset="-127"/>
                      </a:endParaRPr>
                    </a:p>
                    <a:p>
                      <a:pPr algn="ctr"/>
                      <a:r>
                        <a:rPr lang="ko-KR" altLang="en-US" sz="1600" dirty="0">
                          <a:latin typeface="NanumGothic" panose="020D0604000000000000" pitchFamily="34" charset="-127"/>
                          <a:ea typeface="NanumGothic" panose="020D0604000000000000" pitchFamily="34" charset="-127"/>
                        </a:rPr>
                        <a:t>운영 비용 발생</a:t>
                      </a:r>
                      <a:endParaRPr lang="en-KR" sz="1600" dirty="0">
                        <a:latin typeface="NanumGothic" panose="020D0604000000000000" pitchFamily="34" charset="-127"/>
                        <a:ea typeface="NanumGothic" panose="020D0604000000000000" pitchFamily="34" charset="-127"/>
                      </a:endParaRPr>
                    </a:p>
                  </a:txBody>
                  <a:tcPr anchor="ctr"/>
                </a:tc>
                <a:extLst>
                  <a:ext uri="{0D108BD9-81ED-4DB2-BD59-A6C34878D82A}">
                    <a16:rowId xmlns:a16="http://schemas.microsoft.com/office/drawing/2014/main" val="3513838135"/>
                  </a:ext>
                </a:extLst>
              </a:tr>
            </a:tbl>
          </a:graphicData>
        </a:graphic>
      </p:graphicFrame>
    </p:spTree>
    <p:extLst>
      <p:ext uri="{BB962C8B-B14F-4D97-AF65-F5344CB8AC3E}">
        <p14:creationId xmlns:p14="http://schemas.microsoft.com/office/powerpoint/2010/main" val="3201168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ICS-20</a:t>
            </a:r>
            <a:r>
              <a:rPr lang="ko-KR" altLang="en-US" sz="4000" dirty="0">
                <a:latin typeface="NanumGothic" panose="020D0604000000000000" pitchFamily="34" charset="-127"/>
                <a:ea typeface="NanumGothic" panose="020D0604000000000000" pitchFamily="34" charset="-127"/>
              </a:rPr>
              <a:t> </a:t>
            </a:r>
            <a:r>
              <a:rPr lang="en-US" altLang="ko-KR" sz="4000" dirty="0">
                <a:latin typeface="NanumGothic" panose="020D0604000000000000" pitchFamily="34" charset="-127"/>
                <a:ea typeface="NanumGothic" panose="020D0604000000000000" pitchFamily="34" charset="-127"/>
              </a:rPr>
              <a:t>Transfer Overview</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Content Placeholder 8">
            <a:extLst>
              <a:ext uri="{FF2B5EF4-FFF2-40B4-BE49-F238E27FC236}">
                <a16:creationId xmlns:a16="http://schemas.microsoft.com/office/drawing/2014/main" id="{0BD36EC3-84B1-9BC2-DF81-1FEA2B8BB464}"/>
              </a:ext>
            </a:extLst>
          </p:cNvPr>
          <p:cNvPicPr>
            <a:picLocks noGrp="1" noChangeAspect="1"/>
          </p:cNvPicPr>
          <p:nvPr>
            <p:ph idx="1"/>
          </p:nvPr>
        </p:nvPicPr>
        <p:blipFill>
          <a:blip r:embed="rId3"/>
          <a:stretch>
            <a:fillRect/>
          </a:stretch>
        </p:blipFill>
        <p:spPr>
          <a:xfrm>
            <a:off x="838200" y="1766003"/>
            <a:ext cx="3701391" cy="4351338"/>
          </a:xfrm>
        </p:spPr>
      </p:pic>
      <p:sp>
        <p:nvSpPr>
          <p:cNvPr id="10" name="Content Placeholder 2">
            <a:extLst>
              <a:ext uri="{FF2B5EF4-FFF2-40B4-BE49-F238E27FC236}">
                <a16:creationId xmlns:a16="http://schemas.microsoft.com/office/drawing/2014/main" id="{DBE34203-D3AB-8DF3-1D8A-6B819AD513FB}"/>
              </a:ext>
            </a:extLst>
          </p:cNvPr>
          <p:cNvSpPr txBox="1">
            <a:spLocks/>
          </p:cNvSpPr>
          <p:nvPr/>
        </p:nvSpPr>
        <p:spPr>
          <a:xfrm>
            <a:off x="4631636" y="1766004"/>
            <a:ext cx="672216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ko-KR" altLang="en-US" sz="1600" dirty="0">
                <a:latin typeface="NanumGothic" panose="020D0604000000000000" pitchFamily="34" charset="-127"/>
                <a:ea typeface="NanumGothic" panose="020D0604000000000000" pitchFamily="34" charset="-127"/>
              </a:rPr>
              <a:t>릴레이어가 각 체인별로 </a:t>
            </a:r>
            <a:r>
              <a:rPr lang="ko-KR" altLang="en-US" sz="1600" u="sng" dirty="0">
                <a:latin typeface="NanumGothic" panose="020D0604000000000000" pitchFamily="34" charset="-127"/>
                <a:ea typeface="NanumGothic" panose="020D0604000000000000" pitchFamily="34" charset="-127"/>
              </a:rPr>
              <a:t>클라이언트</a:t>
            </a:r>
            <a:r>
              <a:rPr lang="ko-KR" altLang="en-US" sz="1600" dirty="0">
                <a:latin typeface="NanumGothic" panose="020D0604000000000000" pitchFamily="34" charset="-127"/>
                <a:ea typeface="NanumGothic" panose="020D0604000000000000" pitchFamily="34" charset="-127"/>
              </a:rPr>
              <a:t>를 생성</a:t>
            </a:r>
            <a:r>
              <a:rPr lang="en-US" altLang="ko-KR" sz="1600" dirty="0">
                <a:latin typeface="NanumGothic" panose="020D0604000000000000" pitchFamily="34" charset="-127"/>
                <a:ea typeface="NanumGothic" panose="020D0604000000000000" pitchFamily="34" charset="-127"/>
              </a:rPr>
              <a:t> (ICS-2, ICS-7)</a:t>
            </a:r>
          </a:p>
          <a:p>
            <a:pPr marL="457200" indent="-457200">
              <a:buAutoNum type="arabicPeriod"/>
            </a:pPr>
            <a:r>
              <a:rPr lang="ko-KR" altLang="en-US" sz="1600" dirty="0">
                <a:latin typeface="NanumGothic" panose="020D0604000000000000" pitchFamily="34" charset="-127"/>
                <a:ea typeface="NanumGothic" panose="020D0604000000000000" pitchFamily="34" charset="-127"/>
              </a:rPr>
              <a:t>클라이언트가 상대 체인의 최신 상태 검증</a:t>
            </a:r>
            <a:r>
              <a:rPr lang="en-US" altLang="ko-KR" sz="1600" dirty="0">
                <a:latin typeface="NanumGothic" panose="020D0604000000000000" pitchFamily="34" charset="-127"/>
                <a:ea typeface="NanumGothic" panose="020D0604000000000000" pitchFamily="34" charset="-127"/>
              </a:rPr>
              <a:t> (ICS-23)</a:t>
            </a:r>
          </a:p>
          <a:p>
            <a:pPr marL="457200" indent="-457200">
              <a:buAutoNum type="arabicPeriod"/>
            </a:pPr>
            <a:r>
              <a:rPr lang="ko-KR" altLang="en-US" sz="1600" dirty="0">
                <a:latin typeface="NanumGothic" panose="020D0604000000000000" pitchFamily="34" charset="-127"/>
                <a:ea typeface="NanumGothic" panose="020D0604000000000000" pitchFamily="34" charset="-127"/>
              </a:rPr>
              <a:t>검증이 완료되면 양 체인의 상태 동기화</a:t>
            </a:r>
            <a:endParaRPr lang="en-US" altLang="ko-KR" sz="1600" dirty="0">
              <a:latin typeface="NanumGothic" panose="020D0604000000000000" pitchFamily="34" charset="-127"/>
              <a:ea typeface="NanumGothic" panose="020D0604000000000000" pitchFamily="34" charset="-127"/>
            </a:endParaRPr>
          </a:p>
          <a:p>
            <a:pPr marL="457200" indent="-457200">
              <a:buAutoNum type="arabicPeriod"/>
            </a:pPr>
            <a:r>
              <a:rPr lang="ko-KR" altLang="en-US" sz="1600" u="sng" dirty="0">
                <a:latin typeface="NanumGothic" panose="020D0604000000000000" pitchFamily="34" charset="-127"/>
                <a:ea typeface="NanumGothic" panose="020D0604000000000000" pitchFamily="34" charset="-127"/>
              </a:rPr>
              <a:t>커넥션</a:t>
            </a:r>
            <a:r>
              <a:rPr lang="ko-KR" altLang="en-US" sz="1600" dirty="0">
                <a:latin typeface="NanumGothic" panose="020D0604000000000000" pitchFamily="34" charset="-127"/>
                <a:ea typeface="NanumGothic" panose="020D0604000000000000" pitchFamily="34" charset="-127"/>
              </a:rPr>
              <a:t>을 통한 체인 연결</a:t>
            </a:r>
            <a:r>
              <a:rPr lang="en-US" altLang="ko-KR" sz="1600" dirty="0">
                <a:latin typeface="NanumGothic" panose="020D0604000000000000" pitchFamily="34" charset="-127"/>
                <a:ea typeface="NanumGothic" panose="020D0604000000000000" pitchFamily="34" charset="-127"/>
              </a:rPr>
              <a:t> (ICS-3)</a:t>
            </a:r>
          </a:p>
          <a:p>
            <a:pPr marL="457200" indent="-457200">
              <a:buAutoNum type="arabicPeriod"/>
            </a:pPr>
            <a:r>
              <a:rPr lang="ko-KR" altLang="en-US" sz="1600" dirty="0">
                <a:latin typeface="NanumGothic" panose="020D0604000000000000" pitchFamily="34" charset="-127"/>
                <a:ea typeface="NanumGothic" panose="020D0604000000000000" pitchFamily="34" charset="-127"/>
              </a:rPr>
              <a:t>토큰 전송 </a:t>
            </a:r>
            <a:r>
              <a:rPr lang="ko-KR" altLang="en-US" sz="1600" u="sng" dirty="0">
                <a:latin typeface="NanumGothic" panose="020D0604000000000000" pitchFamily="34" charset="-127"/>
                <a:ea typeface="NanumGothic" panose="020D0604000000000000" pitchFamily="34" charset="-127"/>
              </a:rPr>
              <a:t>채널</a:t>
            </a:r>
            <a:r>
              <a:rPr lang="ko-KR" altLang="en-US" sz="1600" dirty="0">
                <a:latin typeface="NanumGothic" panose="020D0604000000000000" pitchFamily="34" charset="-127"/>
                <a:ea typeface="NanumGothic" panose="020D0604000000000000" pitchFamily="34" charset="-127"/>
              </a:rPr>
              <a:t> 생성</a:t>
            </a:r>
            <a:r>
              <a:rPr lang="en-US" altLang="ko-KR" sz="1600" dirty="0">
                <a:latin typeface="NanumGothic" panose="020D0604000000000000" pitchFamily="34" charset="-127"/>
                <a:ea typeface="NanumGothic" panose="020D0604000000000000" pitchFamily="34" charset="-127"/>
              </a:rPr>
              <a:t> (ICS-4)</a:t>
            </a:r>
          </a:p>
          <a:p>
            <a:pPr marL="457200" indent="-457200">
              <a:buAutoNum type="arabicPeriod"/>
            </a:pPr>
            <a:r>
              <a:rPr lang="ko-KR" altLang="en-US" sz="1600" dirty="0">
                <a:latin typeface="NanumGothic" panose="020D0604000000000000" pitchFamily="34" charset="-127"/>
                <a:ea typeface="NanumGothic" panose="020D0604000000000000" pitchFamily="34" charset="-127"/>
              </a:rPr>
              <a:t>채널을 통한 데이터 패킷 전달 </a:t>
            </a:r>
            <a:endParaRPr lang="en-US" altLang="ko-KR" sz="1600" dirty="0">
              <a:latin typeface="NanumGothic" panose="020D0604000000000000" pitchFamily="34" charset="-127"/>
              <a:ea typeface="NanumGothic" panose="020D0604000000000000" pitchFamily="34" charset="-127"/>
            </a:endParaRPr>
          </a:p>
          <a:p>
            <a:pPr marL="457200" indent="-457200">
              <a:buAutoNum type="arabicPeriod"/>
            </a:pPr>
            <a:r>
              <a:rPr lang="ko-KR" altLang="en-US" sz="1600" dirty="0">
                <a:latin typeface="NanumGothic" panose="020D0604000000000000" pitchFamily="34" charset="-127"/>
                <a:ea typeface="NanumGothic" panose="020D0604000000000000" pitchFamily="34" charset="-127"/>
              </a:rPr>
              <a:t>클라이언트가 패킷 검증</a:t>
            </a:r>
            <a:r>
              <a:rPr lang="en-US" altLang="ko-KR" sz="1600" dirty="0">
                <a:latin typeface="NanumGothic" panose="020D0604000000000000" pitchFamily="34" charset="-127"/>
                <a:ea typeface="NanumGothic" panose="020D0604000000000000" pitchFamily="34" charset="-127"/>
              </a:rPr>
              <a:t> (ICS-23)</a:t>
            </a:r>
          </a:p>
          <a:p>
            <a:pPr marL="457200" indent="-457200">
              <a:buAutoNum type="arabicPeriod"/>
            </a:pPr>
            <a:r>
              <a:rPr lang="ko-KR" altLang="en-US" sz="1600" dirty="0">
                <a:latin typeface="NanumGothic" panose="020D0604000000000000" pitchFamily="34" charset="-127"/>
                <a:ea typeface="NanumGothic" panose="020D0604000000000000" pitchFamily="34" charset="-127"/>
              </a:rPr>
              <a:t>토큰 전송 트랜잭션 완료</a:t>
            </a:r>
            <a:r>
              <a:rPr lang="en-US" altLang="ko-KR" sz="1600" dirty="0">
                <a:latin typeface="NanumGothic" panose="020D0604000000000000" pitchFamily="34" charset="-127"/>
                <a:ea typeface="NanumGothic" panose="020D0604000000000000" pitchFamily="34" charset="-127"/>
              </a:rPr>
              <a:t> (ICS-20)</a:t>
            </a:r>
            <a:endParaRPr lang="en-US" sz="16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528417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Connection[1/</a:t>
            </a:r>
            <a:r>
              <a:rPr lang="en-US" altLang="ko-KR" sz="4000" dirty="0">
                <a:latin typeface="NanumGothic" panose="020D0604000000000000" pitchFamily="34" charset="-127"/>
                <a:ea typeface="NanumGothic" panose="020D0604000000000000" pitchFamily="34" charset="-127"/>
              </a:rPr>
              <a:t>2</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6D8B886A-3849-B5FE-704C-D39D89335583}"/>
              </a:ext>
            </a:extLst>
          </p:cNvPr>
          <p:cNvSpPr>
            <a:spLocks noGrp="1"/>
          </p:cNvSpPr>
          <p:nvPr>
            <p:ph idx="1"/>
          </p:nvPr>
        </p:nvSpPr>
        <p:spPr>
          <a:xfrm>
            <a:off x="838200" y="1766004"/>
            <a:ext cx="10515600" cy="4594692"/>
          </a:xfrm>
        </p:spPr>
        <p:txBody>
          <a:bodyPr>
            <a:normAutofit/>
          </a:bodyPr>
          <a:lstStyle/>
          <a:p>
            <a:r>
              <a:rPr lang="en-US" altLang="ko-KR" sz="2000" dirty="0">
                <a:latin typeface="NanumGothic" panose="020D0604000000000000" pitchFamily="34" charset="-127"/>
                <a:ea typeface="NanumGothic" panose="020D0604000000000000" pitchFamily="34" charset="-127"/>
              </a:rPr>
              <a:t>Establishing the identity of the counterparty chain</a:t>
            </a:r>
          </a:p>
          <a:p>
            <a:pPr lvl="1"/>
            <a:r>
              <a:rPr lang="en-US" altLang="ko-KR" sz="1600" dirty="0">
                <a:latin typeface="NanumGothic" panose="020D0604000000000000" pitchFamily="34" charset="-127"/>
                <a:ea typeface="NanumGothic" panose="020D0604000000000000" pitchFamily="34" charset="-127"/>
              </a:rPr>
              <a:t>Technically could be multiple connections for each client if the client is interacting with multiple versions of the IBC protocol -&gt; version</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negotiation</a:t>
            </a:r>
          </a:p>
          <a:p>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r>
              <a:rPr lang="en-US" altLang="ko-KR" sz="2000" dirty="0">
                <a:latin typeface="NanumGothic" panose="020D0604000000000000" pitchFamily="34" charset="-127"/>
                <a:ea typeface="NanumGothic" panose="020D0604000000000000" pitchFamily="34" charset="-127"/>
              </a:rPr>
              <a:t>Preventing a malicious entity from forging incorrect information by pretending to be the counterparty chain</a:t>
            </a:r>
          </a:p>
          <a:p>
            <a:r>
              <a:rPr lang="en-US" altLang="ko-KR" sz="2000" dirty="0">
                <a:latin typeface="NanumGothic" panose="020D0604000000000000" pitchFamily="34" charset="-127"/>
                <a:ea typeface="NanumGothic" panose="020D0604000000000000" pitchFamily="34" charset="-127"/>
              </a:rPr>
              <a:t>Established by </a:t>
            </a:r>
            <a:r>
              <a:rPr lang="en-US" altLang="ko-KR" sz="2000" u="sng" dirty="0">
                <a:latin typeface="NanumGothic" panose="020D0604000000000000" pitchFamily="34" charset="-127"/>
                <a:ea typeface="NanumGothic" panose="020D0604000000000000" pitchFamily="34" charset="-127"/>
              </a:rPr>
              <a:t>on-chain ledger code</a:t>
            </a:r>
            <a:r>
              <a:rPr lang="en-US" altLang="ko-KR" sz="2000" dirty="0">
                <a:latin typeface="NanumGothic" panose="020D0604000000000000" pitchFamily="34" charset="-127"/>
                <a:ea typeface="NanumGothic" panose="020D0604000000000000" pitchFamily="34" charset="-127"/>
              </a:rPr>
              <a:t> and therefore do not require interaction with off-chain (trusted) third-party processes.</a:t>
            </a:r>
          </a:p>
          <a:p>
            <a:r>
              <a:rPr lang="en-US" altLang="ko-KR" sz="2000" u="sng" dirty="0">
                <a:latin typeface="NanumGothic" panose="020D0604000000000000" pitchFamily="34" charset="-127"/>
                <a:ea typeface="NanumGothic" panose="020D0604000000000000" pitchFamily="34" charset="-127"/>
              </a:rPr>
              <a:t>Connection-id is used as a key</a:t>
            </a:r>
            <a:r>
              <a:rPr lang="en-US" altLang="ko-KR" sz="2000" dirty="0">
                <a:latin typeface="NanumGothic" panose="020D0604000000000000" pitchFamily="34" charset="-127"/>
                <a:ea typeface="NanumGothic" panose="020D0604000000000000" pitchFamily="34" charset="-127"/>
              </a:rPr>
              <a:t> to map and retrieve connections associated with a certain client from the store.</a:t>
            </a:r>
          </a:p>
          <a:p>
            <a:r>
              <a:rPr lang="en-US" altLang="ko-KR" sz="2000" dirty="0">
                <a:latin typeface="NanumGothic" panose="020D0604000000000000" pitchFamily="34" charset="-127"/>
                <a:ea typeface="NanumGothic" panose="020D0604000000000000" pitchFamily="34" charset="-127"/>
              </a:rPr>
              <a:t>Established by a </a:t>
            </a:r>
            <a:r>
              <a:rPr lang="en-US" altLang="ko-KR" sz="2000" u="sng" dirty="0">
                <a:latin typeface="NanumGothic" panose="020D0604000000000000" pitchFamily="34" charset="-127"/>
                <a:ea typeface="NanumGothic" panose="020D0604000000000000" pitchFamily="34" charset="-127"/>
              </a:rPr>
              <a:t>four-way handshake</a:t>
            </a:r>
          </a:p>
          <a:p>
            <a:endParaRPr lang="en-US" altLang="ko-KR" sz="2000" dirty="0">
              <a:latin typeface="NanumGothic" panose="020D0604000000000000" pitchFamily="34" charset="-127"/>
              <a:ea typeface="NanumGothic" panose="020D0604000000000000" pitchFamily="34" charset="-127"/>
            </a:endParaRPr>
          </a:p>
          <a:p>
            <a:endParaRPr lang="en-US" altLang="ko-KR" sz="1400" dirty="0">
              <a:latin typeface="NanumGothic" panose="020D0604000000000000" pitchFamily="34" charset="-127"/>
              <a:ea typeface="NanumGothic" panose="020D0604000000000000" pitchFamily="34" charset="-127"/>
            </a:endParaRPr>
          </a:p>
          <a:p>
            <a:pPr lvl="2"/>
            <a:endParaRPr lang="en-US" altLang="ko-KR" sz="1400" dirty="0">
              <a:latin typeface="NanumGothic" panose="020D0604000000000000" pitchFamily="34" charset="-127"/>
              <a:ea typeface="NanumGothic" panose="020D0604000000000000" pitchFamily="34" charset="-127"/>
            </a:endParaRPr>
          </a:p>
          <a:p>
            <a:pPr lvl="2"/>
            <a:endParaRPr lang="en-US" altLang="ko-KR" sz="1200" b="0" dirty="0">
              <a:effectLst/>
              <a:latin typeface="NanumGothic" panose="020D0604000000000000" pitchFamily="34" charset="-127"/>
              <a:ea typeface="NanumGothic" panose="020D0604000000000000" pitchFamily="34" charset="-127"/>
            </a:endParaRPr>
          </a:p>
          <a:p>
            <a:pPr lvl="1"/>
            <a:endParaRPr lang="en-US" sz="1600" b="0" dirty="0">
              <a:effectLst/>
              <a:latin typeface="NanumGothic" panose="020D0604000000000000" pitchFamily="34" charset="-127"/>
              <a:ea typeface="NanumGothic" panose="020D0604000000000000" pitchFamily="34" charset="-127"/>
            </a:endParaRPr>
          </a:p>
          <a:p>
            <a:endParaRPr lang="en-US" sz="20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12" name="Rectangle 11">
            <a:extLst>
              <a:ext uri="{FF2B5EF4-FFF2-40B4-BE49-F238E27FC236}">
                <a16:creationId xmlns:a16="http://schemas.microsoft.com/office/drawing/2014/main" id="{724DA50B-3F07-A013-E84B-CA99F066DFEB}"/>
              </a:ext>
            </a:extLst>
          </p:cNvPr>
          <p:cNvSpPr/>
          <p:nvPr/>
        </p:nvSpPr>
        <p:spPr>
          <a:xfrm>
            <a:off x="1600549" y="2718528"/>
            <a:ext cx="9441824" cy="9291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00" b="1" dirty="0">
                <a:solidFill>
                  <a:schemeClr val="tx1"/>
                </a:solidFill>
                <a:latin typeface="NanumGothic" panose="020D0604000000000000" pitchFamily="34" charset="-127"/>
                <a:ea typeface="NanumGothic" panose="020D0604000000000000" pitchFamily="34" charset="-127"/>
              </a:rPr>
              <a:t>Different protocol versions may not be compatible (due to proofs being stored on a different path)</a:t>
            </a:r>
          </a:p>
          <a:p>
            <a:r>
              <a:rPr lang="en-US" sz="1300" dirty="0">
                <a:solidFill>
                  <a:schemeClr val="tx1"/>
                </a:solidFill>
                <a:latin typeface="NanumGothic" panose="020D0604000000000000" pitchFamily="34" charset="-127"/>
                <a:ea typeface="NanumGothic" panose="020D0604000000000000" pitchFamily="34" charset="-127"/>
              </a:rPr>
              <a:t>- Default, no selection: only one protocol version is supported. This is default to propose.</a:t>
            </a:r>
          </a:p>
          <a:p>
            <a:r>
              <a:rPr lang="en-US" sz="1300" dirty="0">
                <a:solidFill>
                  <a:schemeClr val="tx1"/>
                </a:solidFill>
                <a:latin typeface="NanumGothic" panose="020D0604000000000000" pitchFamily="34" charset="-127"/>
                <a:ea typeface="NanumGothic" panose="020D0604000000000000" pitchFamily="34" charset="-127"/>
              </a:rPr>
              <a:t>- With selection: two protocol versions can be proposed (</a:t>
            </a:r>
            <a:r>
              <a:rPr lang="en-US" sz="1300" dirty="0" err="1">
                <a:solidFill>
                  <a:schemeClr val="tx1"/>
                </a:solidFill>
                <a:latin typeface="NanumGothic" panose="020D0604000000000000" pitchFamily="34" charset="-127"/>
                <a:ea typeface="NanumGothic" panose="020D0604000000000000" pitchFamily="34" charset="-127"/>
              </a:rPr>
              <a:t>OpenInit</a:t>
            </a:r>
            <a:r>
              <a:rPr lang="en-US" sz="1300" dirty="0">
                <a:solidFill>
                  <a:schemeClr val="tx1"/>
                </a:solidFill>
                <a:latin typeface="NanumGothic" panose="020D0604000000000000" pitchFamily="34" charset="-127"/>
                <a:ea typeface="NanumGothic" panose="020D0604000000000000" pitchFamily="34" charset="-127"/>
              </a:rPr>
              <a:t> or </a:t>
            </a:r>
            <a:r>
              <a:rPr lang="en-US" sz="1300" dirty="0" err="1">
                <a:solidFill>
                  <a:schemeClr val="tx1"/>
                </a:solidFill>
                <a:latin typeface="NanumGothic" panose="020D0604000000000000" pitchFamily="34" charset="-127"/>
                <a:ea typeface="NanumGothic" panose="020D0604000000000000" pitchFamily="34" charset="-127"/>
              </a:rPr>
              <a:t>OpenTry</a:t>
            </a:r>
            <a:r>
              <a:rPr lang="en-US" sz="1300" dirty="0">
                <a:solidFill>
                  <a:schemeClr val="tx1"/>
                </a:solidFill>
                <a:latin typeface="NanumGothic" panose="020D0604000000000000" pitchFamily="34" charset="-127"/>
                <a:ea typeface="NanumGothic" panose="020D0604000000000000" pitchFamily="34" charset="-127"/>
              </a:rPr>
              <a:t> has a choice of which version to go with)</a:t>
            </a:r>
          </a:p>
          <a:p>
            <a:r>
              <a:rPr lang="en-US" sz="1300" dirty="0">
                <a:solidFill>
                  <a:schemeClr val="tx1"/>
                </a:solidFill>
                <a:latin typeface="NanumGothic" panose="020D0604000000000000" pitchFamily="34" charset="-127"/>
                <a:ea typeface="NanumGothic" panose="020D0604000000000000" pitchFamily="34" charset="-127"/>
              </a:rPr>
              <a:t>- Impossible communication: a backwards incompatible IBC protocol version.</a:t>
            </a:r>
          </a:p>
        </p:txBody>
      </p:sp>
    </p:spTree>
    <p:extLst>
      <p:ext uri="{BB962C8B-B14F-4D97-AF65-F5344CB8AC3E}">
        <p14:creationId xmlns:p14="http://schemas.microsoft.com/office/powerpoint/2010/main" val="1613437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Connection[2/</a:t>
            </a:r>
            <a:r>
              <a:rPr lang="en-US" altLang="ko-KR" sz="4000" dirty="0">
                <a:latin typeface="NanumGothic" panose="020D0604000000000000" pitchFamily="34" charset="-127"/>
                <a:ea typeface="NanumGothic" panose="020D0604000000000000" pitchFamily="34" charset="-127"/>
              </a:rPr>
              <a:t>2</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0244" name="Picture 4">
            <a:extLst>
              <a:ext uri="{FF2B5EF4-FFF2-40B4-BE49-F238E27FC236}">
                <a16:creationId xmlns:a16="http://schemas.microsoft.com/office/drawing/2014/main" id="{CB015C5E-F02C-FB8A-FAF6-405BCB085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66003"/>
            <a:ext cx="4640332" cy="4949687"/>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B6EE96CF-C4CA-0635-F57E-EE8011DF875A}"/>
              </a:ext>
            </a:extLst>
          </p:cNvPr>
          <p:cNvSpPr>
            <a:spLocks noGrp="1"/>
          </p:cNvSpPr>
          <p:nvPr>
            <p:ph idx="1"/>
          </p:nvPr>
        </p:nvSpPr>
        <p:spPr>
          <a:xfrm>
            <a:off x="5575852" y="1766003"/>
            <a:ext cx="5777947" cy="4949681"/>
          </a:xfrm>
        </p:spPr>
        <p:txBody>
          <a:bodyPr>
            <a:normAutofit/>
          </a:bodyPr>
          <a:lstStyle/>
          <a:p>
            <a:r>
              <a:rPr lang="en-US" sz="2000" dirty="0" err="1">
                <a:latin typeface="NanumGothic" panose="020D0604000000000000" pitchFamily="34" charset="-127"/>
                <a:ea typeface="NanumGothic" panose="020D0604000000000000" pitchFamily="34" charset="-127"/>
              </a:rPr>
              <a:t>ConnOpenInit</a:t>
            </a:r>
            <a:endParaRPr lang="en-US" sz="1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MsgUpdateClient(</a:t>
            </a:r>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A,B)</a:t>
            </a: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 </a:t>
            </a:r>
            <a:r>
              <a:rPr lang="en-US" altLang="ko-KR" sz="1600" dirty="0" err="1">
                <a:latin typeface="NanumGothic" panose="020D0604000000000000" pitchFamily="34" charset="-127"/>
                <a:ea typeface="NanumGothic" panose="020D0604000000000000" pitchFamily="34" charset="-127"/>
              </a:rPr>
              <a:t>OpenInit</a:t>
            </a:r>
            <a:r>
              <a:rPr lang="ko-KR" altLang="en-US" sz="1600" dirty="0">
                <a:latin typeface="NanumGothic" panose="020D0604000000000000" pitchFamily="34" charset="-127"/>
                <a:ea typeface="NanumGothic" panose="020D0604000000000000" pitchFamily="34" charset="-127"/>
              </a:rPr>
              <a:t> 메시지</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상태변경</a:t>
            </a:r>
            <a:r>
              <a:rPr lang="en-US" altLang="ko-KR" sz="1600" dirty="0">
                <a:latin typeface="NanumGothic" panose="020D0604000000000000" pitchFamily="34" charset="-127"/>
                <a:ea typeface="NanumGothic" panose="020D0604000000000000" pitchFamily="34" charset="-127"/>
              </a:rPr>
              <a:t>(INIT), </a:t>
            </a:r>
            <a:r>
              <a:rPr lang="ko-KR" altLang="en-US" sz="1600" dirty="0">
                <a:latin typeface="NanumGothic" panose="020D0604000000000000" pitchFamily="34" charset="-127"/>
                <a:ea typeface="NanumGothic" panose="020D0604000000000000" pitchFamily="34" charset="-127"/>
              </a:rPr>
              <a:t>커넥션</a:t>
            </a:r>
            <a:r>
              <a:rPr lang="en-US" altLang="ko-KR" sz="1600" dirty="0">
                <a:latin typeface="NanumGothic" panose="020D0604000000000000" pitchFamily="34" charset="-127"/>
                <a:ea typeface="NanumGothic" panose="020D0604000000000000" pitchFamily="34" charset="-127"/>
              </a:rPr>
              <a:t>ID </a:t>
            </a:r>
            <a:r>
              <a:rPr lang="ko-KR" altLang="en-US" sz="1600" dirty="0">
                <a:latin typeface="NanumGothic" panose="020D0604000000000000" pitchFamily="34" charset="-127"/>
                <a:ea typeface="NanumGothic" panose="020D0604000000000000" pitchFamily="34" charset="-127"/>
              </a:rPr>
              <a:t>생성</a:t>
            </a:r>
            <a:endParaRPr lang="en-US" altLang="ko-KR" sz="1600" dirty="0">
              <a:latin typeface="NanumGothic" panose="020D0604000000000000" pitchFamily="34" charset="-127"/>
              <a:ea typeface="NanumGothic" panose="020D0604000000000000" pitchFamily="34" charset="-127"/>
            </a:endParaRPr>
          </a:p>
          <a:p>
            <a:r>
              <a:rPr lang="en-US" altLang="ko-KR" sz="2000" dirty="0" err="1">
                <a:latin typeface="NanumGothic" panose="020D0604000000000000" pitchFamily="34" charset="-127"/>
                <a:ea typeface="NanumGothic" panose="020D0604000000000000" pitchFamily="34" charset="-127"/>
              </a:rPr>
              <a:t>ConnOpenTry</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MsgUpdateClient(</a:t>
            </a:r>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A,B)</a:t>
            </a: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B : </a:t>
            </a:r>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 </a:t>
            </a:r>
            <a:r>
              <a:rPr lang="ko-KR" altLang="en-US" sz="1600" dirty="0">
                <a:latin typeface="NanumGothic" panose="020D0604000000000000" pitchFamily="34" charset="-127"/>
                <a:ea typeface="NanumGothic" panose="020D0604000000000000" pitchFamily="34" charset="-127"/>
              </a:rPr>
              <a:t>확인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클라이언트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상태변경</a:t>
            </a:r>
            <a:r>
              <a:rPr lang="en-US" altLang="ko-KR" sz="1600" dirty="0">
                <a:latin typeface="NanumGothic" panose="020D0604000000000000" pitchFamily="34" charset="-127"/>
                <a:ea typeface="NanumGothic" panose="020D0604000000000000" pitchFamily="34" charset="-127"/>
              </a:rPr>
              <a:t>(TRYOPEN)</a:t>
            </a: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a:t>
            </a:r>
            <a:r>
              <a:rPr lang="ko-KR" altLang="en-US" sz="1600" dirty="0">
                <a:latin typeface="NanumGothic" panose="020D0604000000000000" pitchFamily="34" charset="-127"/>
                <a:ea typeface="NanumGothic" panose="020D0604000000000000" pitchFamily="34" charset="-127"/>
              </a:rPr>
              <a:t>에서 제안한 프로토콜 버전 적합성 확인</a:t>
            </a:r>
            <a:endParaRPr lang="en-US" altLang="ko-KR" sz="1600" dirty="0">
              <a:latin typeface="NanumGothic" panose="020D0604000000000000" pitchFamily="34" charset="-127"/>
              <a:ea typeface="NanumGothic" panose="020D0604000000000000" pitchFamily="34" charset="-127"/>
            </a:endParaRPr>
          </a:p>
          <a:p>
            <a:r>
              <a:rPr lang="en-US" altLang="ko-KR" sz="2000" dirty="0" err="1">
                <a:latin typeface="NanumGothic" panose="020D0604000000000000" pitchFamily="34" charset="-127"/>
                <a:ea typeface="NanumGothic" panose="020D0604000000000000" pitchFamily="34" charset="-127"/>
              </a:rPr>
              <a:t>ConnOpenAck</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MsgUpdateClient(</a:t>
            </a:r>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A,B)</a:t>
            </a: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체인</a:t>
            </a:r>
            <a:r>
              <a:rPr lang="en-US" altLang="ko-KR" sz="1600" dirty="0">
                <a:latin typeface="NanumGothic" panose="020D0604000000000000" pitchFamily="34" charset="-127"/>
                <a:ea typeface="NanumGothic" panose="020D0604000000000000" pitchFamily="34" charset="-127"/>
              </a:rPr>
              <a:t>B</a:t>
            </a:r>
            <a:r>
              <a:rPr lang="ko-KR" altLang="en-US" sz="1600" dirty="0">
                <a:latin typeface="NanumGothic" panose="020D0604000000000000" pitchFamily="34" charset="-127"/>
                <a:ea typeface="NanumGothic" panose="020D0604000000000000" pitchFamily="34" charset="-127"/>
              </a:rPr>
              <a:t> 확인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클라이언트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상태변경</a:t>
            </a:r>
            <a:r>
              <a:rPr lang="en-US" altLang="ko-KR" sz="1600" dirty="0">
                <a:latin typeface="NanumGothic" panose="020D0604000000000000" pitchFamily="34" charset="-127"/>
                <a:ea typeface="NanumGothic" panose="020D0604000000000000" pitchFamily="34" charset="-127"/>
              </a:rPr>
              <a:t>(OPEN)</a:t>
            </a: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B</a:t>
            </a:r>
            <a:r>
              <a:rPr lang="ko-KR" altLang="en-US" sz="1600" dirty="0">
                <a:latin typeface="NanumGothic" panose="020D0604000000000000" pitchFamily="34" charset="-127"/>
                <a:ea typeface="NanumGothic" panose="020D0604000000000000" pitchFamily="34" charset="-127"/>
              </a:rPr>
              <a:t>의 상태가 </a:t>
            </a:r>
            <a:r>
              <a:rPr lang="en-US" altLang="ko-KR" sz="1600" dirty="0">
                <a:latin typeface="NanumGothic" panose="020D0604000000000000" pitchFamily="34" charset="-127"/>
                <a:ea typeface="NanumGothic" panose="020D0604000000000000" pitchFamily="34" charset="-127"/>
              </a:rPr>
              <a:t>TRYOPEN</a:t>
            </a:r>
            <a:r>
              <a:rPr lang="ko-KR" altLang="en-US" sz="1600" dirty="0">
                <a:latin typeface="NanumGothic" panose="020D0604000000000000" pitchFamily="34" charset="-127"/>
                <a:ea typeface="NanumGothic" panose="020D0604000000000000" pitchFamily="34" charset="-127"/>
              </a:rPr>
              <a:t>인지 확인</a:t>
            </a:r>
            <a:endParaRPr lang="en-US" altLang="ko-KR" sz="1600" dirty="0">
              <a:latin typeface="NanumGothic" panose="020D0604000000000000" pitchFamily="34" charset="-127"/>
              <a:ea typeface="NanumGothic" panose="020D0604000000000000" pitchFamily="34" charset="-127"/>
            </a:endParaRPr>
          </a:p>
          <a:p>
            <a:r>
              <a:rPr lang="en-US" altLang="ko-KR" sz="2000" dirty="0" err="1">
                <a:latin typeface="NanumGothic" panose="020D0604000000000000" pitchFamily="34" charset="-127"/>
                <a:ea typeface="NanumGothic" panose="020D0604000000000000" pitchFamily="34" charset="-127"/>
              </a:rPr>
              <a:t>ConnOpenConfirm</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B : </a:t>
            </a:r>
            <a:r>
              <a:rPr lang="ko-KR" altLang="en-US" sz="1600" dirty="0">
                <a:latin typeface="NanumGothic" panose="020D0604000000000000" pitchFamily="34" charset="-127"/>
                <a:ea typeface="NanumGothic" panose="020D0604000000000000" pitchFamily="34" charset="-127"/>
              </a:rPr>
              <a:t>상태변경</a:t>
            </a:r>
            <a:r>
              <a:rPr lang="en-US" altLang="ko-KR" sz="1600" dirty="0">
                <a:latin typeface="NanumGothic" panose="020D0604000000000000" pitchFamily="34" charset="-127"/>
                <a:ea typeface="NanumGothic" panose="020D0604000000000000" pitchFamily="34" charset="-127"/>
              </a:rPr>
              <a:t>(OPEN)</a:t>
            </a:r>
            <a:endParaRPr lang="en-US" altLang="ko-KR" sz="2000" dirty="0">
              <a:latin typeface="NanumGothic" panose="020D0604000000000000" pitchFamily="34" charset="-127"/>
              <a:ea typeface="NanumGothic" panose="020D0604000000000000" pitchFamily="34" charset="-127"/>
            </a:endParaRPr>
          </a:p>
          <a:p>
            <a:pPr lvl="1"/>
            <a:endParaRPr lang="en-US" sz="16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900517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Channel[1/</a:t>
            </a:r>
            <a:r>
              <a:rPr lang="en-US" altLang="ko-KR" sz="4000" dirty="0">
                <a:latin typeface="NanumGothic" panose="020D0604000000000000" pitchFamily="34" charset="-127"/>
                <a:ea typeface="NanumGothic" panose="020D0604000000000000" pitchFamily="34" charset="-127"/>
              </a:rPr>
              <a:t>2</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1EE46318-BC0F-FA79-D849-C68634AE0A2F}"/>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두 체인의 어플리케이션 모듈 간 데이터를 주고 받는 통로</a:t>
            </a:r>
            <a:endParaRPr lang="en-US" altLang="ko-KR" sz="20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채널마다 고유한 식별자가 존재하며</a:t>
            </a:r>
            <a:r>
              <a:rPr lang="en-US" altLang="ko-KR" sz="2000" dirty="0">
                <a:latin typeface="NanumGothic" panose="020D0604000000000000" pitchFamily="34" charset="-127"/>
                <a:ea typeface="NanumGothic" panose="020D0604000000000000" pitchFamily="34" charset="-127"/>
              </a:rPr>
              <a:t>,</a:t>
            </a:r>
            <a:r>
              <a:rPr lang="ko-KR" altLang="en-US" sz="2000" dirty="0">
                <a:latin typeface="NanumGothic" panose="020D0604000000000000" pitchFamily="34" charset="-127"/>
                <a:ea typeface="NanumGothic" panose="020D0604000000000000" pitchFamily="34" charset="-127"/>
              </a:rPr>
              <a:t> 각 체인의 포트를 서로 연결</a:t>
            </a:r>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9" name="Rectangle 8">
            <a:extLst>
              <a:ext uri="{FF2B5EF4-FFF2-40B4-BE49-F238E27FC236}">
                <a16:creationId xmlns:a16="http://schemas.microsoft.com/office/drawing/2014/main" id="{39111960-ABBD-E857-5A00-0EBAABCA3A59}"/>
              </a:ext>
            </a:extLst>
          </p:cNvPr>
          <p:cNvSpPr/>
          <p:nvPr/>
        </p:nvSpPr>
        <p:spPr>
          <a:xfrm>
            <a:off x="1171074" y="2707106"/>
            <a:ext cx="9713494" cy="27712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ko-KR" altLang="en-US" sz="1600" b="1" dirty="0">
                <a:solidFill>
                  <a:schemeClr val="tx1"/>
                </a:solidFill>
                <a:latin typeface="NanumGothic" panose="020D0604000000000000" pitchFamily="34" charset="-127"/>
                <a:ea typeface="NanumGothic" panose="020D0604000000000000" pitchFamily="34" charset="-127"/>
              </a:rPr>
              <a:t>포트</a:t>
            </a:r>
            <a:r>
              <a:rPr lang="en-US" altLang="ko-KR" sz="1600" b="1" dirty="0">
                <a:solidFill>
                  <a:schemeClr val="tx1"/>
                </a:solidFill>
                <a:latin typeface="NanumGothic" panose="020D0604000000000000" pitchFamily="34" charset="-127"/>
                <a:ea typeface="NanumGothic" panose="020D0604000000000000" pitchFamily="34" charset="-127"/>
              </a:rPr>
              <a:t>(Port)</a:t>
            </a:r>
          </a:p>
          <a:p>
            <a:r>
              <a:rPr lang="en-US" altLang="ko-KR" sz="1600" dirty="0">
                <a:solidFill>
                  <a:schemeClr val="tx1"/>
                </a:solidFill>
                <a:latin typeface="NanumGothic" panose="020D0604000000000000" pitchFamily="34" charset="-127"/>
                <a:ea typeface="NanumGothic" panose="020D0604000000000000" pitchFamily="34" charset="-127"/>
              </a:rPr>
              <a:t>- </a:t>
            </a:r>
            <a:r>
              <a:rPr lang="ko-KR" altLang="en-US" sz="1600" dirty="0">
                <a:solidFill>
                  <a:schemeClr val="tx1"/>
                </a:solidFill>
                <a:latin typeface="NanumGothic" panose="020D0604000000000000" pitchFamily="34" charset="-127"/>
                <a:ea typeface="NanumGothic" panose="020D0604000000000000" pitchFamily="34" charset="-127"/>
              </a:rPr>
              <a:t>각 체인의 어플리케이션 모듈에 바인딩되며</a:t>
            </a:r>
            <a:r>
              <a:rPr lang="en-US" altLang="ko-KR" sz="1600" dirty="0">
                <a:solidFill>
                  <a:schemeClr val="tx1"/>
                </a:solidFill>
                <a:latin typeface="NanumGothic" panose="020D0604000000000000" pitchFamily="34" charset="-127"/>
                <a:ea typeface="NanumGothic" panose="020D0604000000000000" pitchFamily="34" charset="-127"/>
              </a:rPr>
              <a:t>,</a:t>
            </a:r>
            <a:r>
              <a:rPr lang="ko-KR" altLang="en-US" sz="1600" dirty="0">
                <a:solidFill>
                  <a:schemeClr val="tx1"/>
                </a:solidFill>
                <a:latin typeface="NanumGothic" panose="020D0604000000000000" pitchFamily="34" charset="-127"/>
                <a:ea typeface="NanumGothic" panose="020D0604000000000000" pitchFamily="34" charset="-127"/>
              </a:rPr>
              <a:t> 어플리케이션 모듈과 채널을 연결</a:t>
            </a:r>
            <a:endParaRPr lang="en-US" altLang="ko-KR" sz="1600" dirty="0">
              <a:solidFill>
                <a:schemeClr val="tx1"/>
              </a:solidFill>
              <a:latin typeface="NanumGothic" panose="020D0604000000000000" pitchFamily="34" charset="-127"/>
              <a:ea typeface="NanumGothic" panose="020D0604000000000000" pitchFamily="34" charset="-127"/>
            </a:endParaRPr>
          </a:p>
          <a:p>
            <a:r>
              <a:rPr lang="en-US" altLang="ko-KR" sz="1600" dirty="0">
                <a:solidFill>
                  <a:schemeClr val="tx1"/>
                </a:solidFill>
                <a:latin typeface="NanumGothic" panose="020D0604000000000000" pitchFamily="34" charset="-127"/>
                <a:ea typeface="NanumGothic" panose="020D0604000000000000" pitchFamily="34" charset="-127"/>
              </a:rPr>
              <a:t>-</a:t>
            </a:r>
            <a:r>
              <a:rPr lang="ko-KR" altLang="en-US" sz="1600" dirty="0">
                <a:solidFill>
                  <a:schemeClr val="tx1"/>
                </a:solidFill>
                <a:latin typeface="NanumGothic" panose="020D0604000000000000" pitchFamily="34" charset="-127"/>
                <a:ea typeface="NanumGothic" panose="020D0604000000000000" pitchFamily="34" charset="-127"/>
              </a:rPr>
              <a:t> 포트마다 식별자가 있으며</a:t>
            </a:r>
            <a:r>
              <a:rPr lang="en-US" altLang="ko-KR" sz="1600" dirty="0">
                <a:solidFill>
                  <a:schemeClr val="tx1"/>
                </a:solidFill>
                <a:latin typeface="NanumGothic" panose="020D0604000000000000" pitchFamily="34" charset="-127"/>
                <a:ea typeface="NanumGothic" panose="020D0604000000000000" pitchFamily="34" charset="-127"/>
              </a:rPr>
              <a:t>,</a:t>
            </a:r>
            <a:r>
              <a:rPr lang="ko-KR" altLang="en-US" sz="1600" dirty="0">
                <a:solidFill>
                  <a:schemeClr val="tx1"/>
                </a:solidFill>
                <a:latin typeface="NanumGothic" panose="020D0604000000000000" pitchFamily="34" charset="-127"/>
                <a:ea typeface="NanumGothic" panose="020D0604000000000000" pitchFamily="34" charset="-127"/>
              </a:rPr>
              <a:t> 예로 </a:t>
            </a:r>
            <a:r>
              <a:rPr lang="en-US" altLang="ko-KR" sz="1600" dirty="0">
                <a:solidFill>
                  <a:schemeClr val="tx1"/>
                </a:solidFill>
                <a:latin typeface="NanumGothic" panose="020D0604000000000000" pitchFamily="34" charset="-127"/>
                <a:ea typeface="NanumGothic" panose="020D0604000000000000" pitchFamily="34" charset="-127"/>
              </a:rPr>
              <a:t>ICS-20</a:t>
            </a:r>
            <a:r>
              <a:rPr lang="ko-KR" altLang="en-US" sz="1600" dirty="0">
                <a:solidFill>
                  <a:schemeClr val="tx1"/>
                </a:solidFill>
                <a:latin typeface="NanumGothic" panose="020D0604000000000000" pitchFamily="34" charset="-127"/>
                <a:ea typeface="NanumGothic" panose="020D0604000000000000" pitchFamily="34" charset="-127"/>
              </a:rPr>
              <a:t>은 </a:t>
            </a:r>
            <a:r>
              <a:rPr lang="en-US" altLang="ko-KR" sz="1600" dirty="0">
                <a:solidFill>
                  <a:schemeClr val="tx1"/>
                </a:solidFill>
                <a:latin typeface="NanumGothic" panose="020D0604000000000000" pitchFamily="34" charset="-127"/>
                <a:ea typeface="NanumGothic" panose="020D0604000000000000" pitchFamily="34" charset="-127"/>
              </a:rPr>
              <a:t>transfer</a:t>
            </a:r>
            <a:r>
              <a:rPr lang="ko-KR" altLang="en-US" sz="1600" dirty="0" err="1">
                <a:solidFill>
                  <a:schemeClr val="tx1"/>
                </a:solidFill>
                <a:latin typeface="NanumGothic" panose="020D0604000000000000" pitchFamily="34" charset="-127"/>
                <a:ea typeface="NanumGothic" panose="020D0604000000000000" pitchFamily="34" charset="-127"/>
              </a:rPr>
              <a:t>를</a:t>
            </a:r>
            <a:r>
              <a:rPr lang="ko-KR" altLang="en-US" sz="1600" dirty="0">
                <a:solidFill>
                  <a:schemeClr val="tx1"/>
                </a:solidFill>
                <a:latin typeface="NanumGothic" panose="020D0604000000000000" pitchFamily="34" charset="-127"/>
                <a:ea typeface="NanumGothic" panose="020D0604000000000000" pitchFamily="34" charset="-127"/>
              </a:rPr>
              <a:t> 사용</a:t>
            </a:r>
            <a:endParaRPr lang="en-US" altLang="ko-KR" sz="1600" dirty="0">
              <a:solidFill>
                <a:schemeClr val="tx1"/>
              </a:solidFill>
              <a:latin typeface="NanumGothic" panose="020D0604000000000000" pitchFamily="34" charset="-127"/>
              <a:ea typeface="NanumGothic" panose="020D0604000000000000" pitchFamily="34" charset="-127"/>
            </a:endParaRPr>
          </a:p>
          <a:p>
            <a:r>
              <a:rPr lang="en-US" altLang="ko-KR" sz="1600" dirty="0">
                <a:solidFill>
                  <a:schemeClr val="tx1"/>
                </a:solidFill>
                <a:latin typeface="NanumGothic" panose="020D0604000000000000" pitchFamily="34" charset="-127"/>
                <a:ea typeface="NanumGothic" panose="020D0604000000000000" pitchFamily="34" charset="-127"/>
              </a:rPr>
              <a:t>-</a:t>
            </a:r>
            <a:r>
              <a:rPr lang="ko-KR" altLang="en-US" sz="1600" dirty="0">
                <a:solidFill>
                  <a:schemeClr val="tx1"/>
                </a:solidFill>
                <a:latin typeface="NanumGothic" panose="020D0604000000000000" pitchFamily="34" charset="-127"/>
                <a:ea typeface="NanumGothic" panose="020D0604000000000000" pitchFamily="34" charset="-127"/>
              </a:rPr>
              <a:t> 각 체인은 다수의 포트를 가질 수 있으며</a:t>
            </a:r>
            <a:r>
              <a:rPr lang="en-US" altLang="ko-KR" sz="1600" dirty="0">
                <a:solidFill>
                  <a:schemeClr val="tx1"/>
                </a:solidFill>
                <a:latin typeface="NanumGothic" panose="020D0604000000000000" pitchFamily="34" charset="-127"/>
                <a:ea typeface="NanumGothic" panose="020D0604000000000000" pitchFamily="34" charset="-127"/>
              </a:rPr>
              <a:t>,</a:t>
            </a:r>
            <a:r>
              <a:rPr lang="ko-KR" altLang="en-US" sz="1600" dirty="0">
                <a:solidFill>
                  <a:schemeClr val="tx1"/>
                </a:solidFill>
                <a:latin typeface="NanumGothic" panose="020D0604000000000000" pitchFamily="34" charset="-127"/>
                <a:ea typeface="NanumGothic" panose="020D0604000000000000" pitchFamily="34" charset="-127"/>
              </a:rPr>
              <a:t> </a:t>
            </a:r>
            <a:r>
              <a:rPr lang="ko-KR" altLang="en-US" sz="1600" u="sng" dirty="0">
                <a:solidFill>
                  <a:srgbClr val="0E0E0E"/>
                </a:solidFill>
                <a:effectLst/>
                <a:latin typeface=".SF NS"/>
              </a:rPr>
              <a:t>같은 포트라도 여러 체인의 포트와 각기 다른 채널</a:t>
            </a:r>
            <a:r>
              <a:rPr lang="ko-KR" altLang="en-US" sz="1600" u="sng" dirty="0">
                <a:solidFill>
                  <a:srgbClr val="0E0E0E"/>
                </a:solidFill>
                <a:latin typeface=".SF NS"/>
              </a:rPr>
              <a:t>로 </a:t>
            </a:r>
            <a:r>
              <a:rPr lang="ko-KR" altLang="en-US" sz="1600" u="sng" dirty="0">
                <a:solidFill>
                  <a:srgbClr val="0E0E0E"/>
                </a:solidFill>
                <a:effectLst/>
                <a:latin typeface=".SF NS"/>
              </a:rPr>
              <a:t>연결 가능</a:t>
            </a:r>
            <a:endParaRPr lang="en-US" altLang="ko-KR" sz="1600" u="sng" dirty="0">
              <a:solidFill>
                <a:schemeClr val="tx1"/>
              </a:solidFill>
              <a:latin typeface="NanumGothic" panose="020D0604000000000000" pitchFamily="34" charset="-127"/>
              <a:ea typeface="NanumGothic" panose="020D0604000000000000" pitchFamily="34" charset="-127"/>
            </a:endParaRPr>
          </a:p>
          <a:p>
            <a:endParaRPr lang="en-US" altLang="ko-KR" sz="1600" dirty="0">
              <a:solidFill>
                <a:schemeClr val="tx1"/>
              </a:solidFill>
              <a:latin typeface="NanumGothic" panose="020D0604000000000000" pitchFamily="34" charset="-127"/>
              <a:ea typeface="NanumGothic" panose="020D0604000000000000" pitchFamily="34" charset="-127"/>
            </a:endParaRPr>
          </a:p>
        </p:txBody>
      </p:sp>
      <p:grpSp>
        <p:nvGrpSpPr>
          <p:cNvPr id="30" name="Group 29">
            <a:extLst>
              <a:ext uri="{FF2B5EF4-FFF2-40B4-BE49-F238E27FC236}">
                <a16:creationId xmlns:a16="http://schemas.microsoft.com/office/drawing/2014/main" id="{DF6F8EE1-FF84-0CBD-F3A5-6AD2721B4C23}"/>
              </a:ext>
            </a:extLst>
          </p:cNvPr>
          <p:cNvGrpSpPr/>
          <p:nvPr/>
        </p:nvGrpSpPr>
        <p:grpSpPr>
          <a:xfrm>
            <a:off x="2584281" y="4063350"/>
            <a:ext cx="6887080" cy="1161241"/>
            <a:chOff x="2584281" y="4980977"/>
            <a:chExt cx="6887080" cy="1161241"/>
          </a:xfrm>
        </p:grpSpPr>
        <p:cxnSp>
          <p:nvCxnSpPr>
            <p:cNvPr id="18" name="Straight Connector 17">
              <a:extLst>
                <a:ext uri="{FF2B5EF4-FFF2-40B4-BE49-F238E27FC236}">
                  <a16:creationId xmlns:a16="http://schemas.microsoft.com/office/drawing/2014/main" id="{C41150ED-7471-DF92-E140-CDFB29635815}"/>
                </a:ext>
              </a:extLst>
            </p:cNvPr>
            <p:cNvCxnSpPr>
              <a:cxnSpLocks/>
              <a:endCxn id="11" idx="1"/>
            </p:cNvCxnSpPr>
            <p:nvPr/>
          </p:nvCxnSpPr>
          <p:spPr>
            <a:xfrm flipV="1">
              <a:off x="3456569" y="5576278"/>
              <a:ext cx="2135108" cy="2985"/>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88E1F62-C055-DC72-7C03-D4323F12F8CA}"/>
                </a:ext>
              </a:extLst>
            </p:cNvPr>
            <p:cNvCxnSpPr>
              <a:cxnSpLocks/>
              <a:stCxn id="12" idx="3"/>
              <a:endCxn id="16" idx="1"/>
            </p:cNvCxnSpPr>
            <p:nvPr/>
          </p:nvCxnSpPr>
          <p:spPr>
            <a:xfrm>
              <a:off x="6463965" y="5968042"/>
              <a:ext cx="2135108" cy="0"/>
            </a:xfrm>
            <a:prstGeom prst="line">
              <a:avLst/>
            </a:prstGeom>
            <a:ln w="15875">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59826B1D-C23C-12A5-097E-4855E06C1139}"/>
                </a:ext>
              </a:extLst>
            </p:cNvPr>
            <p:cNvGrpSpPr/>
            <p:nvPr/>
          </p:nvGrpSpPr>
          <p:grpSpPr>
            <a:xfrm>
              <a:off x="2584281" y="4980977"/>
              <a:ext cx="6887080" cy="1161241"/>
              <a:chOff x="2757238" y="4248034"/>
              <a:chExt cx="6887080" cy="1161241"/>
            </a:xfrm>
          </p:grpSpPr>
          <p:grpSp>
            <p:nvGrpSpPr>
              <p:cNvPr id="25" name="Group 24">
                <a:extLst>
                  <a:ext uri="{FF2B5EF4-FFF2-40B4-BE49-F238E27FC236}">
                    <a16:creationId xmlns:a16="http://schemas.microsoft.com/office/drawing/2014/main" id="{0345286C-28C9-9875-52F6-C4581FD92F38}"/>
                  </a:ext>
                </a:extLst>
              </p:cNvPr>
              <p:cNvGrpSpPr/>
              <p:nvPr/>
            </p:nvGrpSpPr>
            <p:grpSpPr>
              <a:xfrm>
                <a:off x="2757238" y="4248034"/>
                <a:ext cx="6887080" cy="1161241"/>
                <a:chOff x="2757238" y="4248034"/>
                <a:chExt cx="6887080" cy="1161241"/>
              </a:xfrm>
            </p:grpSpPr>
            <p:sp>
              <p:nvSpPr>
                <p:cNvPr id="10" name="Rounded Rectangle 9">
                  <a:extLst>
                    <a:ext uri="{FF2B5EF4-FFF2-40B4-BE49-F238E27FC236}">
                      <a16:creationId xmlns:a16="http://schemas.microsoft.com/office/drawing/2014/main" id="{1D800AA5-DEC9-46F4-CB18-D7425644ADF2}"/>
                    </a:ext>
                  </a:extLst>
                </p:cNvPr>
                <p:cNvSpPr/>
                <p:nvPr/>
              </p:nvSpPr>
              <p:spPr>
                <a:xfrm>
                  <a:off x="5838828" y="4252476"/>
                  <a:ext cx="723900" cy="1020047"/>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ko-KR" altLang="en-US" sz="1300" dirty="0">
                      <a:solidFill>
                        <a:schemeClr val="tx1"/>
                      </a:solidFill>
                      <a:latin typeface="NanumGothic" panose="020D0604000000000000" pitchFamily="34" charset="-127"/>
                      <a:ea typeface="NanumGothic" panose="020D0604000000000000" pitchFamily="34" charset="-127"/>
                    </a:rPr>
                    <a:t>체인</a:t>
                  </a:r>
                  <a:r>
                    <a:rPr lang="en-US" altLang="ko-KR" sz="1300" dirty="0">
                      <a:solidFill>
                        <a:schemeClr val="tx1"/>
                      </a:solidFill>
                      <a:latin typeface="NanumGothic" panose="020D0604000000000000" pitchFamily="34" charset="-127"/>
                      <a:ea typeface="NanumGothic" panose="020D0604000000000000" pitchFamily="34" charset="-127"/>
                    </a:rPr>
                    <a:t>A</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1" name="Rounded Rectangle 10">
                  <a:extLst>
                    <a:ext uri="{FF2B5EF4-FFF2-40B4-BE49-F238E27FC236}">
                      <a16:creationId xmlns:a16="http://schemas.microsoft.com/office/drawing/2014/main" id="{0E6D006B-ADE4-CFA2-81E4-D92195BF4C3E}"/>
                    </a:ext>
                  </a:extLst>
                </p:cNvPr>
                <p:cNvSpPr/>
                <p:nvPr/>
              </p:nvSpPr>
              <p:spPr>
                <a:xfrm>
                  <a:off x="5764634" y="4669158"/>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Port-A1</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2" name="Rounded Rectangle 11">
                  <a:extLst>
                    <a:ext uri="{FF2B5EF4-FFF2-40B4-BE49-F238E27FC236}">
                      <a16:creationId xmlns:a16="http://schemas.microsoft.com/office/drawing/2014/main" id="{836AD73F-89E0-1BEF-1D4A-8934FF1C02E2}"/>
                    </a:ext>
                  </a:extLst>
                </p:cNvPr>
                <p:cNvSpPr/>
                <p:nvPr/>
              </p:nvSpPr>
              <p:spPr>
                <a:xfrm>
                  <a:off x="5764634" y="5060922"/>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Port-A2</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3" name="Rounded Rectangle 12">
                  <a:extLst>
                    <a:ext uri="{FF2B5EF4-FFF2-40B4-BE49-F238E27FC236}">
                      <a16:creationId xmlns:a16="http://schemas.microsoft.com/office/drawing/2014/main" id="{A67E8C5B-732E-196E-CC4C-EECD389295B1}"/>
                    </a:ext>
                  </a:extLst>
                </p:cNvPr>
                <p:cNvSpPr/>
                <p:nvPr/>
              </p:nvSpPr>
              <p:spPr>
                <a:xfrm>
                  <a:off x="2831432" y="4252476"/>
                  <a:ext cx="723900" cy="76503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ko-KR" altLang="en-US" sz="1300" dirty="0">
                      <a:solidFill>
                        <a:schemeClr val="tx1"/>
                      </a:solidFill>
                      <a:latin typeface="NanumGothic" panose="020D0604000000000000" pitchFamily="34" charset="-127"/>
                      <a:ea typeface="NanumGothic" panose="020D0604000000000000" pitchFamily="34" charset="-127"/>
                    </a:rPr>
                    <a:t>체인</a:t>
                  </a:r>
                  <a:r>
                    <a:rPr lang="en-US" altLang="ko-KR" sz="1300" dirty="0">
                      <a:solidFill>
                        <a:schemeClr val="tx1"/>
                      </a:solidFill>
                      <a:latin typeface="NanumGothic" panose="020D0604000000000000" pitchFamily="34" charset="-127"/>
                      <a:ea typeface="NanumGothic" panose="020D0604000000000000" pitchFamily="34" charset="-127"/>
                    </a:rPr>
                    <a:t>B</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4" name="Rounded Rectangle 13">
                  <a:extLst>
                    <a:ext uri="{FF2B5EF4-FFF2-40B4-BE49-F238E27FC236}">
                      <a16:creationId xmlns:a16="http://schemas.microsoft.com/office/drawing/2014/main" id="{70F43D4B-CA2B-C751-EDEF-2F508EA2CFAC}"/>
                    </a:ext>
                  </a:extLst>
                </p:cNvPr>
                <p:cNvSpPr/>
                <p:nvPr/>
              </p:nvSpPr>
              <p:spPr>
                <a:xfrm>
                  <a:off x="2757238" y="4669158"/>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Port-B1</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5" name="Rounded Rectangle 14">
                  <a:extLst>
                    <a:ext uri="{FF2B5EF4-FFF2-40B4-BE49-F238E27FC236}">
                      <a16:creationId xmlns:a16="http://schemas.microsoft.com/office/drawing/2014/main" id="{963FA8EF-ABBC-D617-0829-B99A3F96E1A4}"/>
                    </a:ext>
                  </a:extLst>
                </p:cNvPr>
                <p:cNvSpPr/>
                <p:nvPr/>
              </p:nvSpPr>
              <p:spPr>
                <a:xfrm>
                  <a:off x="8846224" y="4248034"/>
                  <a:ext cx="723900" cy="116123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ko-KR" altLang="en-US" sz="1300" dirty="0">
                      <a:solidFill>
                        <a:schemeClr val="tx1"/>
                      </a:solidFill>
                      <a:latin typeface="NanumGothic" panose="020D0604000000000000" pitchFamily="34" charset="-127"/>
                      <a:ea typeface="NanumGothic" panose="020D0604000000000000" pitchFamily="34" charset="-127"/>
                    </a:rPr>
                    <a:t>체인</a:t>
                  </a:r>
                  <a:r>
                    <a:rPr lang="en-US" altLang="ko-KR" sz="1300" dirty="0">
                      <a:solidFill>
                        <a:schemeClr val="tx1"/>
                      </a:solidFill>
                      <a:latin typeface="NanumGothic" panose="020D0604000000000000" pitchFamily="34" charset="-127"/>
                      <a:ea typeface="NanumGothic" panose="020D0604000000000000" pitchFamily="34" charset="-127"/>
                    </a:rPr>
                    <a:t>C</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6" name="Rounded Rectangle 15">
                  <a:extLst>
                    <a:ext uri="{FF2B5EF4-FFF2-40B4-BE49-F238E27FC236}">
                      <a16:creationId xmlns:a16="http://schemas.microsoft.com/office/drawing/2014/main" id="{6B531158-C62C-8C92-9A0A-4C9BB2985C4E}"/>
                    </a:ext>
                  </a:extLst>
                </p:cNvPr>
                <p:cNvSpPr/>
                <p:nvPr/>
              </p:nvSpPr>
              <p:spPr>
                <a:xfrm>
                  <a:off x="8772030" y="5060922"/>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Port-C2</a:t>
                  </a:r>
                  <a:endParaRPr lang="en-KR" sz="1300" dirty="0">
                    <a:solidFill>
                      <a:schemeClr val="tx1"/>
                    </a:solidFill>
                    <a:latin typeface="NanumGothic" panose="020D0604000000000000" pitchFamily="34" charset="-127"/>
                    <a:ea typeface="NanumGothic" panose="020D0604000000000000" pitchFamily="34" charset="-127"/>
                  </a:endParaRPr>
                </a:p>
              </p:txBody>
            </p:sp>
          </p:grpSp>
          <p:sp>
            <p:nvSpPr>
              <p:cNvPr id="26" name="Rounded Rectangle 25">
                <a:extLst>
                  <a:ext uri="{FF2B5EF4-FFF2-40B4-BE49-F238E27FC236}">
                    <a16:creationId xmlns:a16="http://schemas.microsoft.com/office/drawing/2014/main" id="{AE9C7369-E35A-9AC5-8865-E81011171F1D}"/>
                  </a:ext>
                </a:extLst>
              </p:cNvPr>
              <p:cNvSpPr/>
              <p:nvPr/>
            </p:nvSpPr>
            <p:spPr>
              <a:xfrm>
                <a:off x="8772030" y="4664761"/>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Port-C1</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27" name="TextBox 26">
                <a:extLst>
                  <a:ext uri="{FF2B5EF4-FFF2-40B4-BE49-F238E27FC236}">
                    <a16:creationId xmlns:a16="http://schemas.microsoft.com/office/drawing/2014/main" id="{43302F31-8041-4BEA-D28A-E21809AB44A3}"/>
                  </a:ext>
                </a:extLst>
              </p:cNvPr>
              <p:cNvSpPr txBox="1"/>
              <p:nvPr/>
            </p:nvSpPr>
            <p:spPr>
              <a:xfrm>
                <a:off x="4313933" y="4535654"/>
                <a:ext cx="875561" cy="292388"/>
              </a:xfrm>
              <a:prstGeom prst="rect">
                <a:avLst/>
              </a:prstGeom>
              <a:noFill/>
            </p:spPr>
            <p:txBody>
              <a:bodyPr wrap="none" rtlCol="0">
                <a:spAutoFit/>
              </a:bodyPr>
              <a:lstStyle/>
              <a:p>
                <a:r>
                  <a:rPr lang="en-US" sz="1300" dirty="0"/>
                  <a:t>C</a:t>
                </a:r>
                <a:r>
                  <a:rPr lang="en-KR" sz="1300" dirty="0"/>
                  <a:t>hannel-1</a:t>
                </a:r>
              </a:p>
            </p:txBody>
          </p:sp>
          <p:sp>
            <p:nvSpPr>
              <p:cNvPr id="28" name="TextBox 27">
                <a:extLst>
                  <a:ext uri="{FF2B5EF4-FFF2-40B4-BE49-F238E27FC236}">
                    <a16:creationId xmlns:a16="http://schemas.microsoft.com/office/drawing/2014/main" id="{17018937-61E7-0C58-6CC9-8A095F0F0E56}"/>
                  </a:ext>
                </a:extLst>
              </p:cNvPr>
              <p:cNvSpPr txBox="1"/>
              <p:nvPr/>
            </p:nvSpPr>
            <p:spPr>
              <a:xfrm>
                <a:off x="7266695" y="4942710"/>
                <a:ext cx="875561" cy="292388"/>
              </a:xfrm>
              <a:prstGeom prst="rect">
                <a:avLst/>
              </a:prstGeom>
              <a:noFill/>
            </p:spPr>
            <p:txBody>
              <a:bodyPr wrap="none" rtlCol="0">
                <a:spAutoFit/>
              </a:bodyPr>
              <a:lstStyle/>
              <a:p>
                <a:r>
                  <a:rPr lang="en-US" sz="1300" dirty="0"/>
                  <a:t>C</a:t>
                </a:r>
                <a:r>
                  <a:rPr lang="en-KR" sz="1300" dirty="0"/>
                  <a:t>hannel-2</a:t>
                </a:r>
              </a:p>
            </p:txBody>
          </p:sp>
        </p:grpSp>
      </p:grpSp>
    </p:spTree>
    <p:extLst>
      <p:ext uri="{BB962C8B-B14F-4D97-AF65-F5344CB8AC3E}">
        <p14:creationId xmlns:p14="http://schemas.microsoft.com/office/powerpoint/2010/main" val="3848497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Channel[2/</a:t>
            </a:r>
            <a:r>
              <a:rPr lang="en-US" altLang="ko-KR" sz="4000" dirty="0">
                <a:latin typeface="NanumGothic" panose="020D0604000000000000" pitchFamily="34" charset="-127"/>
                <a:ea typeface="NanumGothic" panose="020D0604000000000000" pitchFamily="34" charset="-127"/>
              </a:rPr>
              <a:t>2</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B6EE96CF-C4CA-0635-F57E-EE8011DF875A}"/>
              </a:ext>
            </a:extLst>
          </p:cNvPr>
          <p:cNvSpPr>
            <a:spLocks noGrp="1"/>
          </p:cNvSpPr>
          <p:nvPr>
            <p:ph idx="1"/>
          </p:nvPr>
        </p:nvSpPr>
        <p:spPr>
          <a:xfrm>
            <a:off x="5575852" y="1766003"/>
            <a:ext cx="5777947" cy="4949681"/>
          </a:xfrm>
        </p:spPr>
        <p:txBody>
          <a:bodyPr>
            <a:normAutofit/>
          </a:bodyPr>
          <a:lstStyle/>
          <a:p>
            <a:r>
              <a:rPr lang="en-US" sz="2000" dirty="0" err="1">
                <a:latin typeface="NanumGothic" panose="020D0604000000000000" pitchFamily="34" charset="-127"/>
                <a:ea typeface="NanumGothic" panose="020D0604000000000000" pitchFamily="34" charset="-127"/>
              </a:rPr>
              <a:t>ChanOpenInit</a:t>
            </a:r>
            <a:endParaRPr lang="en-US" sz="1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 :</a:t>
            </a:r>
            <a:r>
              <a:rPr lang="ko-KR" altLang="en-US" sz="1600" dirty="0">
                <a:latin typeface="NanumGothic" panose="020D0604000000000000" pitchFamily="34" charset="-127"/>
                <a:ea typeface="NanumGothic" panose="020D0604000000000000" pitchFamily="34" charset="-127"/>
              </a:rPr>
              <a:t> 상태변경</a:t>
            </a:r>
            <a:r>
              <a:rPr lang="en-US" altLang="ko-KR" sz="1600" dirty="0">
                <a:latin typeface="NanumGothic" panose="020D0604000000000000" pitchFamily="34" charset="-127"/>
                <a:ea typeface="NanumGothic" panose="020D0604000000000000" pitchFamily="34" charset="-127"/>
              </a:rPr>
              <a:t>(INIT), </a:t>
            </a:r>
            <a:r>
              <a:rPr lang="ko-KR" altLang="en-US" sz="1600" dirty="0">
                <a:latin typeface="NanumGothic" panose="020D0604000000000000" pitchFamily="34" charset="-127"/>
                <a:ea typeface="NanumGothic" panose="020D0604000000000000" pitchFamily="34" charset="-127"/>
              </a:rPr>
              <a:t>포트 유효성 확인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채널에서의 패킷 전송 방식 확인</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endParaRPr lang="en-US" altLang="ko-KR" sz="2000" dirty="0">
              <a:latin typeface="NanumGothic" panose="020D0604000000000000" pitchFamily="34" charset="-127"/>
              <a:ea typeface="NanumGothic" panose="020D0604000000000000" pitchFamily="34" charset="-127"/>
            </a:endParaRPr>
          </a:p>
          <a:p>
            <a:pPr marL="0" indent="0">
              <a:buNone/>
            </a:pPr>
            <a:endParaRPr lang="en-US" altLang="ko-KR" sz="2000" dirty="0">
              <a:latin typeface="NanumGothic" panose="020D0604000000000000" pitchFamily="34" charset="-127"/>
              <a:ea typeface="NanumGothic" panose="020D0604000000000000" pitchFamily="34" charset="-127"/>
            </a:endParaRPr>
          </a:p>
          <a:p>
            <a:r>
              <a:rPr lang="en-US" altLang="ko-KR" sz="2000" dirty="0" err="1">
                <a:latin typeface="NanumGothic" panose="020D0604000000000000" pitchFamily="34" charset="-127"/>
                <a:ea typeface="NanumGothic" panose="020D0604000000000000" pitchFamily="34" charset="-127"/>
              </a:rPr>
              <a:t>ChanOpenTry</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B : </a:t>
            </a:r>
            <a:r>
              <a:rPr lang="ko-KR" altLang="en-US" sz="1600" dirty="0">
                <a:latin typeface="NanumGothic" panose="020D0604000000000000" pitchFamily="34" charset="-127"/>
                <a:ea typeface="NanumGothic" panose="020D0604000000000000" pitchFamily="34" charset="-127"/>
              </a:rPr>
              <a:t>상태변경</a:t>
            </a:r>
            <a:r>
              <a:rPr lang="en-US" altLang="ko-KR" sz="1600" dirty="0">
                <a:latin typeface="NanumGothic" panose="020D0604000000000000" pitchFamily="34" charset="-127"/>
                <a:ea typeface="NanumGothic" panose="020D0604000000000000" pitchFamily="34" charset="-127"/>
              </a:rPr>
              <a:t>(TRY), </a:t>
            </a:r>
            <a:r>
              <a:rPr lang="ko-KR" altLang="en-US" sz="1600" dirty="0">
                <a:latin typeface="NanumGothic" panose="020D0604000000000000" pitchFamily="34" charset="-127"/>
                <a:ea typeface="NanumGothic" panose="020D0604000000000000" pitchFamily="34" charset="-127"/>
              </a:rPr>
              <a:t>포트 유효성 확인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채널에서의 패킷 전송 방식 확인</a:t>
            </a:r>
            <a:endParaRPr lang="en-US" altLang="ko-KR" sz="1600" dirty="0">
              <a:latin typeface="NanumGothic" panose="020D0604000000000000" pitchFamily="34" charset="-127"/>
              <a:ea typeface="NanumGothic" panose="020D0604000000000000" pitchFamily="34" charset="-127"/>
            </a:endParaRPr>
          </a:p>
          <a:p>
            <a:r>
              <a:rPr lang="en-US" altLang="ko-KR" sz="2000" dirty="0" err="1">
                <a:latin typeface="NanumGothic" panose="020D0604000000000000" pitchFamily="34" charset="-127"/>
                <a:ea typeface="NanumGothic" panose="020D0604000000000000" pitchFamily="34" charset="-127"/>
              </a:rPr>
              <a:t>ChanOpenAck</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A : </a:t>
            </a:r>
            <a:r>
              <a:rPr lang="ko-KR" altLang="en-US" sz="1600" dirty="0">
                <a:latin typeface="NanumGothic" panose="020D0604000000000000" pitchFamily="34" charset="-127"/>
                <a:ea typeface="NanumGothic" panose="020D0604000000000000" pitchFamily="34" charset="-127"/>
              </a:rPr>
              <a:t>상태변경</a:t>
            </a:r>
            <a:r>
              <a:rPr lang="en-US" altLang="ko-KR" sz="1600" dirty="0">
                <a:latin typeface="NanumGothic" panose="020D0604000000000000" pitchFamily="34" charset="-127"/>
                <a:ea typeface="NanumGothic" panose="020D0604000000000000" pitchFamily="34" charset="-127"/>
              </a:rPr>
              <a:t>(OPEN)</a:t>
            </a:r>
          </a:p>
          <a:p>
            <a:pPr lvl="1"/>
            <a:r>
              <a:rPr lang="ko-KR" altLang="en-US" sz="1600" dirty="0">
                <a:latin typeface="NanumGothic" panose="020D0604000000000000" pitchFamily="34" charset="-127"/>
                <a:ea typeface="NanumGothic" panose="020D0604000000000000" pitchFamily="34" charset="-127"/>
              </a:rPr>
              <a:t>어플리케이션 버전 결정</a:t>
            </a:r>
            <a:endParaRPr lang="en-US" altLang="ko-KR" sz="1600" dirty="0">
              <a:latin typeface="NanumGothic" panose="020D0604000000000000" pitchFamily="34" charset="-127"/>
              <a:ea typeface="NanumGothic" panose="020D0604000000000000" pitchFamily="34" charset="-127"/>
            </a:endParaRPr>
          </a:p>
          <a:p>
            <a:r>
              <a:rPr lang="en-US" altLang="ko-KR" sz="2000" dirty="0" err="1">
                <a:latin typeface="NanumGothic" panose="020D0604000000000000" pitchFamily="34" charset="-127"/>
                <a:ea typeface="NanumGothic" panose="020D0604000000000000" pitchFamily="34" charset="-127"/>
              </a:rPr>
              <a:t>ChanOpenConfirm</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체인</a:t>
            </a:r>
            <a:r>
              <a:rPr lang="en-US" altLang="ko-KR" sz="1600" dirty="0">
                <a:latin typeface="NanumGothic" panose="020D0604000000000000" pitchFamily="34" charset="-127"/>
                <a:ea typeface="NanumGothic" panose="020D0604000000000000" pitchFamily="34" charset="-127"/>
              </a:rPr>
              <a:t>B : </a:t>
            </a:r>
            <a:r>
              <a:rPr lang="ko-KR" altLang="en-US" sz="1600" dirty="0">
                <a:latin typeface="NanumGothic" panose="020D0604000000000000" pitchFamily="34" charset="-127"/>
                <a:ea typeface="NanumGothic" panose="020D0604000000000000" pitchFamily="34" charset="-127"/>
              </a:rPr>
              <a:t>상태변경</a:t>
            </a:r>
            <a:r>
              <a:rPr lang="en-US" altLang="ko-KR" sz="1600" dirty="0">
                <a:latin typeface="NanumGothic" panose="020D0604000000000000" pitchFamily="34" charset="-127"/>
                <a:ea typeface="NanumGothic" panose="020D0604000000000000" pitchFamily="34" charset="-127"/>
              </a:rPr>
              <a:t>(OPEN)</a:t>
            </a:r>
            <a:endParaRPr lang="en-US" altLang="ko-KR" sz="2000" dirty="0">
              <a:latin typeface="NanumGothic" panose="020D0604000000000000" pitchFamily="34" charset="-127"/>
              <a:ea typeface="NanumGothic" panose="020D0604000000000000" pitchFamily="34" charset="-127"/>
            </a:endParaRPr>
          </a:p>
          <a:p>
            <a:pPr lvl="1"/>
            <a:endParaRPr lang="en-US" sz="1600" dirty="0">
              <a:latin typeface="NanumGothic" panose="020D0604000000000000" pitchFamily="34" charset="-127"/>
              <a:ea typeface="NanumGothic" panose="020D0604000000000000" pitchFamily="34" charset="-127"/>
            </a:endParaRPr>
          </a:p>
        </p:txBody>
      </p:sp>
      <p:pic>
        <p:nvPicPr>
          <p:cNvPr id="8" name="Picture 7">
            <a:extLst>
              <a:ext uri="{FF2B5EF4-FFF2-40B4-BE49-F238E27FC236}">
                <a16:creationId xmlns:a16="http://schemas.microsoft.com/office/drawing/2014/main" id="{E0257D0E-97EC-466D-C70D-43ABDCEA0AEA}"/>
              </a:ext>
            </a:extLst>
          </p:cNvPr>
          <p:cNvPicPr>
            <a:picLocks noChangeAspect="1"/>
          </p:cNvPicPr>
          <p:nvPr/>
        </p:nvPicPr>
        <p:blipFill>
          <a:blip r:embed="rId3"/>
          <a:stretch>
            <a:fillRect/>
          </a:stretch>
        </p:blipFill>
        <p:spPr>
          <a:xfrm>
            <a:off x="838199" y="1766002"/>
            <a:ext cx="4573497" cy="3094733"/>
          </a:xfrm>
          <a:prstGeom prst="rect">
            <a:avLst/>
          </a:prstGeom>
        </p:spPr>
      </p:pic>
      <p:sp>
        <p:nvSpPr>
          <p:cNvPr id="9" name="Rectangle 8">
            <a:extLst>
              <a:ext uri="{FF2B5EF4-FFF2-40B4-BE49-F238E27FC236}">
                <a16:creationId xmlns:a16="http://schemas.microsoft.com/office/drawing/2014/main" id="{95EE6BD8-C197-8B82-6C86-9C60DCEC3EE6}"/>
              </a:ext>
            </a:extLst>
          </p:cNvPr>
          <p:cNvSpPr/>
          <p:nvPr/>
        </p:nvSpPr>
        <p:spPr>
          <a:xfrm>
            <a:off x="6320589" y="2731842"/>
            <a:ext cx="4796590" cy="10026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300" b="1" dirty="0">
                <a:solidFill>
                  <a:schemeClr val="tx1"/>
                </a:solidFill>
                <a:latin typeface="NanumGothic" panose="020D0604000000000000" pitchFamily="34" charset="-127"/>
                <a:ea typeface="NanumGothic" panose="020D0604000000000000" pitchFamily="34" charset="-127"/>
              </a:rPr>
              <a:t>패킷 전송 방식</a:t>
            </a:r>
            <a:endParaRPr lang="en-US" sz="1300" b="1" dirty="0">
              <a:solidFill>
                <a:schemeClr val="tx1"/>
              </a:solidFill>
              <a:latin typeface="NanumGothic" panose="020D0604000000000000" pitchFamily="34" charset="-127"/>
              <a:ea typeface="NanumGothic" panose="020D0604000000000000" pitchFamily="34" charset="-127"/>
            </a:endParaRPr>
          </a:p>
          <a:p>
            <a:r>
              <a:rPr lang="en-US" altLang="ko-KR" sz="1300" dirty="0">
                <a:solidFill>
                  <a:schemeClr val="tx1"/>
                </a:solidFill>
                <a:latin typeface="NanumGothic" panose="020D0604000000000000" pitchFamily="34" charset="-127"/>
                <a:ea typeface="NanumGothic" panose="020D0604000000000000" pitchFamily="34" charset="-127"/>
              </a:rPr>
              <a:t>-</a:t>
            </a:r>
            <a:r>
              <a:rPr lang="ko-KR" altLang="en-US" sz="1300" dirty="0">
                <a:solidFill>
                  <a:schemeClr val="tx1"/>
                </a:solidFill>
                <a:latin typeface="NanumGothic" panose="020D0604000000000000" pitchFamily="34" charset="-127"/>
                <a:ea typeface="NanumGothic" panose="020D0604000000000000" pitchFamily="34" charset="-127"/>
              </a:rPr>
              <a:t> </a:t>
            </a:r>
            <a:r>
              <a:rPr lang="en-US" sz="1300" dirty="0">
                <a:solidFill>
                  <a:schemeClr val="tx1"/>
                </a:solidFill>
                <a:latin typeface="NanumGothic" panose="020D0604000000000000" pitchFamily="34" charset="-127"/>
                <a:ea typeface="NanumGothic" panose="020D0604000000000000" pitchFamily="34" charset="-127"/>
              </a:rPr>
              <a:t>Order: </a:t>
            </a:r>
            <a:r>
              <a:rPr lang="ko-KR" altLang="en-US" sz="1300" dirty="0">
                <a:solidFill>
                  <a:schemeClr val="tx1"/>
                </a:solidFill>
                <a:latin typeface="NanumGothic" panose="020D0604000000000000" pitchFamily="34" charset="-127"/>
                <a:ea typeface="NanumGothic" panose="020D0604000000000000" pitchFamily="34" charset="-127"/>
              </a:rPr>
              <a:t>전송된 패킷이 순서대로 전달되도록 </a:t>
            </a:r>
            <a:r>
              <a:rPr lang="en-US" altLang="ko-KR" sz="1300" dirty="0">
                <a:solidFill>
                  <a:schemeClr val="tx1"/>
                </a:solidFill>
                <a:latin typeface="NanumGothic" panose="020D0604000000000000" pitchFamily="34" charset="-127"/>
                <a:ea typeface="NanumGothic" panose="020D0604000000000000" pitchFamily="34" charset="-127"/>
              </a:rPr>
              <a:t>Acknowledgement,</a:t>
            </a:r>
            <a:r>
              <a:rPr lang="ko-KR" altLang="en-US" sz="1300" dirty="0">
                <a:solidFill>
                  <a:schemeClr val="tx1"/>
                </a:solidFill>
                <a:latin typeface="NanumGothic" panose="020D0604000000000000" pitchFamily="34" charset="-127"/>
                <a:ea typeface="NanumGothic" panose="020D0604000000000000" pitchFamily="34" charset="-127"/>
              </a:rPr>
              <a:t> </a:t>
            </a:r>
            <a:r>
              <a:rPr lang="en-US" altLang="ko-KR" sz="1300" dirty="0">
                <a:solidFill>
                  <a:schemeClr val="tx1"/>
                </a:solidFill>
                <a:latin typeface="NanumGothic" panose="020D0604000000000000" pitchFamily="34" charset="-127"/>
                <a:ea typeface="NanumGothic" panose="020D0604000000000000" pitchFamily="34" charset="-127"/>
              </a:rPr>
              <a:t>timeout</a:t>
            </a:r>
            <a:r>
              <a:rPr lang="ko-KR" altLang="en-US" sz="1300" dirty="0">
                <a:solidFill>
                  <a:schemeClr val="tx1"/>
                </a:solidFill>
                <a:latin typeface="NanumGothic" panose="020D0604000000000000" pitchFamily="34" charset="-127"/>
                <a:ea typeface="NanumGothic" panose="020D0604000000000000" pitchFamily="34" charset="-127"/>
              </a:rPr>
              <a:t> 등을</a:t>
            </a:r>
            <a:r>
              <a:rPr lang="en-US" altLang="ko-KR" sz="1300" dirty="0">
                <a:solidFill>
                  <a:schemeClr val="tx1"/>
                </a:solidFill>
                <a:latin typeface="NanumGothic" panose="020D0604000000000000" pitchFamily="34" charset="-127"/>
                <a:ea typeface="NanumGothic" panose="020D0604000000000000" pitchFamily="34" charset="-127"/>
              </a:rPr>
              <a:t> </a:t>
            </a:r>
            <a:r>
              <a:rPr lang="ko-KR" altLang="en-US" sz="1300" dirty="0">
                <a:solidFill>
                  <a:schemeClr val="tx1"/>
                </a:solidFill>
                <a:latin typeface="NanumGothic" panose="020D0604000000000000" pitchFamily="34" charset="-127"/>
                <a:ea typeface="NanumGothic" panose="020D0604000000000000" pitchFamily="34" charset="-127"/>
              </a:rPr>
              <a:t>확인</a:t>
            </a:r>
            <a:endParaRPr lang="en-US" altLang="ko-KR" sz="1300" dirty="0">
              <a:solidFill>
                <a:schemeClr val="tx1"/>
              </a:solidFill>
              <a:latin typeface="NanumGothic" panose="020D0604000000000000" pitchFamily="34" charset="-127"/>
              <a:ea typeface="NanumGothic" panose="020D0604000000000000" pitchFamily="34" charset="-127"/>
            </a:endParaRPr>
          </a:p>
          <a:p>
            <a:r>
              <a:rPr lang="en-US" altLang="ko-KR" sz="1300" dirty="0">
                <a:solidFill>
                  <a:schemeClr val="tx1"/>
                </a:solidFill>
                <a:latin typeface="NanumGothic" panose="020D0604000000000000" pitchFamily="34" charset="-127"/>
                <a:ea typeface="NanumGothic" panose="020D0604000000000000" pitchFamily="34" charset="-127"/>
              </a:rPr>
              <a:t>-</a:t>
            </a:r>
            <a:r>
              <a:rPr lang="ko-KR" altLang="en-US" sz="1300" dirty="0">
                <a:solidFill>
                  <a:schemeClr val="tx1"/>
                </a:solidFill>
                <a:latin typeface="NanumGothic" panose="020D0604000000000000" pitchFamily="34" charset="-127"/>
                <a:ea typeface="NanumGothic" panose="020D0604000000000000" pitchFamily="34" charset="-127"/>
              </a:rPr>
              <a:t> </a:t>
            </a:r>
            <a:r>
              <a:rPr lang="en-US" altLang="ko-KR" sz="1300" dirty="0">
                <a:solidFill>
                  <a:schemeClr val="tx1"/>
                </a:solidFill>
                <a:latin typeface="NanumGothic" panose="020D0604000000000000" pitchFamily="34" charset="-127"/>
                <a:ea typeface="NanumGothic" panose="020D0604000000000000" pitchFamily="34" charset="-127"/>
              </a:rPr>
              <a:t>Unorder: </a:t>
            </a:r>
            <a:r>
              <a:rPr lang="ko-KR" altLang="en-US" sz="1300" dirty="0">
                <a:solidFill>
                  <a:schemeClr val="tx1"/>
                </a:solidFill>
                <a:latin typeface="NanumGothic" panose="020D0604000000000000" pitchFamily="34" charset="-127"/>
                <a:ea typeface="NanumGothic" panose="020D0604000000000000" pitchFamily="34" charset="-127"/>
              </a:rPr>
              <a:t>전송 순서와 상관없이 패킷 처리</a:t>
            </a:r>
            <a:endParaRPr lang="en-US" altLang="ko-KR" sz="1300" dirty="0">
              <a:solidFill>
                <a:schemeClr val="tx1"/>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245926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Token Transfer[1/</a:t>
            </a:r>
            <a:r>
              <a:rPr lang="en-US" altLang="ko-KR" sz="4000" dirty="0">
                <a:latin typeface="NanumGothic" panose="020D0604000000000000" pitchFamily="34" charset="-127"/>
                <a:ea typeface="NanumGothic" panose="020D0604000000000000" pitchFamily="34" charset="-127"/>
              </a:rPr>
              <a:t>5</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5D1554-54CD-8C03-AD6B-F9325C9B8F3D}"/>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소스</a:t>
            </a:r>
            <a:r>
              <a:rPr lang="en-US" altLang="ko-KR" sz="2000" dirty="0">
                <a:latin typeface="NanumGothic" panose="020D0604000000000000" pitchFamily="34" charset="-127"/>
                <a:ea typeface="NanumGothic" panose="020D0604000000000000" pitchFamily="34" charset="-127"/>
              </a:rPr>
              <a:t>(source) </a:t>
            </a:r>
            <a:r>
              <a:rPr lang="ko-KR" altLang="en-US" sz="2000" dirty="0">
                <a:latin typeface="NanumGothic" panose="020D0604000000000000" pitchFamily="34" charset="-127"/>
                <a:ea typeface="NanumGothic" panose="020D0604000000000000" pitchFamily="34" charset="-127"/>
              </a:rPr>
              <a:t>체인</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자산이나 데이터를 전송</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전송하고자 하는 자산의 양만큼 잠금</a:t>
            </a:r>
            <a:r>
              <a:rPr lang="en-US" altLang="ko-KR" sz="1600" dirty="0">
                <a:latin typeface="NanumGothic" panose="020D0604000000000000" pitchFamily="34" charset="-127"/>
                <a:ea typeface="NanumGothic" panose="020D0604000000000000" pitchFamily="34" charset="-127"/>
              </a:rPr>
              <a:t>(escrow)</a:t>
            </a:r>
            <a:r>
              <a:rPr lang="ko-KR" altLang="en-US" sz="1600" dirty="0">
                <a:latin typeface="NanumGothic" panose="020D0604000000000000" pitchFamily="34" charset="-127"/>
                <a:ea typeface="NanumGothic" panose="020D0604000000000000" pitchFamily="34" charset="-127"/>
              </a:rPr>
              <a:t>하며</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a:t>
            </a:r>
            <a:r>
              <a:rPr lang="ko-KR" altLang="en-US" sz="1600" dirty="0" err="1">
                <a:latin typeface="NanumGothic" panose="020D0604000000000000" pitchFamily="34" charset="-127"/>
                <a:ea typeface="NanumGothic" panose="020D0604000000000000" pitchFamily="34" charset="-127"/>
              </a:rPr>
              <a:t>잠금해제</a:t>
            </a:r>
            <a:r>
              <a:rPr lang="en-US" altLang="ko-KR" sz="1600" dirty="0">
                <a:latin typeface="NanumGothic" panose="020D0604000000000000" pitchFamily="34" charset="-127"/>
                <a:ea typeface="NanumGothic" panose="020D0604000000000000" pitchFamily="34" charset="-127"/>
              </a:rPr>
              <a:t>(</a:t>
            </a:r>
            <a:r>
              <a:rPr lang="en-US" altLang="ko-KR" sz="1600" dirty="0" err="1">
                <a:latin typeface="NanumGothic" panose="020D0604000000000000" pitchFamily="34" charset="-127"/>
                <a:ea typeface="NanumGothic" panose="020D0604000000000000" pitchFamily="34" charset="-127"/>
              </a:rPr>
              <a:t>unescrow</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되기 전까지 소스체인 내에서 사용 불가</a:t>
            </a:r>
            <a:endParaRPr lang="en-US" altLang="ko-KR" sz="16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싱크</a:t>
            </a:r>
            <a:r>
              <a:rPr lang="en-US" altLang="ko-KR" sz="2000" dirty="0">
                <a:latin typeface="NanumGothic" panose="020D0604000000000000" pitchFamily="34" charset="-127"/>
                <a:ea typeface="NanumGothic" panose="020D0604000000000000" pitchFamily="34" charset="-127"/>
              </a:rPr>
              <a:t>(sink) </a:t>
            </a:r>
            <a:r>
              <a:rPr lang="ko-KR" altLang="en-US" sz="2000" dirty="0">
                <a:latin typeface="NanumGothic" panose="020D0604000000000000" pitchFamily="34" charset="-127"/>
                <a:ea typeface="NanumGothic" panose="020D0604000000000000" pitchFamily="34" charset="-127"/>
              </a:rPr>
              <a:t>체인</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자산이나 데이터를 수신</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소스체인으로부터 전송된 토큰의 가치에 해당하는 바우처</a:t>
            </a:r>
            <a:r>
              <a:rPr lang="en-US" altLang="ko-KR" sz="1600" dirty="0">
                <a:latin typeface="NanumGothic" panose="020D0604000000000000" pitchFamily="34" charset="-127"/>
                <a:ea typeface="NanumGothic" panose="020D0604000000000000" pitchFamily="34" charset="-127"/>
              </a:rPr>
              <a:t>(voucher) </a:t>
            </a:r>
            <a:r>
              <a:rPr lang="ko-KR" altLang="en-US" sz="1600" dirty="0">
                <a:latin typeface="NanumGothic" panose="020D0604000000000000" pitchFamily="34" charset="-127"/>
                <a:ea typeface="NanumGothic" panose="020D0604000000000000" pitchFamily="34" charset="-127"/>
              </a:rPr>
              <a:t>토큰 발행</a:t>
            </a:r>
            <a:r>
              <a:rPr lang="en-US" altLang="ko-KR" sz="1600" dirty="0">
                <a:latin typeface="NanumGothic" panose="020D0604000000000000" pitchFamily="34" charset="-127"/>
                <a:ea typeface="NanumGothic" panose="020D0604000000000000" pitchFamily="34" charset="-127"/>
              </a:rPr>
              <a:t>(mint)</a:t>
            </a:r>
          </a:p>
          <a:p>
            <a:pPr lvl="1"/>
            <a:r>
              <a:rPr lang="ko-KR" altLang="en-US" sz="1600" dirty="0">
                <a:latin typeface="NanumGothic" panose="020D0604000000000000" pitchFamily="34" charset="-127"/>
                <a:ea typeface="NanumGothic" panose="020D0604000000000000" pitchFamily="34" charset="-127"/>
              </a:rPr>
              <a:t>발행된 자산이 다시 소스체인으로 돌아가는 경우</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해당 자산을 소각</a:t>
            </a:r>
            <a:r>
              <a:rPr lang="en-US" altLang="ko-KR" sz="1600" dirty="0">
                <a:latin typeface="NanumGothic" panose="020D0604000000000000" pitchFamily="34" charset="-127"/>
                <a:ea typeface="NanumGothic" panose="020D0604000000000000" pitchFamily="34" charset="-127"/>
              </a:rPr>
              <a:t>(burn)</a:t>
            </a:r>
          </a:p>
          <a:p>
            <a:pPr lvl="1"/>
            <a:endParaRPr lang="en-US" altLang="ko-KR" sz="1600" dirty="0">
              <a:latin typeface="NanumGothic" panose="020D0604000000000000" pitchFamily="34" charset="-127"/>
              <a:ea typeface="NanumGothic" panose="020D0604000000000000" pitchFamily="34" charset="-127"/>
            </a:endParaRPr>
          </a:p>
          <a:p>
            <a:pPr lvl="1"/>
            <a:endParaRPr lang="en-US" sz="1600" b="0" dirty="0">
              <a:effectLst/>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144262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Token Transfer[2/</a:t>
            </a:r>
            <a:r>
              <a:rPr lang="en-US" altLang="ko-KR" sz="4000" dirty="0">
                <a:latin typeface="NanumGothic" panose="020D0604000000000000" pitchFamily="34" charset="-127"/>
                <a:ea typeface="NanumGothic" panose="020D0604000000000000" pitchFamily="34" charset="-127"/>
              </a:rPr>
              <a:t>5</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5D1554-54CD-8C03-AD6B-F9325C9B8F3D}"/>
              </a:ext>
            </a:extLst>
          </p:cNvPr>
          <p:cNvSpPr>
            <a:spLocks noGrp="1"/>
          </p:cNvSpPr>
          <p:nvPr>
            <p:ph idx="1"/>
          </p:nvPr>
        </p:nvSpPr>
        <p:spPr>
          <a:xfrm>
            <a:off x="838200" y="1766004"/>
            <a:ext cx="10515600" cy="4594692"/>
          </a:xfrm>
        </p:spPr>
        <p:txBody>
          <a:bodyPr>
            <a:normAutofit/>
          </a:bodyPr>
          <a:lstStyle/>
          <a:p>
            <a:r>
              <a:rPr lang="en-US" altLang="ko-KR" sz="2000" dirty="0">
                <a:latin typeface="NanumGothic" panose="020D0604000000000000" pitchFamily="34" charset="-127"/>
                <a:ea typeface="NanumGothic" panose="020D0604000000000000" pitchFamily="34" charset="-127"/>
              </a:rPr>
              <a:t>Token</a:t>
            </a:r>
            <a:r>
              <a:rPr lang="ko-KR" altLang="en-US" sz="2000" dirty="0">
                <a:latin typeface="NanumGothic" panose="020D0604000000000000" pitchFamily="34" charset="-127"/>
                <a:ea typeface="NanumGothic" panose="020D0604000000000000" pitchFamily="34" charset="-127"/>
              </a:rPr>
              <a:t> </a:t>
            </a:r>
            <a:r>
              <a:rPr lang="en-US" altLang="ko-KR" sz="2000" dirty="0">
                <a:latin typeface="NanumGothic" panose="020D0604000000000000" pitchFamily="34" charset="-127"/>
                <a:ea typeface="NanumGothic" panose="020D0604000000000000" pitchFamily="34" charset="-127"/>
              </a:rPr>
              <a:t>Denomination</a:t>
            </a:r>
          </a:p>
          <a:p>
            <a:pPr lvl="1"/>
            <a:r>
              <a:rPr lang="en-US" altLang="ko-KR" sz="1600" dirty="0">
                <a:latin typeface="NanumGothic" panose="020D0604000000000000" pitchFamily="34" charset="-127"/>
                <a:ea typeface="NanumGothic" panose="020D0604000000000000" pitchFamily="34" charset="-127"/>
              </a:rPr>
              <a:t>IBC </a:t>
            </a:r>
            <a:r>
              <a:rPr lang="ko-KR" altLang="en-US" sz="1600" dirty="0">
                <a:latin typeface="NanumGothic" panose="020D0604000000000000" pitchFamily="34" charset="-127"/>
                <a:ea typeface="NanumGothic" panose="020D0604000000000000" pitchFamily="34" charset="-127"/>
              </a:rPr>
              <a:t>내에서 이동되는 토큰은 </a:t>
            </a:r>
            <a:r>
              <a:rPr lang="en-US" altLang="ko-KR" sz="1600" b="1" dirty="0">
                <a:latin typeface="NanumGothic" panose="020D0604000000000000" pitchFamily="34" charset="-127"/>
                <a:ea typeface="NanumGothic" panose="020D0604000000000000" pitchFamily="34" charset="-127"/>
              </a:rPr>
              <a:t>{Port}/{Channel}/{</a:t>
            </a:r>
            <a:r>
              <a:rPr lang="en-US" altLang="ko-KR" sz="1600" b="1" dirty="0" err="1">
                <a:latin typeface="NanumGothic" panose="020D0604000000000000" pitchFamily="34" charset="-127"/>
                <a:ea typeface="NanumGothic" panose="020D0604000000000000" pitchFamily="34" charset="-127"/>
              </a:rPr>
              <a:t>Denom</a:t>
            </a:r>
            <a:r>
              <a:rPr lang="en-US" altLang="ko-KR" sz="1600" b="1" dirty="0">
                <a:latin typeface="NanumGothic" panose="020D0604000000000000" pitchFamily="34" charset="-127"/>
                <a:ea typeface="NanumGothic" panose="020D0604000000000000" pitchFamily="34" charset="-127"/>
              </a:rPr>
              <a:t>}</a:t>
            </a:r>
            <a:r>
              <a:rPr lang="ko-KR" altLang="en-US" sz="1600" b="1" dirty="0">
                <a:latin typeface="NanumGothic" panose="020D0604000000000000" pitchFamily="34" charset="-127"/>
                <a:ea typeface="NanumGothic" panose="020D0604000000000000" pitchFamily="34" charset="-127"/>
              </a:rPr>
              <a:t> </a:t>
            </a:r>
            <a:r>
              <a:rPr lang="ko-KR" altLang="en-US" sz="1600" dirty="0" err="1">
                <a:latin typeface="NanumGothic" panose="020D0604000000000000" pitchFamily="34" charset="-127"/>
                <a:ea typeface="NanumGothic" panose="020D0604000000000000" pitchFamily="34" charset="-127"/>
              </a:rPr>
              <a:t>으로</a:t>
            </a:r>
            <a:r>
              <a:rPr lang="ko-KR" altLang="en-US" sz="1600" dirty="0">
                <a:latin typeface="NanumGothic" panose="020D0604000000000000" pitchFamily="34" charset="-127"/>
                <a:ea typeface="NanumGothic" panose="020D0604000000000000" pitchFamily="34" charset="-127"/>
              </a:rPr>
              <a:t> 표현</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어떤 자산이 어떤 채널과 포트로부터 이동했는지를 나타내는 방식</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반대로 전송되었던 통로로 반환되면</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최종적으로 표현된 경로 순서로 하나씩 제거</a:t>
            </a:r>
            <a:endParaRPr lang="en-US" altLang="ko-KR" sz="20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sz="1600" b="0" dirty="0">
              <a:effectLst/>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
        <p:nvSpPr>
          <p:cNvPr id="5" name="Rounded Rectangle 4">
            <a:extLst>
              <a:ext uri="{FF2B5EF4-FFF2-40B4-BE49-F238E27FC236}">
                <a16:creationId xmlns:a16="http://schemas.microsoft.com/office/drawing/2014/main" id="{E011E74A-D04B-3B44-539B-C0B94781AAE4}"/>
              </a:ext>
            </a:extLst>
          </p:cNvPr>
          <p:cNvSpPr/>
          <p:nvPr/>
        </p:nvSpPr>
        <p:spPr>
          <a:xfrm>
            <a:off x="1430756" y="3041098"/>
            <a:ext cx="723900" cy="76503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ko-KR" altLang="en-US" sz="1300" dirty="0">
                <a:solidFill>
                  <a:schemeClr val="tx1"/>
                </a:solidFill>
                <a:latin typeface="NanumGothic" panose="020D0604000000000000" pitchFamily="34" charset="-127"/>
                <a:ea typeface="NanumGothic" panose="020D0604000000000000" pitchFamily="34" charset="-127"/>
              </a:rPr>
              <a:t>체인</a:t>
            </a:r>
            <a:r>
              <a:rPr lang="en-US" altLang="ko-KR" sz="1300" dirty="0">
                <a:solidFill>
                  <a:schemeClr val="tx1"/>
                </a:solidFill>
                <a:latin typeface="NanumGothic" panose="020D0604000000000000" pitchFamily="34" charset="-127"/>
                <a:ea typeface="NanumGothic" panose="020D0604000000000000" pitchFamily="34" charset="-127"/>
              </a:rPr>
              <a:t>A</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7" name="Rounded Rectangle 6">
            <a:extLst>
              <a:ext uri="{FF2B5EF4-FFF2-40B4-BE49-F238E27FC236}">
                <a16:creationId xmlns:a16="http://schemas.microsoft.com/office/drawing/2014/main" id="{E6DF5297-B66C-AD21-E08E-6A3EF63C71C5}"/>
              </a:ext>
            </a:extLst>
          </p:cNvPr>
          <p:cNvSpPr/>
          <p:nvPr/>
        </p:nvSpPr>
        <p:spPr>
          <a:xfrm>
            <a:off x="1356562" y="3457780"/>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Port-A1</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8" name="Rounded Rectangle 7">
            <a:extLst>
              <a:ext uri="{FF2B5EF4-FFF2-40B4-BE49-F238E27FC236}">
                <a16:creationId xmlns:a16="http://schemas.microsoft.com/office/drawing/2014/main" id="{CDC44DCC-D172-CAB7-562C-AD4DDE9A36CA}"/>
              </a:ext>
            </a:extLst>
          </p:cNvPr>
          <p:cNvSpPr/>
          <p:nvPr/>
        </p:nvSpPr>
        <p:spPr>
          <a:xfrm>
            <a:off x="5302920" y="3041098"/>
            <a:ext cx="723900" cy="76503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ko-KR" altLang="en-US" sz="1300" dirty="0">
                <a:solidFill>
                  <a:schemeClr val="tx1"/>
                </a:solidFill>
                <a:latin typeface="NanumGothic" panose="020D0604000000000000" pitchFamily="34" charset="-127"/>
                <a:ea typeface="NanumGothic" panose="020D0604000000000000" pitchFamily="34" charset="-127"/>
              </a:rPr>
              <a:t>체인</a:t>
            </a:r>
            <a:r>
              <a:rPr lang="en-US" altLang="ko-KR" sz="1300" dirty="0">
                <a:solidFill>
                  <a:schemeClr val="tx1"/>
                </a:solidFill>
                <a:latin typeface="NanumGothic" panose="020D0604000000000000" pitchFamily="34" charset="-127"/>
                <a:ea typeface="NanumGothic" panose="020D0604000000000000" pitchFamily="34" charset="-127"/>
              </a:rPr>
              <a:t>B</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9" name="Rounded Rectangle 8">
            <a:extLst>
              <a:ext uri="{FF2B5EF4-FFF2-40B4-BE49-F238E27FC236}">
                <a16:creationId xmlns:a16="http://schemas.microsoft.com/office/drawing/2014/main" id="{1117B4BD-7426-3E36-C147-E9C483373DD3}"/>
              </a:ext>
            </a:extLst>
          </p:cNvPr>
          <p:cNvSpPr/>
          <p:nvPr/>
        </p:nvSpPr>
        <p:spPr>
          <a:xfrm>
            <a:off x="5228726" y="3457780"/>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Port-B1</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1" name="Rounded Rectangle 10">
            <a:extLst>
              <a:ext uri="{FF2B5EF4-FFF2-40B4-BE49-F238E27FC236}">
                <a16:creationId xmlns:a16="http://schemas.microsoft.com/office/drawing/2014/main" id="{4A41A7F8-5220-9359-3DF7-988DF7829EE4}"/>
              </a:ext>
            </a:extLst>
          </p:cNvPr>
          <p:cNvSpPr/>
          <p:nvPr/>
        </p:nvSpPr>
        <p:spPr>
          <a:xfrm>
            <a:off x="9175084" y="3041098"/>
            <a:ext cx="723900" cy="76503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ko-KR" altLang="en-US" sz="1300" dirty="0">
                <a:solidFill>
                  <a:schemeClr val="tx1"/>
                </a:solidFill>
                <a:latin typeface="NanumGothic" panose="020D0604000000000000" pitchFamily="34" charset="-127"/>
                <a:ea typeface="NanumGothic" panose="020D0604000000000000" pitchFamily="34" charset="-127"/>
              </a:rPr>
              <a:t>체인</a:t>
            </a:r>
            <a:r>
              <a:rPr lang="en-US" altLang="ko-KR" sz="1300" dirty="0">
                <a:solidFill>
                  <a:schemeClr val="tx1"/>
                </a:solidFill>
                <a:latin typeface="NanumGothic" panose="020D0604000000000000" pitchFamily="34" charset="-127"/>
                <a:ea typeface="NanumGothic" panose="020D0604000000000000" pitchFamily="34" charset="-127"/>
              </a:rPr>
              <a:t>C</a:t>
            </a:r>
            <a:endParaRPr lang="en-KR" sz="1300" dirty="0">
              <a:solidFill>
                <a:schemeClr val="tx1"/>
              </a:solidFill>
              <a:latin typeface="NanumGothic" panose="020D0604000000000000" pitchFamily="34" charset="-127"/>
              <a:ea typeface="NanumGothic" panose="020D0604000000000000" pitchFamily="34" charset="-127"/>
            </a:endParaRPr>
          </a:p>
        </p:txBody>
      </p:sp>
      <p:sp>
        <p:nvSpPr>
          <p:cNvPr id="12" name="Rounded Rectangle 11">
            <a:extLst>
              <a:ext uri="{FF2B5EF4-FFF2-40B4-BE49-F238E27FC236}">
                <a16:creationId xmlns:a16="http://schemas.microsoft.com/office/drawing/2014/main" id="{568E8F7F-2F35-4C72-8BCE-76687165764D}"/>
              </a:ext>
            </a:extLst>
          </p:cNvPr>
          <p:cNvSpPr/>
          <p:nvPr/>
        </p:nvSpPr>
        <p:spPr>
          <a:xfrm>
            <a:off x="9100890" y="3457780"/>
            <a:ext cx="872288" cy="34835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latin typeface="NanumGothic" panose="020D0604000000000000" pitchFamily="34" charset="-127"/>
                <a:ea typeface="NanumGothic" panose="020D0604000000000000" pitchFamily="34" charset="-127"/>
              </a:rPr>
              <a:t>Port-C1</a:t>
            </a:r>
            <a:endParaRPr lang="en-KR" sz="1300" dirty="0">
              <a:solidFill>
                <a:schemeClr val="tx1"/>
              </a:solidFill>
              <a:latin typeface="NanumGothic" panose="020D0604000000000000" pitchFamily="34" charset="-127"/>
              <a:ea typeface="NanumGothic" panose="020D0604000000000000" pitchFamily="34" charset="-127"/>
            </a:endParaRPr>
          </a:p>
        </p:txBody>
      </p:sp>
      <p:cxnSp>
        <p:nvCxnSpPr>
          <p:cNvPr id="14" name="Straight Arrow Connector 13">
            <a:extLst>
              <a:ext uri="{FF2B5EF4-FFF2-40B4-BE49-F238E27FC236}">
                <a16:creationId xmlns:a16="http://schemas.microsoft.com/office/drawing/2014/main" id="{302A719C-E2B9-0EE8-F119-FF03D29FED60}"/>
              </a:ext>
            </a:extLst>
          </p:cNvPr>
          <p:cNvCxnSpPr>
            <a:stCxn id="7" idx="3"/>
            <a:endCxn id="9" idx="1"/>
          </p:cNvCxnSpPr>
          <p:nvPr/>
        </p:nvCxnSpPr>
        <p:spPr>
          <a:xfrm>
            <a:off x="2228850" y="3631957"/>
            <a:ext cx="29998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7213DCB-125F-D987-A18F-A619AD48A839}"/>
              </a:ext>
            </a:extLst>
          </p:cNvPr>
          <p:cNvCxnSpPr>
            <a:cxnSpLocks/>
            <a:stCxn id="9" idx="3"/>
            <a:endCxn id="12" idx="1"/>
          </p:cNvCxnSpPr>
          <p:nvPr/>
        </p:nvCxnSpPr>
        <p:spPr>
          <a:xfrm>
            <a:off x="6101014" y="3631957"/>
            <a:ext cx="29998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A26EDAC-38E0-97D1-493A-3038D13EB2A4}"/>
              </a:ext>
            </a:extLst>
          </p:cNvPr>
          <p:cNvSpPr txBox="1"/>
          <p:nvPr/>
        </p:nvSpPr>
        <p:spPr>
          <a:xfrm>
            <a:off x="1479126" y="3806133"/>
            <a:ext cx="627159" cy="292388"/>
          </a:xfrm>
          <a:prstGeom prst="rect">
            <a:avLst/>
          </a:prstGeom>
          <a:noFill/>
        </p:spPr>
        <p:txBody>
          <a:bodyPr wrap="none" rtlCol="0">
            <a:spAutoFit/>
          </a:bodyPr>
          <a:lstStyle/>
          <a:p>
            <a:r>
              <a:rPr lang="en-KR" sz="1300" dirty="0"/>
              <a:t>uatom</a:t>
            </a:r>
          </a:p>
        </p:txBody>
      </p:sp>
      <p:sp>
        <p:nvSpPr>
          <p:cNvPr id="20" name="TextBox 19">
            <a:extLst>
              <a:ext uri="{FF2B5EF4-FFF2-40B4-BE49-F238E27FC236}">
                <a16:creationId xmlns:a16="http://schemas.microsoft.com/office/drawing/2014/main" id="{A1E1995C-DBFC-46F5-355B-7B7BBE1B6B8D}"/>
              </a:ext>
            </a:extLst>
          </p:cNvPr>
          <p:cNvSpPr txBox="1"/>
          <p:nvPr/>
        </p:nvSpPr>
        <p:spPr>
          <a:xfrm>
            <a:off x="4439596" y="3806133"/>
            <a:ext cx="2928622" cy="292388"/>
          </a:xfrm>
          <a:prstGeom prst="rect">
            <a:avLst/>
          </a:prstGeom>
          <a:noFill/>
        </p:spPr>
        <p:txBody>
          <a:bodyPr wrap="none" rtlCol="0">
            <a:spAutoFit/>
          </a:bodyPr>
          <a:lstStyle/>
          <a:p>
            <a:r>
              <a:rPr lang="en-US" sz="1300" dirty="0"/>
              <a:t>I</a:t>
            </a:r>
            <a:r>
              <a:rPr lang="en-KR" sz="1300" dirty="0"/>
              <a:t>bc/&lt;hash of Port-A1/</a:t>
            </a:r>
            <a:r>
              <a:rPr lang="en-US" sz="1300" dirty="0"/>
              <a:t>Channel-1/</a:t>
            </a:r>
            <a:r>
              <a:rPr lang="en-US" sz="1300" dirty="0" err="1"/>
              <a:t>uatom</a:t>
            </a:r>
            <a:r>
              <a:rPr lang="en-US" sz="1300" dirty="0"/>
              <a:t>&gt;</a:t>
            </a:r>
            <a:endParaRPr lang="en-KR" sz="1300" dirty="0"/>
          </a:p>
        </p:txBody>
      </p:sp>
      <p:sp>
        <p:nvSpPr>
          <p:cNvPr id="21" name="TextBox 20">
            <a:extLst>
              <a:ext uri="{FF2B5EF4-FFF2-40B4-BE49-F238E27FC236}">
                <a16:creationId xmlns:a16="http://schemas.microsoft.com/office/drawing/2014/main" id="{16ADD78C-9AB9-01EB-FEF9-6DF8B4ECB7EB}"/>
              </a:ext>
            </a:extLst>
          </p:cNvPr>
          <p:cNvSpPr txBox="1"/>
          <p:nvPr/>
        </p:nvSpPr>
        <p:spPr>
          <a:xfrm>
            <a:off x="3291007" y="3339568"/>
            <a:ext cx="875561" cy="292388"/>
          </a:xfrm>
          <a:prstGeom prst="rect">
            <a:avLst/>
          </a:prstGeom>
          <a:noFill/>
        </p:spPr>
        <p:txBody>
          <a:bodyPr wrap="none" rtlCol="0">
            <a:spAutoFit/>
          </a:bodyPr>
          <a:lstStyle/>
          <a:p>
            <a:r>
              <a:rPr lang="en-US" sz="1300" dirty="0"/>
              <a:t>C</a:t>
            </a:r>
            <a:r>
              <a:rPr lang="en-KR" sz="1300" dirty="0"/>
              <a:t>hannel-1</a:t>
            </a:r>
          </a:p>
        </p:txBody>
      </p:sp>
      <p:sp>
        <p:nvSpPr>
          <p:cNvPr id="22" name="TextBox 21">
            <a:extLst>
              <a:ext uri="{FF2B5EF4-FFF2-40B4-BE49-F238E27FC236}">
                <a16:creationId xmlns:a16="http://schemas.microsoft.com/office/drawing/2014/main" id="{1A3FD2D5-F715-00BD-34CF-6C18EAA2853C}"/>
              </a:ext>
            </a:extLst>
          </p:cNvPr>
          <p:cNvSpPr txBox="1"/>
          <p:nvPr/>
        </p:nvSpPr>
        <p:spPr>
          <a:xfrm>
            <a:off x="7241747" y="3316509"/>
            <a:ext cx="875561" cy="292388"/>
          </a:xfrm>
          <a:prstGeom prst="rect">
            <a:avLst/>
          </a:prstGeom>
          <a:noFill/>
        </p:spPr>
        <p:txBody>
          <a:bodyPr wrap="none" rtlCol="0">
            <a:spAutoFit/>
          </a:bodyPr>
          <a:lstStyle/>
          <a:p>
            <a:r>
              <a:rPr lang="en-US" sz="1300" dirty="0"/>
              <a:t>C</a:t>
            </a:r>
            <a:r>
              <a:rPr lang="en-KR" sz="1300" dirty="0"/>
              <a:t>hannel-2</a:t>
            </a:r>
          </a:p>
        </p:txBody>
      </p:sp>
      <p:sp>
        <p:nvSpPr>
          <p:cNvPr id="23" name="TextBox 22">
            <a:extLst>
              <a:ext uri="{FF2B5EF4-FFF2-40B4-BE49-F238E27FC236}">
                <a16:creationId xmlns:a16="http://schemas.microsoft.com/office/drawing/2014/main" id="{34E1B180-E186-1F1C-64DE-1DA1FFB684FA}"/>
              </a:ext>
            </a:extLst>
          </p:cNvPr>
          <p:cNvSpPr txBox="1"/>
          <p:nvPr/>
        </p:nvSpPr>
        <p:spPr>
          <a:xfrm>
            <a:off x="8913625" y="3876566"/>
            <a:ext cx="2119106" cy="692497"/>
          </a:xfrm>
          <a:prstGeom prst="rect">
            <a:avLst/>
          </a:prstGeom>
          <a:noFill/>
        </p:spPr>
        <p:txBody>
          <a:bodyPr wrap="none" rtlCol="0">
            <a:spAutoFit/>
          </a:bodyPr>
          <a:lstStyle/>
          <a:p>
            <a:r>
              <a:rPr lang="en-US" sz="1300" dirty="0"/>
              <a:t>I</a:t>
            </a:r>
            <a:r>
              <a:rPr lang="en-KR" sz="1300" dirty="0"/>
              <a:t>bc/&lt;hash of </a:t>
            </a:r>
          </a:p>
          <a:p>
            <a:r>
              <a:rPr lang="en-KR" sz="1300" dirty="0"/>
              <a:t>  Port-B1/Channel-1/</a:t>
            </a:r>
          </a:p>
          <a:p>
            <a:r>
              <a:rPr lang="en-KR" sz="1300" dirty="0"/>
              <a:t>  Port-A1/</a:t>
            </a:r>
            <a:r>
              <a:rPr lang="en-US" sz="1300" dirty="0"/>
              <a:t>Channel-1/</a:t>
            </a:r>
            <a:r>
              <a:rPr lang="en-US" sz="1300" dirty="0" err="1"/>
              <a:t>uatom</a:t>
            </a:r>
            <a:r>
              <a:rPr lang="en-US" sz="1300" dirty="0"/>
              <a:t>&gt;</a:t>
            </a:r>
            <a:endParaRPr lang="en-KR" sz="1300" dirty="0"/>
          </a:p>
        </p:txBody>
      </p:sp>
    </p:spTree>
    <p:extLst>
      <p:ext uri="{BB962C8B-B14F-4D97-AF65-F5344CB8AC3E}">
        <p14:creationId xmlns:p14="http://schemas.microsoft.com/office/powerpoint/2010/main" val="478809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Token Transfer[</a:t>
            </a:r>
            <a:r>
              <a:rPr lang="en-US" altLang="ko-KR" sz="4000" dirty="0">
                <a:latin typeface="NanumGothic" panose="020D0604000000000000" pitchFamily="34" charset="-127"/>
                <a:ea typeface="NanumGothic" panose="020D0604000000000000" pitchFamily="34" charset="-127"/>
              </a:rPr>
              <a:t>3</a:t>
            </a:r>
            <a:r>
              <a:rPr lang="en-US" sz="4000" dirty="0">
                <a:latin typeface="NanumGothic" panose="020D0604000000000000" pitchFamily="34" charset="-127"/>
                <a:ea typeface="NanumGothic" panose="020D0604000000000000" pitchFamily="34" charset="-127"/>
              </a:rPr>
              <a:t>/</a:t>
            </a:r>
            <a:r>
              <a:rPr lang="en-US" altLang="ko-KR" sz="4000" dirty="0">
                <a:latin typeface="NanumGothic" panose="020D0604000000000000" pitchFamily="34" charset="-127"/>
                <a:ea typeface="NanumGothic" panose="020D0604000000000000" pitchFamily="34" charset="-127"/>
              </a:rPr>
              <a:t>5</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115D1554-54CD-8C03-AD6B-F9325C9B8F3D}"/>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토큰 전송 절차</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소스 체인에서 토큰 전송 트랜잭션 생성</a:t>
            </a:r>
          </a:p>
          <a:p>
            <a:pPr lvl="1"/>
            <a:r>
              <a:rPr lang="ko-KR" altLang="en-US" sz="1600" dirty="0">
                <a:latin typeface="NanumGothic" panose="020D0604000000000000" pitchFamily="34" charset="-127"/>
                <a:ea typeface="NanumGothic" panose="020D0604000000000000" pitchFamily="34" charset="-127"/>
              </a:rPr>
              <a:t>트랜잭션에 대한 패킷 생성</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싱크 체인에서 패킷 수신 및 검증</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트랜잭션 처리</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싱크 체인에서 소스 체인으로 </a:t>
            </a:r>
            <a:r>
              <a:rPr lang="en-US" altLang="ko-KR" sz="1600" dirty="0">
                <a:latin typeface="NanumGothic" panose="020D0604000000000000" pitchFamily="34" charset="-127"/>
                <a:ea typeface="NanumGothic" panose="020D0604000000000000" pitchFamily="34" charset="-127"/>
              </a:rPr>
              <a:t>Acknowledgement </a:t>
            </a:r>
            <a:r>
              <a:rPr lang="ko-KR" altLang="en-US" sz="1600" dirty="0">
                <a:latin typeface="NanumGothic" panose="020D0604000000000000" pitchFamily="34" charset="-127"/>
                <a:ea typeface="NanumGothic" panose="020D0604000000000000" pitchFamily="34" charset="-127"/>
              </a:rPr>
              <a:t>전달</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소스 체인에서 트랜잭션 완료 처리</a:t>
            </a:r>
            <a:endParaRPr lang="en-US" altLang="ko-KR" sz="1600" dirty="0">
              <a:latin typeface="NanumGothic" panose="020D0604000000000000" pitchFamily="34" charset="-127"/>
              <a:ea typeface="NanumGothic" panose="020D0604000000000000" pitchFamily="34" charset="-127"/>
            </a:endParaRPr>
          </a:p>
          <a:p>
            <a:pPr marL="457200" lvl="1" indent="0">
              <a:buNone/>
            </a:pPr>
            <a:endParaRPr lang="en-US" altLang="ko-KR" sz="16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전제상황</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어플리케이션은 </a:t>
            </a:r>
            <a:r>
              <a:rPr lang="en-US" altLang="ko-KR" sz="1600" dirty="0" err="1">
                <a:latin typeface="NanumGothic" panose="020D0604000000000000" pitchFamily="34" charset="-127"/>
                <a:ea typeface="NanumGothic" panose="020D0604000000000000" pitchFamily="34" charset="-127"/>
              </a:rPr>
              <a:t>cometBFT</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합의 알고리즘을 사용</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올바른 검증자로부터 </a:t>
            </a:r>
            <a:r>
              <a:rPr lang="en-US" altLang="ko-KR" sz="1600" dirty="0">
                <a:latin typeface="NanumGothic" panose="020D0604000000000000" pitchFamily="34" charset="-127"/>
                <a:ea typeface="NanumGothic" panose="020D0604000000000000" pitchFamily="34" charset="-127"/>
              </a:rPr>
              <a:t>2/3</a:t>
            </a:r>
            <a:r>
              <a:rPr lang="ko-KR" altLang="en-US" sz="1600" dirty="0">
                <a:latin typeface="NanumGothic" panose="020D0604000000000000" pitchFamily="34" charset="-127"/>
                <a:ea typeface="NanumGothic" panose="020D0604000000000000" pitchFamily="34" charset="-127"/>
              </a:rPr>
              <a:t> 이상의 </a:t>
            </a:r>
            <a:r>
              <a:rPr lang="en-US" altLang="ko-KR" sz="1600" dirty="0">
                <a:latin typeface="NanumGothic" panose="020D0604000000000000" pitchFamily="34" charset="-127"/>
                <a:ea typeface="NanumGothic" panose="020D0604000000000000" pitchFamily="34" charset="-127"/>
              </a:rPr>
              <a:t>voting power</a:t>
            </a:r>
            <a:r>
              <a:rPr lang="ko-KR" altLang="en-US" sz="1600" dirty="0">
                <a:latin typeface="NanumGothic" panose="020D0604000000000000" pitchFamily="34" charset="-127"/>
                <a:ea typeface="NanumGothic" panose="020D0604000000000000" pitchFamily="34" charset="-127"/>
              </a:rPr>
              <a:t>가 제공되어야 함</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어플리케이션은 </a:t>
            </a:r>
            <a:r>
              <a:rPr lang="en-US" altLang="ko-KR" sz="1600" dirty="0">
                <a:latin typeface="NanumGothic" panose="020D0604000000000000" pitchFamily="34" charset="-127"/>
                <a:ea typeface="NanumGothic" panose="020D0604000000000000" pitchFamily="34" charset="-127"/>
              </a:rPr>
              <a:t>ICS-20</a:t>
            </a:r>
            <a:r>
              <a:rPr lang="ko-KR" altLang="en-US" sz="1600" dirty="0">
                <a:latin typeface="NanumGothic" panose="020D0604000000000000" pitchFamily="34" charset="-127"/>
                <a:ea typeface="NanumGothic" panose="020D0604000000000000" pitchFamily="34" charset="-127"/>
              </a:rPr>
              <a:t> 프로토콜을 기반으로 체인 간 토큰 전송</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각 체인은 올바른 클라이언트로부터 지속적인 체인 간 검증이 진행되어야 함</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커넥션</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채널 및 포트가 정상적으로 구동되어야 함</a:t>
            </a:r>
            <a:endParaRPr lang="en-US" altLang="ko-KR" sz="16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3503003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Token Transfer[</a:t>
            </a:r>
            <a:r>
              <a:rPr lang="en-US" altLang="ko-KR" sz="4000" dirty="0">
                <a:latin typeface="NanumGothic" panose="020D0604000000000000" pitchFamily="34" charset="-127"/>
                <a:ea typeface="NanumGothic" panose="020D0604000000000000" pitchFamily="34" charset="-127"/>
              </a:rPr>
              <a:t>4</a:t>
            </a:r>
            <a:r>
              <a:rPr lang="en-US" sz="4000" dirty="0">
                <a:latin typeface="NanumGothic" panose="020D0604000000000000" pitchFamily="34" charset="-127"/>
                <a:ea typeface="NanumGothic" panose="020D0604000000000000" pitchFamily="34" charset="-127"/>
              </a:rPr>
              <a:t>/</a:t>
            </a:r>
            <a:r>
              <a:rPr lang="en-US" altLang="ko-KR" sz="4000" dirty="0">
                <a:latin typeface="NanumGothic" panose="020D0604000000000000" pitchFamily="34" charset="-127"/>
                <a:ea typeface="NanumGothic" panose="020D0604000000000000" pitchFamily="34" charset="-127"/>
              </a:rPr>
              <a:t>5</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1E384A-9D78-548F-0CB7-13257BD6D2E1}"/>
              </a:ext>
            </a:extLst>
          </p:cNvPr>
          <p:cNvPicPr>
            <a:picLocks noChangeAspect="1"/>
          </p:cNvPicPr>
          <p:nvPr/>
        </p:nvPicPr>
        <p:blipFill>
          <a:blip r:embed="rId3"/>
          <a:stretch>
            <a:fillRect/>
          </a:stretch>
        </p:blipFill>
        <p:spPr>
          <a:xfrm>
            <a:off x="838200" y="1766003"/>
            <a:ext cx="4022558" cy="4683647"/>
          </a:xfrm>
          <a:prstGeom prst="rect">
            <a:avLst/>
          </a:prstGeom>
        </p:spPr>
      </p:pic>
      <p:sp>
        <p:nvSpPr>
          <p:cNvPr id="7" name="Content Placeholder 2">
            <a:extLst>
              <a:ext uri="{FF2B5EF4-FFF2-40B4-BE49-F238E27FC236}">
                <a16:creationId xmlns:a16="http://schemas.microsoft.com/office/drawing/2014/main" id="{8E2ED48B-3E4D-3A0E-4A7D-BD7D8DCE6323}"/>
              </a:ext>
            </a:extLst>
          </p:cNvPr>
          <p:cNvSpPr txBox="1">
            <a:spLocks/>
          </p:cNvSpPr>
          <p:nvPr/>
        </p:nvSpPr>
        <p:spPr>
          <a:xfrm>
            <a:off x="5165558" y="1766003"/>
            <a:ext cx="6188241" cy="49496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ko-KR" altLang="en-US" sz="2000" dirty="0">
                <a:latin typeface="NanumGothic" panose="020D0604000000000000" pitchFamily="34" charset="-127"/>
                <a:ea typeface="NanumGothic" panose="020D0604000000000000" pitchFamily="34" charset="-127"/>
              </a:rPr>
              <a:t>트랜잭션에 대한 패킷 정보</a:t>
            </a:r>
            <a:endParaRPr lang="en-US" sz="2000" dirty="0">
              <a:latin typeface="NanumGothic" panose="020D0604000000000000" pitchFamily="34" charset="-127"/>
              <a:ea typeface="NanumGothic" panose="020D0604000000000000" pitchFamily="34" charset="-127"/>
            </a:endParaRPr>
          </a:p>
          <a:p>
            <a:r>
              <a:rPr lang="en-US" sz="2000" dirty="0" err="1">
                <a:latin typeface="NanumGothic" panose="020D0604000000000000" pitchFamily="34" charset="-127"/>
                <a:ea typeface="NanumGothic" panose="020D0604000000000000" pitchFamily="34" charset="-127"/>
              </a:rPr>
              <a:t>SourcePort</a:t>
            </a:r>
            <a:endParaRPr lang="en-US"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소스 체인에서 토큰을 전송하는 어플리케이션 포트</a:t>
            </a:r>
            <a:endParaRPr lang="en-US" sz="1600" dirty="0">
              <a:latin typeface="NanumGothic" panose="020D0604000000000000" pitchFamily="34" charset="-127"/>
              <a:ea typeface="NanumGothic" panose="020D0604000000000000" pitchFamily="34" charset="-127"/>
            </a:endParaRPr>
          </a:p>
          <a:p>
            <a:r>
              <a:rPr lang="en-US" sz="2000" dirty="0" err="1">
                <a:latin typeface="NanumGothic" panose="020D0604000000000000" pitchFamily="34" charset="-127"/>
                <a:ea typeface="NanumGothic" panose="020D0604000000000000" pitchFamily="34" charset="-127"/>
              </a:rPr>
              <a:t>SourceChannel</a:t>
            </a:r>
            <a:endParaRPr lang="en-US"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소스 체인에서 패킷 전송에 사용하는 채널</a:t>
            </a:r>
            <a:endParaRPr lang="en-US" sz="1600" dirty="0">
              <a:latin typeface="NanumGothic" panose="020D0604000000000000" pitchFamily="34" charset="-127"/>
              <a:ea typeface="NanumGothic" panose="020D0604000000000000" pitchFamily="34" charset="-127"/>
            </a:endParaRPr>
          </a:p>
          <a:p>
            <a:r>
              <a:rPr lang="en-US" sz="2000" dirty="0" err="1">
                <a:latin typeface="NanumGothic" panose="020D0604000000000000" pitchFamily="34" charset="-127"/>
                <a:ea typeface="NanumGothic" panose="020D0604000000000000" pitchFamily="34" charset="-127"/>
              </a:rPr>
              <a:t>DestinationPort</a:t>
            </a:r>
            <a:endParaRPr lang="en-US"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싱크 체인에서 패킷을 수신할 어플리케이션 포트</a:t>
            </a:r>
            <a:endParaRPr lang="en-US" sz="1600" dirty="0">
              <a:latin typeface="NanumGothic" panose="020D0604000000000000" pitchFamily="34" charset="-127"/>
              <a:ea typeface="NanumGothic" panose="020D0604000000000000" pitchFamily="34" charset="-127"/>
            </a:endParaRPr>
          </a:p>
          <a:p>
            <a:r>
              <a:rPr lang="en-US" sz="2000" dirty="0" err="1">
                <a:latin typeface="NanumGothic" panose="020D0604000000000000" pitchFamily="34" charset="-127"/>
                <a:ea typeface="NanumGothic" panose="020D0604000000000000" pitchFamily="34" charset="-127"/>
              </a:rPr>
              <a:t>DestinationChannel</a:t>
            </a:r>
            <a:endParaRPr lang="en-US"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싱크 체인에서 패킷 수신에 사용하는 채널</a:t>
            </a:r>
            <a:endParaRPr lang="en-US" sz="1600" dirty="0">
              <a:latin typeface="NanumGothic" panose="020D0604000000000000" pitchFamily="34" charset="-127"/>
              <a:ea typeface="NanumGothic" panose="020D0604000000000000" pitchFamily="34" charset="-127"/>
            </a:endParaRPr>
          </a:p>
          <a:p>
            <a:r>
              <a:rPr lang="en-US" sz="2000" dirty="0">
                <a:latin typeface="NanumGothic" panose="020D0604000000000000" pitchFamily="34" charset="-127"/>
                <a:ea typeface="NanumGothic" panose="020D0604000000000000" pitchFamily="34" charset="-127"/>
              </a:rPr>
              <a:t>Data</a:t>
            </a:r>
          </a:p>
          <a:p>
            <a:pPr lvl="1"/>
            <a:r>
              <a:rPr lang="ko-KR" altLang="en-US" sz="1600" dirty="0">
                <a:latin typeface="NanumGothic" panose="020D0604000000000000" pitchFamily="34" charset="-127"/>
                <a:ea typeface="NanumGothic" panose="020D0604000000000000" pitchFamily="34" charset="-127"/>
              </a:rPr>
              <a:t>전송되는 토큰과 관련된 정보</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수량</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수신자 주소 등</a:t>
            </a:r>
            <a:r>
              <a:rPr lang="en-US" altLang="ko-KR" sz="1600" dirty="0">
                <a:latin typeface="NanumGothic" panose="020D0604000000000000" pitchFamily="34" charset="-127"/>
                <a:ea typeface="NanumGothic" panose="020D0604000000000000" pitchFamily="34" charset="-127"/>
              </a:rPr>
              <a:t>)</a:t>
            </a:r>
            <a:endParaRPr lang="en-US" sz="16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3198071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en-US" sz="4000" dirty="0">
                <a:latin typeface="NanumGothic" panose="020D0604000000000000" pitchFamily="34" charset="-127"/>
                <a:ea typeface="NanumGothic" panose="020D0604000000000000" pitchFamily="34" charset="-127"/>
              </a:rPr>
              <a:t>Token Transfer[</a:t>
            </a:r>
            <a:r>
              <a:rPr lang="en-US" altLang="ko-KR" sz="4000" dirty="0">
                <a:latin typeface="NanumGothic" panose="020D0604000000000000" pitchFamily="34" charset="-127"/>
                <a:ea typeface="NanumGothic" panose="020D0604000000000000" pitchFamily="34" charset="-127"/>
              </a:rPr>
              <a:t>5</a:t>
            </a:r>
            <a:r>
              <a:rPr lang="en-US" sz="4000" dirty="0">
                <a:latin typeface="NanumGothic" panose="020D0604000000000000" pitchFamily="34" charset="-127"/>
                <a:ea typeface="NanumGothic" panose="020D0604000000000000" pitchFamily="34" charset="-127"/>
              </a:rPr>
              <a:t>/</a:t>
            </a:r>
            <a:r>
              <a:rPr lang="en-US" altLang="ko-KR" sz="4000" dirty="0">
                <a:latin typeface="NanumGothic" panose="020D0604000000000000" pitchFamily="34" charset="-127"/>
                <a:ea typeface="NanumGothic" panose="020D0604000000000000" pitchFamily="34" charset="-127"/>
              </a:rPr>
              <a:t>5</a:t>
            </a:r>
            <a:r>
              <a:rPr lang="en-US" sz="4000" dirty="0">
                <a:latin typeface="NanumGothic" panose="020D0604000000000000" pitchFamily="34" charset="-127"/>
                <a:ea typeface="NanumGothic" panose="020D0604000000000000" pitchFamily="34" charset="-127"/>
              </a:rPr>
              <a:t>]</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싱크 체인에서의 패킷 수신 및 검증</a:t>
            </a:r>
            <a:endParaRPr lang="en-US" altLang="ko-KR" sz="2000" dirty="0">
              <a:latin typeface="NanumGothic" panose="020D0604000000000000" pitchFamily="34" charset="-127"/>
              <a:ea typeface="NanumGothic" panose="020D0604000000000000" pitchFamily="34" charset="-127"/>
            </a:endParaRPr>
          </a:p>
          <a:p>
            <a:pPr lvl="1"/>
            <a:r>
              <a:rPr lang="ko-KR" altLang="en-US" sz="1600" dirty="0" err="1">
                <a:latin typeface="NanumGothic" panose="020D0604000000000000" pitchFamily="34" charset="-127"/>
                <a:ea typeface="NanumGothic" panose="020D0604000000000000" pitchFamily="34" charset="-127"/>
              </a:rPr>
              <a:t>릴레이어는</a:t>
            </a:r>
            <a:r>
              <a:rPr lang="ko-KR" altLang="en-US" sz="1600" dirty="0">
                <a:latin typeface="NanumGothic" panose="020D0604000000000000" pitchFamily="34" charset="-127"/>
                <a:ea typeface="NanumGothic" panose="020D0604000000000000" pitchFamily="34" charset="-127"/>
              </a:rPr>
              <a:t> 소스 체인에서 생성된 패킷과 해당 트랜잭션에 대한 </a:t>
            </a:r>
            <a:r>
              <a:rPr lang="en-US" altLang="ko-KR" sz="1600" dirty="0">
                <a:latin typeface="NanumGothic" panose="020D0604000000000000" pitchFamily="34" charset="-127"/>
                <a:ea typeface="NanumGothic" panose="020D0604000000000000" pitchFamily="34" charset="-127"/>
              </a:rPr>
              <a:t>Merkle Proof</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싱크 체인으로 전달</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소스 체인의 클라이언트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싱크 체인에 생성된</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는 </a:t>
            </a:r>
            <a:r>
              <a:rPr lang="en-US" altLang="ko-KR" sz="1600" dirty="0">
                <a:latin typeface="NanumGothic" panose="020D0604000000000000" pitchFamily="34" charset="-127"/>
                <a:ea typeface="NanumGothic" panose="020D0604000000000000" pitchFamily="34" charset="-127"/>
              </a:rPr>
              <a:t>Merkle Proof</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통해 해당 패킷의 유효성 검증</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유효성 검증이 완료되면 채널을 통해 패킷 수신</a:t>
            </a:r>
            <a:endParaRPr lang="en-US" altLang="ko-KR" sz="16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트랜잭션 처리</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패킷에 포함된 정보를 프로토콜에 맞게 분석하여 실제 트랜잭션 처리</a:t>
            </a:r>
            <a:endParaRPr lang="en-US" altLang="ko-KR" sz="16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응답 패킷</a:t>
            </a:r>
            <a:r>
              <a:rPr lang="en-US" altLang="ko-KR" sz="2000" dirty="0">
                <a:latin typeface="NanumGothic" panose="020D0604000000000000" pitchFamily="34" charset="-127"/>
                <a:ea typeface="NanumGothic" panose="020D0604000000000000" pitchFamily="34" charset="-127"/>
              </a:rPr>
              <a:t>(Acknowledgement)</a:t>
            </a:r>
            <a:r>
              <a:rPr lang="ko-KR" altLang="en-US" sz="2000" dirty="0">
                <a:latin typeface="NanumGothic" panose="020D0604000000000000" pitchFamily="34" charset="-127"/>
                <a:ea typeface="NanumGothic" panose="020D0604000000000000" pitchFamily="34" charset="-127"/>
              </a:rPr>
              <a:t> 전달 및 트랜잭션 완료</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싱크 체인은 트랜잭션의 정상 완료 내역에 해당하는 </a:t>
            </a:r>
            <a:r>
              <a:rPr lang="en-US" altLang="ko-KR" sz="1600" dirty="0" err="1">
                <a:latin typeface="NanumGothic" panose="020D0604000000000000" pitchFamily="34" charset="-127"/>
                <a:ea typeface="NanumGothic" panose="020D0604000000000000" pitchFamily="34" charset="-127"/>
              </a:rPr>
              <a:t>commitmentRoot</a:t>
            </a:r>
            <a:r>
              <a:rPr lang="ko-KR" altLang="en-US" sz="1600" dirty="0">
                <a:latin typeface="NanumGothic" panose="020D0604000000000000" pitchFamily="34" charset="-127"/>
                <a:ea typeface="NanumGothic" panose="020D0604000000000000" pitchFamily="34" charset="-127"/>
              </a:rPr>
              <a:t> 생성</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업데이트</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및 해당 내용을 알리기 위한 응답 패킷</a:t>
            </a:r>
            <a:r>
              <a:rPr lang="en-US" altLang="ko-KR" sz="1600" dirty="0">
                <a:latin typeface="NanumGothic" panose="020D0604000000000000" pitchFamily="34" charset="-127"/>
                <a:ea typeface="NanumGothic" panose="020D0604000000000000" pitchFamily="34" charset="-127"/>
              </a:rPr>
              <a:t>(Acknowledgement)</a:t>
            </a:r>
            <a:r>
              <a:rPr lang="ko-KR" altLang="en-US" sz="1600" dirty="0">
                <a:latin typeface="NanumGothic" panose="020D0604000000000000" pitchFamily="34" charset="-127"/>
                <a:ea typeface="NanumGothic" panose="020D0604000000000000" pitchFamily="34" charset="-127"/>
              </a:rPr>
              <a:t> 생성</a:t>
            </a:r>
            <a:endParaRPr lang="en-US" altLang="ko-KR" sz="1600" dirty="0">
              <a:latin typeface="NanumGothic" panose="020D0604000000000000" pitchFamily="34" charset="-127"/>
              <a:ea typeface="NanumGothic" panose="020D0604000000000000" pitchFamily="34" charset="-127"/>
            </a:endParaRPr>
          </a:p>
          <a:p>
            <a:pPr lvl="1"/>
            <a:r>
              <a:rPr lang="ko-KR" altLang="en-US" sz="1600" dirty="0" err="1">
                <a:latin typeface="NanumGothic" panose="020D0604000000000000" pitchFamily="34" charset="-127"/>
                <a:ea typeface="NanumGothic" panose="020D0604000000000000" pitchFamily="34" charset="-127"/>
              </a:rPr>
              <a:t>릴레이어는</a:t>
            </a:r>
            <a:r>
              <a:rPr lang="ko-KR" altLang="en-US" sz="1600" dirty="0">
                <a:latin typeface="NanumGothic" panose="020D0604000000000000" pitchFamily="34" charset="-127"/>
                <a:ea typeface="NanumGothic" panose="020D0604000000000000" pitchFamily="34" charset="-127"/>
              </a:rPr>
              <a:t> 응답 패킷을 소스 체인으로 전달</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소스 체인은</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응답 패킷과 함께 전송된 </a:t>
            </a:r>
            <a:r>
              <a:rPr lang="en-US" altLang="ko-KR" sz="1600" dirty="0">
                <a:latin typeface="NanumGothic" panose="020D0604000000000000" pitchFamily="34" charset="-127"/>
                <a:ea typeface="NanumGothic" panose="020D0604000000000000" pitchFamily="34" charset="-127"/>
              </a:rPr>
              <a:t>Merkle Proof</a:t>
            </a:r>
            <a:r>
              <a:rPr lang="ko-KR" altLang="en-US" sz="1600" dirty="0">
                <a:latin typeface="NanumGothic" panose="020D0604000000000000" pitchFamily="34" charset="-127"/>
                <a:ea typeface="NanumGothic" panose="020D0604000000000000" pitchFamily="34" charset="-127"/>
              </a:rPr>
              <a:t>을 통해 싱크 체인에서 전달된 내용의 정상 여부 확인</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정상인 경우 트랜잭션 최종 완료 상태로 처리</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sz="1600" b="0" dirty="0">
              <a:effectLst/>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a:p>
            <a:endParaRPr lang="en-US" sz="2000" b="0" dirty="0">
              <a:effectLst/>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421929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ko-KR" altLang="en-US" sz="4000" dirty="0">
                <a:latin typeface="NanumGothic" panose="020D0604000000000000" pitchFamily="34" charset="-127"/>
                <a:ea typeface="NanumGothic" panose="020D0604000000000000" pitchFamily="34" charset="-127"/>
              </a:rPr>
              <a:t>트랜잭션 라이프사이클</a:t>
            </a:r>
            <a:r>
              <a:rPr lang="en-US" altLang="ko-KR" sz="4000">
                <a:latin typeface="NanumGothic" panose="020D0604000000000000" pitchFamily="34" charset="-127"/>
                <a:ea typeface="NanumGothic" panose="020D0604000000000000" pitchFamily="34" charset="-127"/>
              </a:rPr>
              <a:t>[1/7]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en-US" altLang="ko-KR" sz="2000" dirty="0">
                <a:latin typeface="NanumGothic" panose="020D0604000000000000" pitchFamily="34" charset="-127"/>
                <a:ea typeface="NanumGothic" panose="020D0604000000000000" pitchFamily="34" charset="-127"/>
              </a:rPr>
              <a:t>Cosmos-SDK</a:t>
            </a:r>
            <a:r>
              <a:rPr lang="ko-KR" altLang="en-US" sz="2000" dirty="0">
                <a:latin typeface="NanumGothic" panose="020D0604000000000000" pitchFamily="34" charset="-127"/>
                <a:ea typeface="NanumGothic" panose="020D0604000000000000" pitchFamily="34" charset="-127"/>
              </a:rPr>
              <a:t> </a:t>
            </a:r>
            <a:r>
              <a:rPr lang="en-US" altLang="ko-KR" sz="2000" dirty="0">
                <a:latin typeface="NanumGothic" panose="020D0604000000000000" pitchFamily="34" charset="-127"/>
                <a:ea typeface="NanumGothic" panose="020D0604000000000000" pitchFamily="34" charset="-127"/>
              </a:rPr>
              <a:t>v0.5.0 </a:t>
            </a:r>
            <a:r>
              <a:rPr lang="ko-KR" altLang="en-US" sz="2000" dirty="0">
                <a:latin typeface="NanumGothic" panose="020D0604000000000000" pitchFamily="34" charset="-127"/>
                <a:ea typeface="NanumGothic" panose="020D0604000000000000" pitchFamily="34" charset="-127"/>
              </a:rPr>
              <a:t>기준 분석</a:t>
            </a:r>
            <a:endParaRPr lang="en-US" altLang="ko-KR" sz="2000" dirty="0">
              <a:latin typeface="NanumGothic" panose="020D0604000000000000" pitchFamily="34" charset="-127"/>
              <a:ea typeface="NanumGothic" panose="020D0604000000000000" pitchFamily="34" charset="-127"/>
            </a:endParaRPr>
          </a:p>
          <a:p>
            <a:pPr marL="457200" indent="-457200">
              <a:buAutoNum type="arabicPeriod"/>
            </a:pPr>
            <a:r>
              <a:rPr lang="ko-KR" altLang="en-US" sz="2000" dirty="0">
                <a:latin typeface="NanumGothic" panose="020D0604000000000000" pitchFamily="34" charset="-127"/>
                <a:ea typeface="NanumGothic" panose="020D0604000000000000" pitchFamily="34" charset="-127"/>
              </a:rPr>
              <a:t>트랜잭션 생성</a:t>
            </a:r>
            <a:endParaRPr lang="en-US" altLang="ko-KR" sz="2000" dirty="0">
              <a:latin typeface="NanumGothic" panose="020D0604000000000000" pitchFamily="34" charset="-127"/>
              <a:ea typeface="NanumGothic" panose="020D0604000000000000" pitchFamily="34" charset="-127"/>
            </a:endParaRPr>
          </a:p>
          <a:p>
            <a:pPr marL="457200" indent="-457200">
              <a:buAutoNum type="arabicPeriod"/>
            </a:pPr>
            <a:r>
              <a:rPr lang="en-US" altLang="ko-KR" sz="2000" dirty="0" err="1">
                <a:latin typeface="NanumGothic" panose="020D0604000000000000" pitchFamily="34" charset="-127"/>
                <a:ea typeface="NanumGothic" panose="020D0604000000000000" pitchFamily="34" charset="-127"/>
              </a:rPr>
              <a:t>Mempool</a:t>
            </a:r>
            <a:r>
              <a:rPr lang="en-US" altLang="ko-KR" sz="2000" dirty="0">
                <a:latin typeface="NanumGothic" panose="020D0604000000000000" pitchFamily="34" charset="-127"/>
                <a:ea typeface="NanumGothic" panose="020D0604000000000000" pitchFamily="34" charset="-127"/>
              </a:rPr>
              <a:t> </a:t>
            </a:r>
            <a:r>
              <a:rPr lang="ko-KR" altLang="en-US" sz="2000" dirty="0">
                <a:latin typeface="NanumGothic" panose="020D0604000000000000" pitchFamily="34" charset="-127"/>
                <a:ea typeface="NanumGothic" panose="020D0604000000000000" pitchFamily="34" charset="-127"/>
              </a:rPr>
              <a:t>추가</a:t>
            </a:r>
            <a:endParaRPr lang="en-US" altLang="ko-KR" sz="2000" dirty="0">
              <a:latin typeface="NanumGothic" panose="020D0604000000000000" pitchFamily="34" charset="-127"/>
              <a:ea typeface="NanumGothic" panose="020D0604000000000000" pitchFamily="34" charset="-127"/>
            </a:endParaRPr>
          </a:p>
          <a:p>
            <a:pPr marL="457200" indent="-457200">
              <a:buAutoNum type="arabicPeriod"/>
            </a:pPr>
            <a:r>
              <a:rPr lang="ko-KR" altLang="en-US" sz="2000" dirty="0">
                <a:latin typeface="NanumGothic" panose="020D0604000000000000" pitchFamily="34" charset="-127"/>
                <a:ea typeface="NanumGothic" panose="020D0604000000000000" pitchFamily="34" charset="-127"/>
              </a:rPr>
              <a:t>블록 포함</a:t>
            </a:r>
            <a:endParaRPr lang="en-US" altLang="ko-KR" sz="2000" dirty="0">
              <a:latin typeface="NanumGothic" panose="020D0604000000000000" pitchFamily="34" charset="-127"/>
              <a:ea typeface="NanumGothic" panose="020D0604000000000000" pitchFamily="34" charset="-127"/>
            </a:endParaRPr>
          </a:p>
          <a:p>
            <a:pPr marL="457200" indent="-457200">
              <a:buAutoNum type="arabicPeriod"/>
            </a:pPr>
            <a:r>
              <a:rPr lang="ko-KR" altLang="en-US" sz="2000" dirty="0">
                <a:latin typeface="NanumGothic" panose="020D0604000000000000" pitchFamily="34" charset="-127"/>
                <a:ea typeface="NanumGothic" panose="020D0604000000000000" pitchFamily="34" charset="-127"/>
              </a:rPr>
              <a:t>트랜잭션 실행</a:t>
            </a:r>
            <a:endParaRPr lang="en-US" altLang="ko-KR" sz="2000" dirty="0">
              <a:latin typeface="NanumGothic" panose="020D0604000000000000" pitchFamily="34" charset="-127"/>
              <a:ea typeface="NanumGothic" panose="020D0604000000000000" pitchFamily="34" charset="-127"/>
            </a:endParaRPr>
          </a:p>
          <a:p>
            <a:pPr marL="457200" indent="-457200">
              <a:buAutoNum type="arabicPeriod"/>
            </a:pPr>
            <a:r>
              <a:rPr lang="ko-KR" altLang="en-US" sz="2000" dirty="0">
                <a:latin typeface="NanumGothic" panose="020D0604000000000000" pitchFamily="34" charset="-127"/>
                <a:ea typeface="NanumGothic" panose="020D0604000000000000" pitchFamily="34" charset="-127"/>
              </a:rPr>
              <a:t>블록 </a:t>
            </a:r>
            <a:r>
              <a:rPr lang="ko-KR" altLang="en-US" sz="2000" dirty="0" err="1">
                <a:latin typeface="NanumGothic" panose="020D0604000000000000" pitchFamily="34" charset="-127"/>
                <a:ea typeface="NanumGothic" panose="020D0604000000000000" pitchFamily="34" charset="-127"/>
              </a:rPr>
              <a:t>커밋</a:t>
            </a:r>
            <a:endParaRPr lang="en-US" altLang="ko-KR" sz="2000" dirty="0">
              <a:latin typeface="NanumGothic" panose="020D0604000000000000" pitchFamily="34" charset="-127"/>
              <a:ea typeface="NanumGothic" panose="020D0604000000000000" pitchFamily="34" charset="-127"/>
            </a:endParaRPr>
          </a:p>
          <a:p>
            <a:pPr marL="457200" indent="-457200">
              <a:buAutoNum type="arabicPeriod"/>
            </a:pPr>
            <a:endParaRPr lang="en-US" altLang="ko-KR" sz="20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27296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ko-KR" altLang="en-US" sz="4000" dirty="0">
                <a:latin typeface="NanumGothic" panose="020D0604000000000000" pitchFamily="34" charset="-127"/>
                <a:ea typeface="NanumGothic" panose="020D0604000000000000" pitchFamily="34" charset="-127"/>
              </a:rPr>
              <a:t>트랜잭션 라이프사이클</a:t>
            </a:r>
            <a:r>
              <a:rPr lang="en-US" altLang="ko-KR" sz="4000" dirty="0">
                <a:latin typeface="NanumGothic" panose="020D0604000000000000" pitchFamily="34" charset="-127"/>
                <a:ea typeface="NanumGothic" panose="020D0604000000000000" pitchFamily="34" charset="-127"/>
              </a:rPr>
              <a:t>[2/7]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트랜잭션 생성 및 서명</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CLI, Rest/</a:t>
            </a:r>
            <a:r>
              <a:rPr lang="en-US" altLang="ko-KR" sz="1600" dirty="0" err="1">
                <a:latin typeface="NanumGothic" panose="020D0604000000000000" pitchFamily="34" charset="-127"/>
                <a:ea typeface="NanumGothic" panose="020D0604000000000000" pitchFamily="34" charset="-127"/>
              </a:rPr>
              <a:t>gRPC</a:t>
            </a:r>
            <a:r>
              <a:rPr lang="ko-KR" altLang="en-US" sz="1600" dirty="0">
                <a:latin typeface="NanumGothic" panose="020D0604000000000000" pitchFamily="34" charset="-127"/>
                <a:ea typeface="NanumGothic" panose="020D0604000000000000" pitchFamily="34" charset="-127"/>
              </a:rPr>
              <a:t> 인터페이스를 통한 트랜잭션 생성</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서명된 트랜잭션은 네트워크로 </a:t>
            </a:r>
            <a:r>
              <a:rPr lang="en-US" altLang="ko-KR" sz="1600" dirty="0">
                <a:latin typeface="NanumGothic" panose="020D0604000000000000" pitchFamily="34" charset="-127"/>
                <a:ea typeface="NanumGothic" panose="020D0604000000000000" pitchFamily="34" charset="-127"/>
              </a:rPr>
              <a:t>broadcast</a:t>
            </a:r>
          </a:p>
          <a:p>
            <a:r>
              <a:rPr lang="en-US" altLang="ko-KR" sz="2000" dirty="0" err="1">
                <a:latin typeface="NanumGothic" panose="020D0604000000000000" pitchFamily="34" charset="-127"/>
                <a:ea typeface="NanumGothic" panose="020D0604000000000000" pitchFamily="34" charset="-127"/>
              </a:rPr>
              <a:t>Mempool</a:t>
            </a:r>
            <a:r>
              <a:rPr lang="en-US" altLang="ko-KR" sz="2000" dirty="0">
                <a:latin typeface="NanumGothic" panose="020D0604000000000000" pitchFamily="34" charset="-127"/>
                <a:ea typeface="NanumGothic" panose="020D0604000000000000" pitchFamily="34" charset="-127"/>
              </a:rPr>
              <a:t> </a:t>
            </a:r>
            <a:r>
              <a:rPr lang="ko-KR" altLang="en-US" sz="2000" dirty="0">
                <a:latin typeface="NanumGothic" panose="020D0604000000000000" pitchFamily="34" charset="-127"/>
                <a:ea typeface="NanumGothic" panose="020D0604000000000000" pitchFamily="34" charset="-127"/>
              </a:rPr>
              <a:t>추가</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각 노드는 </a:t>
            </a:r>
            <a:r>
              <a:rPr lang="en-US" altLang="ko-KR" sz="1600" dirty="0" err="1">
                <a:latin typeface="NanumGothic" panose="020D0604000000000000" pitchFamily="34" charset="-127"/>
                <a:ea typeface="NanumGothic" panose="020D0604000000000000" pitchFamily="34" charset="-127"/>
              </a:rPr>
              <a:t>CheckTx</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메시지를 통해 트랜잭션의 유효성 검증</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검증에 통과하면 </a:t>
            </a:r>
            <a:r>
              <a:rPr lang="en-US" altLang="ko-KR" sz="1600" dirty="0" err="1">
                <a:latin typeface="NanumGothic" panose="020D0604000000000000" pitchFamily="34" charset="-127"/>
                <a:ea typeface="NanumGothic" panose="020D0604000000000000" pitchFamily="34" charset="-127"/>
              </a:rPr>
              <a:t>Mempool</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검증되지 않은 트랜잭션을 임시로 저장하는 장소</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에 트랜잭션 저장</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검증 과정은 크게 </a:t>
            </a:r>
            <a:r>
              <a:rPr lang="en-US" altLang="ko-KR" sz="1600" dirty="0">
                <a:latin typeface="NanumGothic" panose="020D0604000000000000" pitchFamily="34" charset="-127"/>
                <a:ea typeface="NanumGothic" panose="020D0604000000000000" pitchFamily="34" charset="-127"/>
              </a:rPr>
              <a:t>2</a:t>
            </a:r>
            <a:r>
              <a:rPr lang="ko-KR" altLang="en-US" sz="1600" dirty="0">
                <a:latin typeface="NanumGothic" panose="020D0604000000000000" pitchFamily="34" charset="-127"/>
                <a:ea typeface="NanumGothic" panose="020D0604000000000000" pitchFamily="34" charset="-127"/>
              </a:rPr>
              <a:t>가지로</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a:t>
            </a:r>
            <a:r>
              <a:rPr lang="en-US" altLang="ko-KR" sz="1600" dirty="0">
                <a:latin typeface="NanumGothic" panose="020D0604000000000000" pitchFamily="34" charset="-127"/>
                <a:ea typeface="NanumGothic" panose="020D0604000000000000" pitchFamily="34" charset="-127"/>
              </a:rPr>
              <a:t>Stateless -&gt; Stateful</a:t>
            </a:r>
            <a:r>
              <a:rPr lang="ko-KR" altLang="en-US" sz="1600" dirty="0">
                <a:latin typeface="NanumGothic" panose="020D0604000000000000" pitchFamily="34" charset="-127"/>
                <a:ea typeface="NanumGothic" panose="020D0604000000000000" pitchFamily="34" charset="-127"/>
              </a:rPr>
              <a:t> 순서로 진행</a:t>
            </a:r>
            <a:endParaRPr lang="en-US" altLang="ko-KR" sz="1600" dirty="0">
              <a:latin typeface="NanumGothic" panose="020D0604000000000000" pitchFamily="34" charset="-127"/>
              <a:ea typeface="NanumGothic" panose="020D0604000000000000" pitchFamily="34" charset="-127"/>
            </a:endParaRPr>
          </a:p>
          <a:p>
            <a:pPr lvl="2"/>
            <a:r>
              <a:rPr lang="en-US" altLang="ko-KR" sz="1400" dirty="0">
                <a:latin typeface="NanumGothic" panose="020D0604000000000000" pitchFamily="34" charset="-127"/>
                <a:ea typeface="NanumGothic" panose="020D0604000000000000" pitchFamily="34" charset="-127"/>
              </a:rPr>
              <a:t>Stateless : </a:t>
            </a:r>
            <a:r>
              <a:rPr lang="ko-KR" altLang="en-US" sz="1400" dirty="0">
                <a:latin typeface="NanumGothic" panose="020D0604000000000000" pitchFamily="34" charset="-127"/>
                <a:ea typeface="NanumGothic" panose="020D0604000000000000" pitchFamily="34" charset="-127"/>
              </a:rPr>
              <a:t>상태에 접근하지 않고 실행되며</a:t>
            </a:r>
            <a:r>
              <a:rPr lang="en-US" altLang="ko-KR" sz="1400" dirty="0">
                <a:latin typeface="NanumGothic" panose="020D0604000000000000" pitchFamily="34" charset="-127"/>
                <a:ea typeface="NanumGothic" panose="020D0604000000000000" pitchFamily="34" charset="-127"/>
              </a:rPr>
              <a:t>,</a:t>
            </a:r>
            <a:r>
              <a:rPr lang="ko-KR" altLang="en-US" sz="1400" dirty="0">
                <a:latin typeface="NanumGothic" panose="020D0604000000000000" pitchFamily="34" charset="-127"/>
                <a:ea typeface="NanumGothic" panose="020D0604000000000000" pitchFamily="34" charset="-127"/>
              </a:rPr>
              <a:t> 서명</a:t>
            </a:r>
            <a:r>
              <a:rPr lang="en-US" altLang="ko-KR" sz="1400" dirty="0">
                <a:latin typeface="NanumGothic" panose="020D0604000000000000" pitchFamily="34" charset="-127"/>
                <a:ea typeface="NanumGothic" panose="020D0604000000000000" pitchFamily="34" charset="-127"/>
              </a:rPr>
              <a:t>,</a:t>
            </a:r>
            <a:r>
              <a:rPr lang="ko-KR" altLang="en-US" sz="1400" dirty="0">
                <a:latin typeface="NanumGothic" panose="020D0604000000000000" pitchFamily="34" charset="-127"/>
                <a:ea typeface="NanumGothic" panose="020D0604000000000000" pitchFamily="34" charset="-127"/>
              </a:rPr>
              <a:t> 주소 형식 등 검사</a:t>
            </a:r>
            <a:endParaRPr lang="en-US" altLang="ko-KR" sz="1400" dirty="0">
              <a:latin typeface="NanumGothic" panose="020D0604000000000000" pitchFamily="34" charset="-127"/>
              <a:ea typeface="NanumGothic" panose="020D0604000000000000" pitchFamily="34" charset="-127"/>
            </a:endParaRPr>
          </a:p>
          <a:p>
            <a:pPr lvl="2"/>
            <a:r>
              <a:rPr lang="en-US" altLang="ko-KR" sz="1400" dirty="0">
                <a:latin typeface="NanumGothic" panose="020D0604000000000000" pitchFamily="34" charset="-127"/>
                <a:ea typeface="NanumGothic" panose="020D0604000000000000" pitchFamily="34" charset="-127"/>
              </a:rPr>
              <a:t>Stateful : </a:t>
            </a:r>
            <a:r>
              <a:rPr lang="ko-KR" altLang="en-US" sz="1400" dirty="0">
                <a:latin typeface="NanumGothic" panose="020D0604000000000000" pitchFamily="34" charset="-127"/>
                <a:ea typeface="NanumGothic" panose="020D0604000000000000" pitchFamily="34" charset="-127"/>
              </a:rPr>
              <a:t>노드가 블록체인의 상태를 조회하여 트랜잭션의 세부 정보</a:t>
            </a:r>
            <a:r>
              <a:rPr lang="en-US" altLang="ko-KR" sz="1400" dirty="0">
                <a:latin typeface="NanumGothic" panose="020D0604000000000000" pitchFamily="34" charset="-127"/>
                <a:ea typeface="NanumGothic" panose="020D0604000000000000" pitchFamily="34" charset="-127"/>
              </a:rPr>
              <a:t>(</a:t>
            </a:r>
            <a:r>
              <a:rPr lang="ko-KR" altLang="en-US" sz="1400" dirty="0">
                <a:latin typeface="NanumGothic" panose="020D0604000000000000" pitchFamily="34" charset="-127"/>
                <a:ea typeface="NanumGothic" panose="020D0604000000000000" pitchFamily="34" charset="-127"/>
              </a:rPr>
              <a:t>자산 보유 여부 등</a:t>
            </a:r>
            <a:r>
              <a:rPr lang="en-US" altLang="ko-KR" sz="1400" dirty="0">
                <a:latin typeface="NanumGothic" panose="020D0604000000000000" pitchFamily="34" charset="-127"/>
                <a:ea typeface="NanumGothic" panose="020D0604000000000000" pitchFamily="34" charset="-127"/>
              </a:rPr>
              <a:t>)</a:t>
            </a:r>
            <a:r>
              <a:rPr lang="ko-KR" altLang="en-US" sz="1400" dirty="0" err="1">
                <a:latin typeface="NanumGothic" panose="020D0604000000000000" pitchFamily="34" charset="-127"/>
                <a:ea typeface="NanumGothic" panose="020D0604000000000000" pitchFamily="34" charset="-127"/>
              </a:rPr>
              <a:t>를</a:t>
            </a:r>
            <a:r>
              <a:rPr lang="ko-KR" altLang="en-US" sz="1400" dirty="0">
                <a:latin typeface="NanumGothic" panose="020D0604000000000000" pitchFamily="34" charset="-127"/>
                <a:ea typeface="NanumGothic" panose="020D0604000000000000" pitchFamily="34" charset="-127"/>
              </a:rPr>
              <a:t> 확인</a:t>
            </a:r>
            <a:r>
              <a:rPr lang="en-US" altLang="ko-KR" sz="1400" dirty="0">
                <a:latin typeface="NanumGothic" panose="020D0604000000000000" pitchFamily="34" charset="-127"/>
                <a:ea typeface="NanumGothic" panose="020D0604000000000000" pitchFamily="34" charset="-127"/>
              </a:rPr>
              <a:t>	</a:t>
            </a:r>
          </a:p>
          <a:p>
            <a:r>
              <a:rPr lang="ko-KR" altLang="en-US" sz="2000" dirty="0">
                <a:latin typeface="NanumGothic" panose="020D0604000000000000" pitchFamily="34" charset="-127"/>
                <a:ea typeface="NanumGothic" panose="020D0604000000000000" pitchFamily="34" charset="-127"/>
              </a:rPr>
              <a:t>트랜잭션 블록 포함</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제안자</a:t>
            </a:r>
            <a:r>
              <a:rPr lang="en-US" altLang="ko-KR" sz="1600" dirty="0">
                <a:latin typeface="NanumGothic" panose="020D0604000000000000" pitchFamily="34" charset="-127"/>
                <a:ea typeface="NanumGothic" panose="020D0604000000000000" pitchFamily="34" charset="-127"/>
              </a:rPr>
              <a:t>(proposer)</a:t>
            </a:r>
            <a:r>
              <a:rPr lang="ko-KR" altLang="en-US" sz="1600" dirty="0">
                <a:latin typeface="NanumGothic" panose="020D0604000000000000" pitchFamily="34" charset="-127"/>
                <a:ea typeface="NanumGothic" panose="020D0604000000000000" pitchFamily="34" charset="-127"/>
              </a:rPr>
              <a:t>가 </a:t>
            </a:r>
            <a:r>
              <a:rPr lang="en-US" altLang="ko-KR" sz="1600" dirty="0" err="1">
                <a:latin typeface="NanumGothic" panose="020D0604000000000000" pitchFamily="34" charset="-127"/>
                <a:ea typeface="NanumGothic" panose="020D0604000000000000" pitchFamily="34" charset="-127"/>
              </a:rPr>
              <a:t>cometBFT</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통해 새로운 블록 제안</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투표를 거쳐 해당 트랜잭션이 블록에 포함될지 여부 결정</a:t>
            </a:r>
            <a:endParaRPr lang="en-US" altLang="ko-KR" sz="1600" dirty="0">
              <a:latin typeface="NanumGothic" panose="020D0604000000000000" pitchFamily="34" charset="-127"/>
              <a:ea typeface="NanumGothic" panose="020D0604000000000000" pitchFamily="34" charset="-127"/>
            </a:endParaRPr>
          </a:p>
          <a:p>
            <a:pPr marL="457200" indent="-457200">
              <a:buAutoNum type="arabicPeriod"/>
            </a:pPr>
            <a:endParaRPr lang="en-US" altLang="ko-KR" sz="20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742462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ko-KR" altLang="en-US" sz="4000" dirty="0">
                <a:latin typeface="NanumGothic" panose="020D0604000000000000" pitchFamily="34" charset="-127"/>
                <a:ea typeface="NanumGothic" panose="020D0604000000000000" pitchFamily="34" charset="-127"/>
              </a:rPr>
              <a:t>트랜잭션 라이프사이클</a:t>
            </a:r>
            <a:r>
              <a:rPr lang="en-US" altLang="ko-KR" sz="4000" dirty="0">
                <a:latin typeface="NanumGothic" panose="020D0604000000000000" pitchFamily="34" charset="-127"/>
                <a:ea typeface="NanumGothic" panose="020D0604000000000000" pitchFamily="34" charset="-127"/>
              </a:rPr>
              <a:t>[3/7]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트랜잭션 실행</a:t>
            </a:r>
            <a:endParaRPr lang="en-US" altLang="ko-KR" sz="20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트랜잭션이 포함된 블록이 검증되면</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a:t>
            </a:r>
            <a:r>
              <a:rPr lang="en-US" altLang="ko-KR" sz="1600" dirty="0" err="1">
                <a:latin typeface="NanumGothic" panose="020D0604000000000000" pitchFamily="34" charset="-127"/>
                <a:ea typeface="NanumGothic" panose="020D0604000000000000" pitchFamily="34" charset="-127"/>
              </a:rPr>
              <a:t>DeliverTx</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함수를 통해 트랜잭션 실행</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트랜잭션의 상태 변화가 블록체인의 상태 변화에 반영</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r>
              <a:rPr lang="ko-KR" altLang="en-US" sz="2000" dirty="0">
                <a:latin typeface="NanumGothic" panose="020D0604000000000000" pitchFamily="34" charset="-127"/>
                <a:ea typeface="NanumGothic" panose="020D0604000000000000" pitchFamily="34" charset="-127"/>
              </a:rPr>
              <a:t>블록 </a:t>
            </a:r>
            <a:r>
              <a:rPr lang="ko-KR" altLang="en-US" sz="2000" dirty="0" err="1">
                <a:latin typeface="NanumGothic" panose="020D0604000000000000" pitchFamily="34" charset="-127"/>
                <a:ea typeface="NanumGothic" panose="020D0604000000000000" pitchFamily="34" charset="-127"/>
              </a:rPr>
              <a:t>커밋</a:t>
            </a:r>
            <a:endParaRPr lang="en-US" altLang="ko-KR" sz="2000" dirty="0">
              <a:latin typeface="NanumGothic" panose="020D0604000000000000" pitchFamily="34" charset="-127"/>
              <a:ea typeface="NanumGothic" panose="020D0604000000000000" pitchFamily="34" charset="-127"/>
            </a:endParaRPr>
          </a:p>
          <a:p>
            <a:pPr lvl="1"/>
            <a:r>
              <a:rPr lang="ko-KR" altLang="en-US" sz="1600" dirty="0" err="1">
                <a:latin typeface="NanumGothic" panose="020D0604000000000000" pitchFamily="34" charset="-127"/>
                <a:ea typeface="NanumGothic" panose="020D0604000000000000" pitchFamily="34" charset="-127"/>
              </a:rPr>
              <a:t>검증자</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집합의 </a:t>
            </a:r>
            <a:r>
              <a:rPr lang="en-US" altLang="ko-KR" sz="1600" dirty="0">
                <a:latin typeface="NanumGothic" panose="020D0604000000000000" pitchFamily="34" charset="-127"/>
                <a:ea typeface="NanumGothic" panose="020D0604000000000000" pitchFamily="34" charset="-127"/>
              </a:rPr>
              <a:t>voting power</a:t>
            </a:r>
            <a:r>
              <a:rPr lang="ko-KR" altLang="en-US" sz="1600" dirty="0">
                <a:latin typeface="NanumGothic" panose="020D0604000000000000" pitchFamily="34" charset="-127"/>
                <a:ea typeface="NanumGothic" panose="020D0604000000000000" pitchFamily="34" charset="-127"/>
              </a:rPr>
              <a:t>가 전체의 </a:t>
            </a:r>
            <a:r>
              <a:rPr lang="en-US" altLang="ko-KR" sz="1600" dirty="0">
                <a:latin typeface="NanumGothic" panose="020D0604000000000000" pitchFamily="34" charset="-127"/>
                <a:ea typeface="NanumGothic" panose="020D0604000000000000" pitchFamily="34" charset="-127"/>
              </a:rPr>
              <a:t>2/3</a:t>
            </a:r>
            <a:r>
              <a:rPr lang="ko-KR" altLang="en-US" sz="1600" dirty="0">
                <a:latin typeface="NanumGothic" panose="020D0604000000000000" pitchFamily="34" charset="-127"/>
                <a:ea typeface="NanumGothic" panose="020D0604000000000000" pitchFamily="34" charset="-127"/>
              </a:rPr>
              <a:t> 이상인 경우</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새로운 블록 </a:t>
            </a:r>
            <a:r>
              <a:rPr lang="ko-KR" altLang="en-US" sz="1600" dirty="0" err="1">
                <a:latin typeface="NanumGothic" panose="020D0604000000000000" pitchFamily="34" charset="-127"/>
                <a:ea typeface="NanumGothic" panose="020D0604000000000000" pitchFamily="34" charset="-127"/>
              </a:rPr>
              <a:t>커밋</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새롭게 생성된 </a:t>
            </a:r>
            <a:r>
              <a:rPr lang="ko-KR" altLang="en-US" sz="1600" dirty="0" err="1">
                <a:latin typeface="NanumGothic" panose="020D0604000000000000" pitchFamily="34" charset="-127"/>
                <a:ea typeface="NanumGothic" panose="020D0604000000000000" pitchFamily="34" charset="-127"/>
              </a:rPr>
              <a:t>머클루트</a:t>
            </a:r>
            <a:r>
              <a:rPr lang="en-US" altLang="ko-KR" sz="1600" dirty="0">
                <a:latin typeface="NanumGothic" panose="020D0604000000000000" pitchFamily="34" charset="-127"/>
                <a:ea typeface="NanumGothic" panose="020D0604000000000000" pitchFamily="34" charset="-127"/>
              </a:rPr>
              <a:t>(Merkle root)</a:t>
            </a:r>
            <a:r>
              <a:rPr lang="ko-KR" altLang="en-US" sz="1600" dirty="0">
                <a:latin typeface="NanumGothic" panose="020D0604000000000000" pitchFamily="34" charset="-127"/>
                <a:ea typeface="NanumGothic" panose="020D0604000000000000" pitchFamily="34" charset="-127"/>
              </a:rPr>
              <a:t> 값이 블록체인에 기록 </a:t>
            </a:r>
            <a:r>
              <a:rPr lang="en-US" altLang="ko-KR" sz="1600" dirty="0">
                <a:latin typeface="NanumGothic" panose="020D0604000000000000" pitchFamily="34" charset="-127"/>
                <a:ea typeface="NanumGothic" panose="020D0604000000000000" pitchFamily="34" charset="-127"/>
              </a:rPr>
              <a:t>(</a:t>
            </a:r>
            <a:r>
              <a:rPr lang="en-US" altLang="ko-KR" sz="1600" dirty="0" err="1">
                <a:latin typeface="NanumGothic" panose="020D0604000000000000" pitchFamily="34" charset="-127"/>
                <a:ea typeface="NanumGothic" panose="020D0604000000000000" pitchFamily="34" charset="-127"/>
              </a:rPr>
              <a:t>DeliverState</a:t>
            </a:r>
            <a:r>
              <a:rPr lang="en-US" altLang="ko-KR" sz="1600" dirty="0">
                <a:latin typeface="NanumGothic" panose="020D0604000000000000" pitchFamily="34" charset="-127"/>
                <a:ea typeface="NanumGothic" panose="020D0604000000000000" pitchFamily="34" charset="-127"/>
              </a:rPr>
              <a:t>)</a:t>
            </a:r>
          </a:p>
        </p:txBody>
      </p:sp>
      <p:sp>
        <p:nvSpPr>
          <p:cNvPr id="5" name="Rectangle 4">
            <a:extLst>
              <a:ext uri="{FF2B5EF4-FFF2-40B4-BE49-F238E27FC236}">
                <a16:creationId xmlns:a16="http://schemas.microsoft.com/office/drawing/2014/main" id="{7A0F1B87-2257-E0FF-439F-22EA8BC1DB18}"/>
              </a:ext>
            </a:extLst>
          </p:cNvPr>
          <p:cNvSpPr/>
          <p:nvPr/>
        </p:nvSpPr>
        <p:spPr>
          <a:xfrm>
            <a:off x="1600549" y="2766654"/>
            <a:ext cx="9441824" cy="11957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300" b="1" dirty="0">
                <a:solidFill>
                  <a:schemeClr val="tx1"/>
                </a:solidFill>
                <a:latin typeface="NanumGothic" panose="020D0604000000000000" pitchFamily="34" charset="-127"/>
                <a:ea typeface="NanumGothic" panose="020D0604000000000000" pitchFamily="34" charset="-127"/>
              </a:rPr>
              <a:t>트랜잭션 실행 과정</a:t>
            </a:r>
            <a:endParaRPr lang="en-US" altLang="ko-KR" sz="1300" b="1" dirty="0">
              <a:solidFill>
                <a:schemeClr val="tx1"/>
              </a:solidFill>
              <a:latin typeface="NanumGothic" panose="020D0604000000000000" pitchFamily="34" charset="-127"/>
              <a:ea typeface="NanumGothic" panose="020D0604000000000000" pitchFamily="34" charset="-127"/>
            </a:endParaRPr>
          </a:p>
          <a:p>
            <a:pPr marL="342900" indent="-342900">
              <a:buAutoNum type="arabicPeriod"/>
            </a:pPr>
            <a:r>
              <a:rPr lang="ko-KR" altLang="en-US" sz="1300" dirty="0">
                <a:solidFill>
                  <a:schemeClr val="tx1"/>
                </a:solidFill>
                <a:latin typeface="NanumGothic" panose="020D0604000000000000" pitchFamily="34" charset="-127"/>
                <a:ea typeface="NanumGothic" panose="020D0604000000000000" pitchFamily="34" charset="-127"/>
              </a:rPr>
              <a:t>트랜잭션 디코딩 </a:t>
            </a:r>
            <a:r>
              <a:rPr lang="en-US" altLang="ko-KR" sz="1300" dirty="0">
                <a:solidFill>
                  <a:schemeClr val="tx1"/>
                </a:solidFill>
                <a:latin typeface="NanumGothic" panose="020D0604000000000000" pitchFamily="34" charset="-127"/>
                <a:ea typeface="NanumGothic" panose="020D0604000000000000" pitchFamily="34" charset="-127"/>
              </a:rPr>
              <a:t>:</a:t>
            </a:r>
            <a:r>
              <a:rPr lang="ko-KR" altLang="en-US" sz="1300" dirty="0">
                <a:solidFill>
                  <a:schemeClr val="tx1"/>
                </a:solidFill>
                <a:latin typeface="NanumGothic" panose="020D0604000000000000" pitchFamily="34" charset="-127"/>
                <a:ea typeface="NanumGothic" panose="020D0604000000000000" pitchFamily="34" charset="-127"/>
              </a:rPr>
              <a:t> 노드는 </a:t>
            </a:r>
            <a:r>
              <a:rPr lang="en-US" altLang="ko-KR" sz="1300" dirty="0">
                <a:solidFill>
                  <a:schemeClr val="tx1"/>
                </a:solidFill>
                <a:latin typeface="NanumGothic" panose="020D0604000000000000" pitchFamily="34" charset="-127"/>
                <a:ea typeface="NanumGothic" panose="020D0604000000000000" pitchFamily="34" charset="-127"/>
              </a:rPr>
              <a:t>[]byte </a:t>
            </a:r>
            <a:r>
              <a:rPr lang="ko-KR" altLang="en-US" sz="1300" dirty="0">
                <a:solidFill>
                  <a:schemeClr val="tx1"/>
                </a:solidFill>
                <a:latin typeface="NanumGothic" panose="020D0604000000000000" pitchFamily="34" charset="-127"/>
                <a:ea typeface="NanumGothic" panose="020D0604000000000000" pitchFamily="34" charset="-127"/>
              </a:rPr>
              <a:t>형태의 트랜잭션 </a:t>
            </a:r>
            <a:r>
              <a:rPr lang="ko-KR" altLang="en-US" sz="1300" dirty="0" err="1">
                <a:solidFill>
                  <a:schemeClr val="tx1"/>
                </a:solidFill>
                <a:latin typeface="NanumGothic" panose="020D0604000000000000" pitchFamily="34" charset="-127"/>
                <a:ea typeface="NanumGothic" panose="020D0604000000000000" pitchFamily="34" charset="-127"/>
              </a:rPr>
              <a:t>언마샬링</a:t>
            </a:r>
            <a:endParaRPr lang="en-US" altLang="ko-KR" sz="1300" dirty="0">
              <a:solidFill>
                <a:schemeClr val="tx1"/>
              </a:solidFill>
              <a:latin typeface="NanumGothic" panose="020D0604000000000000" pitchFamily="34" charset="-127"/>
              <a:ea typeface="NanumGothic" panose="020D0604000000000000" pitchFamily="34" charset="-127"/>
            </a:endParaRPr>
          </a:p>
          <a:p>
            <a:pPr marL="342900" indent="-342900">
              <a:buAutoNum type="arabicPeriod"/>
            </a:pPr>
            <a:r>
              <a:rPr lang="en-US" altLang="ko-KR" sz="1300" dirty="0" err="1">
                <a:solidFill>
                  <a:schemeClr val="tx1"/>
                </a:solidFill>
                <a:latin typeface="NanumGothic" panose="020D0604000000000000" pitchFamily="34" charset="-127"/>
                <a:ea typeface="NanumGothic" panose="020D0604000000000000" pitchFamily="34" charset="-127"/>
              </a:rPr>
              <a:t>AnteHandler</a:t>
            </a:r>
            <a:r>
              <a:rPr lang="ko-KR" altLang="en-US" sz="1300" dirty="0" err="1">
                <a:solidFill>
                  <a:schemeClr val="tx1"/>
                </a:solidFill>
                <a:latin typeface="NanumGothic" panose="020D0604000000000000" pitchFamily="34" charset="-127"/>
                <a:ea typeface="NanumGothic" panose="020D0604000000000000" pitchFamily="34" charset="-127"/>
              </a:rPr>
              <a:t>를</a:t>
            </a:r>
            <a:r>
              <a:rPr lang="ko-KR" altLang="en-US" sz="1300" dirty="0">
                <a:solidFill>
                  <a:schemeClr val="tx1"/>
                </a:solidFill>
                <a:latin typeface="NanumGothic" panose="020D0604000000000000" pitchFamily="34" charset="-127"/>
                <a:ea typeface="NanumGothic" panose="020D0604000000000000" pitchFamily="34" charset="-127"/>
              </a:rPr>
              <a:t> 통한 추가 검증 </a:t>
            </a:r>
            <a:r>
              <a:rPr lang="en-US" altLang="ko-KR" sz="1300" dirty="0">
                <a:solidFill>
                  <a:schemeClr val="tx1"/>
                </a:solidFill>
                <a:latin typeface="NanumGothic" panose="020D0604000000000000" pitchFamily="34" charset="-127"/>
                <a:ea typeface="NanumGothic" panose="020D0604000000000000" pitchFamily="34" charset="-127"/>
              </a:rPr>
              <a:t>:</a:t>
            </a:r>
            <a:r>
              <a:rPr lang="ko-KR" altLang="en-US" sz="1300" dirty="0">
                <a:solidFill>
                  <a:schemeClr val="tx1"/>
                </a:solidFill>
                <a:latin typeface="NanumGothic" panose="020D0604000000000000" pitchFamily="34" charset="-127"/>
                <a:ea typeface="NanumGothic" panose="020D0604000000000000" pitchFamily="34" charset="-127"/>
              </a:rPr>
              <a:t> 서명 확인</a:t>
            </a:r>
            <a:r>
              <a:rPr lang="en-US" altLang="ko-KR" sz="1300" dirty="0">
                <a:solidFill>
                  <a:schemeClr val="tx1"/>
                </a:solidFill>
                <a:latin typeface="NanumGothic" panose="020D0604000000000000" pitchFamily="34" charset="-127"/>
                <a:ea typeface="NanumGothic" panose="020D0604000000000000" pitchFamily="34" charset="-127"/>
              </a:rPr>
              <a:t>,</a:t>
            </a:r>
            <a:r>
              <a:rPr lang="ko-KR" altLang="en-US" sz="1300" dirty="0">
                <a:solidFill>
                  <a:schemeClr val="tx1"/>
                </a:solidFill>
                <a:latin typeface="NanumGothic" panose="020D0604000000000000" pitchFamily="34" charset="-127"/>
                <a:ea typeface="NanumGothic" panose="020D0604000000000000" pitchFamily="34" charset="-127"/>
              </a:rPr>
              <a:t> 가스 사용량 계산 등</a:t>
            </a:r>
            <a:endParaRPr lang="en-US" altLang="ko-KR" sz="1300" dirty="0">
              <a:solidFill>
                <a:schemeClr val="tx1"/>
              </a:solidFill>
              <a:latin typeface="NanumGothic" panose="020D0604000000000000" pitchFamily="34" charset="-127"/>
              <a:ea typeface="NanumGothic" panose="020D0604000000000000" pitchFamily="34" charset="-127"/>
            </a:endParaRPr>
          </a:p>
          <a:p>
            <a:pPr marL="342900" indent="-342900">
              <a:buAutoNum type="arabicPeriod"/>
            </a:pPr>
            <a:r>
              <a:rPr lang="ko-KR" altLang="en-US" sz="1300" dirty="0">
                <a:solidFill>
                  <a:schemeClr val="tx1"/>
                </a:solidFill>
                <a:latin typeface="NanumGothic" panose="020D0604000000000000" pitchFamily="34" charset="-127"/>
                <a:ea typeface="NanumGothic" panose="020D0604000000000000" pitchFamily="34" charset="-127"/>
              </a:rPr>
              <a:t>트랜잭션 실행 및 상태 변경</a:t>
            </a:r>
            <a:endParaRPr lang="en-US" altLang="ko-KR" sz="1300" dirty="0">
              <a:solidFill>
                <a:schemeClr val="tx1"/>
              </a:solidFill>
              <a:latin typeface="NanumGothic" panose="020D0604000000000000" pitchFamily="34" charset="-127"/>
              <a:ea typeface="NanumGothic" panose="020D0604000000000000" pitchFamily="34" charset="-127"/>
            </a:endParaRPr>
          </a:p>
          <a:p>
            <a:pPr marL="342900" indent="-342900">
              <a:buAutoNum type="arabicPeriod"/>
            </a:pPr>
            <a:r>
              <a:rPr lang="ko-KR" altLang="en-US" sz="1300" dirty="0">
                <a:solidFill>
                  <a:schemeClr val="tx1"/>
                </a:solidFill>
                <a:latin typeface="NanumGothic" panose="020D0604000000000000" pitchFamily="34" charset="-127"/>
                <a:ea typeface="NanumGothic" panose="020D0604000000000000" pitchFamily="34" charset="-127"/>
              </a:rPr>
              <a:t>실행된 트랜잭션에 대한 이벤트 기록</a:t>
            </a:r>
            <a:endParaRPr lang="en-US" altLang="ko-KR" sz="1300" dirty="0">
              <a:solidFill>
                <a:schemeClr val="tx1"/>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48485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ko-KR" altLang="en-US" sz="4000" dirty="0">
                <a:latin typeface="NanumGothic" panose="020D0604000000000000" pitchFamily="34" charset="-127"/>
                <a:ea typeface="NanumGothic" panose="020D0604000000000000" pitchFamily="34" charset="-127"/>
              </a:rPr>
              <a:t>트랜잭션 라이프사이클</a:t>
            </a:r>
            <a:r>
              <a:rPr lang="en-US" altLang="ko-KR" sz="4000" dirty="0">
                <a:latin typeface="NanumGothic" panose="020D0604000000000000" pitchFamily="34" charset="-127"/>
                <a:ea typeface="NanumGothic" panose="020D0604000000000000" pitchFamily="34" charset="-127"/>
              </a:rPr>
              <a:t>[4/7]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ko-KR" altLang="en-US" sz="2000" dirty="0">
                <a:latin typeface="NanumGothic" panose="020D0604000000000000" pitchFamily="34" charset="-127"/>
                <a:ea typeface="NanumGothic" panose="020D0604000000000000" pitchFamily="34" charset="-127"/>
              </a:rPr>
              <a:t>트랜잭션 처리 및 검증 과정</a:t>
            </a:r>
            <a:endParaRPr lang="en-US" altLang="ko-KR" sz="1600" dirty="0">
              <a:latin typeface="NanumGothic" panose="020D0604000000000000" pitchFamily="34" charset="-127"/>
              <a:ea typeface="NanumGothic" panose="020D0604000000000000" pitchFamily="34" charset="-127"/>
            </a:endParaRPr>
          </a:p>
        </p:txBody>
      </p:sp>
      <p:pic>
        <p:nvPicPr>
          <p:cNvPr id="8" name="Picture 7">
            <a:extLst>
              <a:ext uri="{FF2B5EF4-FFF2-40B4-BE49-F238E27FC236}">
                <a16:creationId xmlns:a16="http://schemas.microsoft.com/office/drawing/2014/main" id="{9EE89171-28F7-C160-0D5A-61A262A9C712}"/>
              </a:ext>
            </a:extLst>
          </p:cNvPr>
          <p:cNvPicPr>
            <a:picLocks noChangeAspect="1"/>
          </p:cNvPicPr>
          <p:nvPr/>
        </p:nvPicPr>
        <p:blipFill>
          <a:blip r:embed="rId3"/>
          <a:stretch>
            <a:fillRect/>
          </a:stretch>
        </p:blipFill>
        <p:spPr>
          <a:xfrm>
            <a:off x="3077025" y="2393016"/>
            <a:ext cx="6037950" cy="4224353"/>
          </a:xfrm>
          <a:prstGeom prst="rect">
            <a:avLst/>
          </a:prstGeom>
        </p:spPr>
      </p:pic>
    </p:spTree>
    <p:extLst>
      <p:ext uri="{BB962C8B-B14F-4D97-AF65-F5344CB8AC3E}">
        <p14:creationId xmlns:p14="http://schemas.microsoft.com/office/powerpoint/2010/main" val="2385277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ko-KR" altLang="en-US" sz="4000" dirty="0">
                <a:latin typeface="NanumGothic" panose="020D0604000000000000" pitchFamily="34" charset="-127"/>
                <a:ea typeface="NanumGothic" panose="020D0604000000000000" pitchFamily="34" charset="-127"/>
              </a:rPr>
              <a:t>트랜잭션 라이프사이클</a:t>
            </a:r>
            <a:r>
              <a:rPr lang="en-US" altLang="ko-KR" sz="4000" dirty="0">
                <a:latin typeface="NanumGothic" panose="020D0604000000000000" pitchFamily="34" charset="-127"/>
                <a:ea typeface="NanumGothic" panose="020D0604000000000000" pitchFamily="34" charset="-127"/>
              </a:rPr>
              <a:t>[5/]7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en-US" altLang="ko-KR" sz="2000" dirty="0">
                <a:latin typeface="NanumGothic" panose="020D0604000000000000" pitchFamily="34" charset="-127"/>
                <a:ea typeface="NanumGothic" panose="020D0604000000000000" pitchFamily="34" charset="-127"/>
              </a:rPr>
              <a:t>MsgUpdateClient</a:t>
            </a:r>
          </a:p>
          <a:p>
            <a:pPr lvl="1"/>
            <a:r>
              <a:rPr lang="en-US" altLang="ko-KR" sz="1600" dirty="0">
                <a:latin typeface="NanumGothic" panose="020D0604000000000000" pitchFamily="34" charset="-127"/>
                <a:ea typeface="NanumGothic" panose="020D0604000000000000" pitchFamily="34" charset="-127"/>
              </a:rPr>
              <a:t>IBC</a:t>
            </a:r>
            <a:r>
              <a:rPr lang="ko-KR" altLang="en-US" sz="1600" dirty="0">
                <a:latin typeface="NanumGothic" panose="020D0604000000000000" pitchFamily="34" charset="-127"/>
                <a:ea typeface="NanumGothic" panose="020D0604000000000000" pitchFamily="34" charset="-127"/>
              </a:rPr>
              <a:t> 클라이언트를 최신 상태로 업데이트</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올바른 블록 헤더 상태 검증을 위해 트랜잭션 전송 전</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 수신 이후 모두 호출</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다양한 타입의 </a:t>
            </a:r>
            <a:r>
              <a:rPr lang="en-US" altLang="ko-KR" sz="1600" dirty="0" err="1">
                <a:latin typeface="NanumGothic" panose="020D0604000000000000" pitchFamily="34" charset="-127"/>
                <a:ea typeface="NanumGothic" panose="020D0604000000000000" pitchFamily="34" charset="-127"/>
              </a:rPr>
              <a:t>ClientMessage</a:t>
            </a:r>
            <a:r>
              <a:rPr lang="ko-KR" altLang="en-US" sz="1600" dirty="0">
                <a:latin typeface="NanumGothic" panose="020D0604000000000000" pitchFamily="34" charset="-127"/>
                <a:ea typeface="NanumGothic" panose="020D0604000000000000" pitchFamily="34" charset="-127"/>
              </a:rPr>
              <a:t> 적용 가능</a:t>
            </a:r>
            <a:endParaRPr lang="en-US" altLang="ko-KR" sz="1600" dirty="0">
              <a:latin typeface="NanumGothic" panose="020D0604000000000000" pitchFamily="34" charset="-127"/>
              <a:ea typeface="NanumGothic" panose="020D0604000000000000" pitchFamily="34" charset="-127"/>
            </a:endParaRPr>
          </a:p>
          <a:p>
            <a:pPr lvl="2"/>
            <a:r>
              <a:rPr lang="ko-KR" altLang="en-US" sz="1400" dirty="0">
                <a:latin typeface="NanumGothic" panose="020D0604000000000000" pitchFamily="34" charset="-127"/>
                <a:ea typeface="NanumGothic" panose="020D0604000000000000" pitchFamily="34" charset="-127"/>
              </a:rPr>
              <a:t>기존에는 </a:t>
            </a:r>
            <a:r>
              <a:rPr lang="en-US" altLang="ko-KR" sz="1400" dirty="0" err="1">
                <a:latin typeface="NanumGothic" panose="020D0604000000000000" pitchFamily="34" charset="-127"/>
                <a:ea typeface="NanumGothic" panose="020D0604000000000000" pitchFamily="34" charset="-127"/>
              </a:rPr>
              <a:t>ClientMessage</a:t>
            </a:r>
            <a:r>
              <a:rPr lang="ko-KR" altLang="en-US" sz="1400" dirty="0">
                <a:latin typeface="NanumGothic" panose="020D0604000000000000" pitchFamily="34" charset="-127"/>
                <a:ea typeface="NanumGothic" panose="020D0604000000000000" pitchFamily="34" charset="-127"/>
              </a:rPr>
              <a:t>의 </a:t>
            </a:r>
            <a:r>
              <a:rPr lang="en-US" altLang="ko-KR" sz="1400" dirty="0" err="1">
                <a:latin typeface="NanumGothic" panose="020D0604000000000000" pitchFamily="34" charset="-127"/>
                <a:ea typeface="NanumGothic" panose="020D0604000000000000" pitchFamily="34" charset="-127"/>
              </a:rPr>
              <a:t>ValidateBasic</a:t>
            </a:r>
            <a:r>
              <a:rPr lang="ko-KR" altLang="en-US" sz="1400" dirty="0">
                <a:latin typeface="NanumGothic" panose="020D0604000000000000" pitchFamily="34" charset="-127"/>
                <a:ea typeface="NanumGothic" panose="020D0604000000000000" pitchFamily="34" charset="-127"/>
              </a:rPr>
              <a:t>을 통해 </a:t>
            </a:r>
            <a:r>
              <a:rPr lang="en-US" altLang="ko-KR" sz="1400" dirty="0">
                <a:latin typeface="NanumGothic" panose="020D0604000000000000" pitchFamily="34" charset="-127"/>
                <a:ea typeface="NanumGothic" panose="020D0604000000000000" pitchFamily="34" charset="-127"/>
              </a:rPr>
              <a:t>Stateless </a:t>
            </a:r>
            <a:r>
              <a:rPr lang="ko-KR" altLang="en-US" sz="1400" dirty="0">
                <a:latin typeface="NanumGothic" panose="020D0604000000000000" pitchFamily="34" charset="-127"/>
                <a:ea typeface="NanumGothic" panose="020D0604000000000000" pitchFamily="34" charset="-127"/>
              </a:rPr>
              <a:t>검증을 진행했으나</a:t>
            </a:r>
            <a:r>
              <a:rPr lang="en-US" altLang="ko-KR" sz="1400" dirty="0">
                <a:latin typeface="NanumGothic" panose="020D0604000000000000" pitchFamily="34" charset="-127"/>
                <a:ea typeface="NanumGothic" panose="020D0604000000000000" pitchFamily="34" charset="-127"/>
              </a:rPr>
              <a:t>,</a:t>
            </a:r>
            <a:r>
              <a:rPr lang="ko-KR" altLang="en-US" sz="1400" dirty="0">
                <a:latin typeface="NanumGothic" panose="020D0604000000000000" pitchFamily="34" charset="-127"/>
                <a:ea typeface="NanumGothic" panose="020D0604000000000000" pitchFamily="34" charset="-127"/>
              </a:rPr>
              <a:t> 현재는 </a:t>
            </a:r>
            <a:r>
              <a:rPr lang="en-US" altLang="ko-KR" sz="1400" dirty="0" err="1">
                <a:latin typeface="NanumGothic" panose="020D0604000000000000" pitchFamily="34" charset="-127"/>
                <a:ea typeface="NanumGothic" panose="020D0604000000000000" pitchFamily="34" charset="-127"/>
              </a:rPr>
              <a:t>msgServer</a:t>
            </a:r>
            <a:r>
              <a:rPr lang="ko-KR" altLang="en-US" sz="1400" dirty="0">
                <a:latin typeface="NanumGothic" panose="020D0604000000000000" pitchFamily="34" charset="-127"/>
                <a:ea typeface="NanumGothic" panose="020D0604000000000000" pitchFamily="34" charset="-127"/>
              </a:rPr>
              <a:t>에서 모두 진행</a:t>
            </a:r>
            <a:endParaRPr lang="en-US" altLang="ko-KR" sz="14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릴레이어로부터 </a:t>
            </a:r>
            <a:r>
              <a:rPr lang="en-US" altLang="ko-KR" sz="1600" dirty="0">
                <a:latin typeface="NanumGothic" panose="020D0604000000000000" pitchFamily="34" charset="-127"/>
                <a:ea typeface="NanumGothic" panose="020D0604000000000000" pitchFamily="34" charset="-127"/>
              </a:rPr>
              <a:t>MsgUpdateClient</a:t>
            </a:r>
            <a:r>
              <a:rPr lang="ko-KR" altLang="en-US" sz="1600" dirty="0">
                <a:latin typeface="NanumGothic" panose="020D0604000000000000" pitchFamily="34" charset="-127"/>
                <a:ea typeface="NanumGothic" panose="020D0604000000000000" pitchFamily="34" charset="-127"/>
              </a:rPr>
              <a:t> 요청을 받은 </a:t>
            </a:r>
            <a:r>
              <a:rPr lang="en-US" altLang="ko-KR" sz="1600" dirty="0">
                <a:latin typeface="NanumGothic" panose="020D0604000000000000" pitchFamily="34" charset="-127"/>
                <a:ea typeface="NanumGothic" panose="020D0604000000000000" pitchFamily="34" charset="-127"/>
              </a:rPr>
              <a:t>IBC </a:t>
            </a:r>
            <a:r>
              <a:rPr lang="ko-KR" altLang="en-US" sz="1600" dirty="0">
                <a:latin typeface="NanumGothic" panose="020D0604000000000000" pitchFamily="34" charset="-127"/>
                <a:ea typeface="NanumGothic" panose="020D0604000000000000" pitchFamily="34" charset="-127"/>
              </a:rPr>
              <a:t>모듈은 </a:t>
            </a:r>
            <a:r>
              <a:rPr lang="en-US" altLang="ko-KR" sz="1600" dirty="0" err="1">
                <a:latin typeface="NanumGothic" panose="020D0604000000000000" pitchFamily="34" charset="-127"/>
                <a:ea typeface="NanumGothic" panose="020D0604000000000000" pitchFamily="34" charset="-127"/>
              </a:rPr>
              <a:t>UpdateClient</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호출</a:t>
            </a:r>
            <a:endParaRPr lang="en-US" altLang="ko-KR" sz="1600" dirty="0">
              <a:latin typeface="NanumGothic" panose="020D0604000000000000" pitchFamily="34" charset="-127"/>
              <a:ea typeface="NanumGothic" panose="020D0604000000000000" pitchFamily="34" charset="-127"/>
            </a:endParaRPr>
          </a:p>
        </p:txBody>
      </p:sp>
      <p:pic>
        <p:nvPicPr>
          <p:cNvPr id="7" name="Picture 6">
            <a:extLst>
              <a:ext uri="{FF2B5EF4-FFF2-40B4-BE49-F238E27FC236}">
                <a16:creationId xmlns:a16="http://schemas.microsoft.com/office/drawing/2014/main" id="{70767CB0-6CDD-1FCC-E0A9-7CD923114632}"/>
              </a:ext>
            </a:extLst>
          </p:cNvPr>
          <p:cNvPicPr>
            <a:picLocks noChangeAspect="1"/>
          </p:cNvPicPr>
          <p:nvPr/>
        </p:nvPicPr>
        <p:blipFill>
          <a:blip r:embed="rId3"/>
          <a:stretch>
            <a:fillRect/>
          </a:stretch>
        </p:blipFill>
        <p:spPr>
          <a:xfrm>
            <a:off x="1743576" y="3429000"/>
            <a:ext cx="3924300" cy="2197100"/>
          </a:xfrm>
          <a:prstGeom prst="rect">
            <a:avLst/>
          </a:prstGeom>
        </p:spPr>
      </p:pic>
    </p:spTree>
    <p:extLst>
      <p:ext uri="{BB962C8B-B14F-4D97-AF65-F5344CB8AC3E}">
        <p14:creationId xmlns:p14="http://schemas.microsoft.com/office/powerpoint/2010/main" val="3863582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ko-KR" altLang="en-US" sz="4000" dirty="0">
                <a:latin typeface="NanumGothic" panose="020D0604000000000000" pitchFamily="34" charset="-127"/>
                <a:ea typeface="NanumGothic" panose="020D0604000000000000" pitchFamily="34" charset="-127"/>
              </a:rPr>
              <a:t>트랜잭션 라이프사이클</a:t>
            </a:r>
            <a:r>
              <a:rPr lang="en-US" altLang="ko-KR" sz="4000" dirty="0">
                <a:latin typeface="NanumGothic" panose="020D0604000000000000" pitchFamily="34" charset="-127"/>
                <a:ea typeface="NanumGothic" panose="020D0604000000000000" pitchFamily="34" charset="-127"/>
              </a:rPr>
              <a:t>[6/7]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en-US" altLang="ko-KR" sz="2000" dirty="0" err="1">
                <a:latin typeface="NanumGothic" panose="020D0604000000000000" pitchFamily="34" charset="-127"/>
                <a:ea typeface="NanumGothic" panose="020D0604000000000000" pitchFamily="34" charset="-127"/>
              </a:rPr>
              <a:t>MsgTransfer</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ICS-20</a:t>
            </a:r>
            <a:r>
              <a:rPr lang="ko-KR" altLang="en-US" sz="1600" dirty="0" err="1">
                <a:latin typeface="NanumGothic" panose="020D0604000000000000" pitchFamily="34" charset="-127"/>
                <a:ea typeface="NanumGothic" panose="020D0604000000000000" pitchFamily="34" charset="-127"/>
              </a:rPr>
              <a:t>으로</a:t>
            </a:r>
            <a:r>
              <a:rPr lang="ko-KR" altLang="en-US" sz="1600" dirty="0">
                <a:latin typeface="NanumGothic" panose="020D0604000000000000" pitchFamily="34" charset="-127"/>
                <a:ea typeface="NanumGothic" panose="020D0604000000000000" pitchFamily="34" charset="-127"/>
              </a:rPr>
              <a:t> 정의된 토큰을 전송하기 위한 메시지</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p:txBody>
      </p:sp>
      <p:pic>
        <p:nvPicPr>
          <p:cNvPr id="8" name="Picture 7">
            <a:extLst>
              <a:ext uri="{FF2B5EF4-FFF2-40B4-BE49-F238E27FC236}">
                <a16:creationId xmlns:a16="http://schemas.microsoft.com/office/drawing/2014/main" id="{8F13CEFD-1A9E-A390-5053-A59279EBCB1C}"/>
              </a:ext>
            </a:extLst>
          </p:cNvPr>
          <p:cNvPicPr>
            <a:picLocks noChangeAspect="1"/>
          </p:cNvPicPr>
          <p:nvPr/>
        </p:nvPicPr>
        <p:blipFill>
          <a:blip r:embed="rId3"/>
          <a:stretch>
            <a:fillRect/>
          </a:stretch>
        </p:blipFill>
        <p:spPr>
          <a:xfrm>
            <a:off x="2710138" y="2572588"/>
            <a:ext cx="5893818" cy="3788108"/>
          </a:xfrm>
          <a:prstGeom prst="rect">
            <a:avLst/>
          </a:prstGeom>
        </p:spPr>
      </p:pic>
      <p:sp>
        <p:nvSpPr>
          <p:cNvPr id="9" name="TextBox 8">
            <a:extLst>
              <a:ext uri="{FF2B5EF4-FFF2-40B4-BE49-F238E27FC236}">
                <a16:creationId xmlns:a16="http://schemas.microsoft.com/office/drawing/2014/main" id="{A676CC5A-151D-0F34-0AE3-DB7124B7F22A}"/>
              </a:ext>
            </a:extLst>
          </p:cNvPr>
          <p:cNvSpPr txBox="1"/>
          <p:nvPr/>
        </p:nvSpPr>
        <p:spPr>
          <a:xfrm>
            <a:off x="1589170" y="6392780"/>
            <a:ext cx="8135753" cy="292388"/>
          </a:xfrm>
          <a:prstGeom prst="rect">
            <a:avLst/>
          </a:prstGeom>
          <a:noFill/>
        </p:spPr>
        <p:txBody>
          <a:bodyPr wrap="none" rtlCol="0">
            <a:spAutoFit/>
          </a:bodyPr>
          <a:lstStyle/>
          <a:p>
            <a:r>
              <a:rPr lang="en-US" altLang="ko-KR" sz="1300" dirty="0" err="1"/>
              <a:t>ibc</a:t>
            </a:r>
            <a:r>
              <a:rPr lang="en-US" altLang="ko-KR" sz="1300" dirty="0"/>
              <a:t>-go</a:t>
            </a:r>
            <a:r>
              <a:rPr lang="ko-KR" altLang="en-US" sz="1300" dirty="0"/>
              <a:t>애서 </a:t>
            </a:r>
            <a:r>
              <a:rPr lang="en-US" altLang="ko-KR" sz="1300" dirty="0" err="1"/>
              <a:t>TestMsgTransfer</a:t>
            </a:r>
            <a:r>
              <a:rPr lang="ko-KR" altLang="en-US" sz="1300" dirty="0"/>
              <a:t>와 </a:t>
            </a:r>
            <a:r>
              <a:rPr lang="en-US" altLang="ko-KR" sz="1300" dirty="0" err="1"/>
              <a:t>TestHandleMsgTransfer</a:t>
            </a:r>
            <a:r>
              <a:rPr lang="ko-KR" altLang="en-US" sz="1300" dirty="0"/>
              <a:t>에 작성된 테스트 내용을 기반으로 </a:t>
            </a:r>
            <a:r>
              <a:rPr lang="en-US" altLang="ko-KR" sz="1300" dirty="0" err="1"/>
              <a:t>MsgTransfer</a:t>
            </a:r>
            <a:r>
              <a:rPr lang="ko-KR" altLang="en-US" sz="1300" dirty="0"/>
              <a:t>의 동작 로직</a:t>
            </a:r>
            <a:endParaRPr lang="en-KR" sz="1300" dirty="0"/>
          </a:p>
        </p:txBody>
      </p:sp>
    </p:spTree>
    <p:extLst>
      <p:ext uri="{BB962C8B-B14F-4D97-AF65-F5344CB8AC3E}">
        <p14:creationId xmlns:p14="http://schemas.microsoft.com/office/powerpoint/2010/main" val="3149000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632F-D4DA-B7C8-0BA4-F7BACC8726B0}"/>
              </a:ext>
            </a:extLst>
          </p:cNvPr>
          <p:cNvSpPr>
            <a:spLocks noGrp="1"/>
          </p:cNvSpPr>
          <p:nvPr>
            <p:ph type="title"/>
          </p:nvPr>
        </p:nvSpPr>
        <p:spPr>
          <a:xfrm>
            <a:off x="838200" y="365126"/>
            <a:ext cx="10515600" cy="757822"/>
          </a:xfrm>
        </p:spPr>
        <p:txBody>
          <a:bodyPr>
            <a:normAutofit/>
          </a:bodyPr>
          <a:lstStyle/>
          <a:p>
            <a:r>
              <a:rPr lang="ko-KR" altLang="en-US" sz="4000" dirty="0">
                <a:latin typeface="NanumGothic" panose="020D0604000000000000" pitchFamily="34" charset="-127"/>
                <a:ea typeface="NanumGothic" panose="020D0604000000000000" pitchFamily="34" charset="-127"/>
              </a:rPr>
              <a:t>트랜잭션 라이프사이클</a:t>
            </a:r>
            <a:r>
              <a:rPr lang="en-US" altLang="ko-KR" sz="4000" dirty="0">
                <a:latin typeface="NanumGothic" panose="020D0604000000000000" pitchFamily="34" charset="-127"/>
                <a:ea typeface="NanumGothic" panose="020D0604000000000000" pitchFamily="34" charset="-127"/>
              </a:rPr>
              <a:t>[7/7]</a:t>
            </a:r>
            <a:endParaRPr lang="en-KR" sz="4000" dirty="0">
              <a:latin typeface="NanumGothic" panose="020D0604000000000000" pitchFamily="34" charset="-127"/>
              <a:ea typeface="NanumGothic" panose="020D0604000000000000" pitchFamily="34" charset="-127"/>
            </a:endParaRPr>
          </a:p>
        </p:txBody>
      </p:sp>
      <p:sp>
        <p:nvSpPr>
          <p:cNvPr id="4" name="Title 1">
            <a:extLst>
              <a:ext uri="{FF2B5EF4-FFF2-40B4-BE49-F238E27FC236}">
                <a16:creationId xmlns:a16="http://schemas.microsoft.com/office/drawing/2014/main" id="{1D7A9F1B-F15D-582A-ECD4-83ABDC53C904}"/>
              </a:ext>
            </a:extLst>
          </p:cNvPr>
          <p:cNvSpPr txBox="1">
            <a:spLocks/>
          </p:cNvSpPr>
          <p:nvPr/>
        </p:nvSpPr>
        <p:spPr>
          <a:xfrm>
            <a:off x="838200" y="1130969"/>
            <a:ext cx="10515600" cy="24693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altLang="ko-KR" sz="1000" dirty="0"/>
              <a:t>IBC</a:t>
            </a:r>
            <a:r>
              <a:rPr lang="ko-KR" altLang="en-US" sz="1000" dirty="0"/>
              <a:t> 토큰 전송 절차 분석</a:t>
            </a:r>
          </a:p>
        </p:txBody>
      </p:sp>
      <p:cxnSp>
        <p:nvCxnSpPr>
          <p:cNvPr id="6" name="Straight Connector 5">
            <a:extLst>
              <a:ext uri="{FF2B5EF4-FFF2-40B4-BE49-F238E27FC236}">
                <a16:creationId xmlns:a16="http://schemas.microsoft.com/office/drawing/2014/main" id="{39BDCDF5-0DB8-997D-0ED6-C634328DA79C}"/>
              </a:ext>
            </a:extLst>
          </p:cNvPr>
          <p:cNvCxnSpPr/>
          <p:nvPr/>
        </p:nvCxnSpPr>
        <p:spPr>
          <a:xfrm>
            <a:off x="838200" y="1379621"/>
            <a:ext cx="10515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D7E1D-D4A6-6431-94AC-6ABE8F49E57C}"/>
              </a:ext>
            </a:extLst>
          </p:cNvPr>
          <p:cNvSpPr>
            <a:spLocks noGrp="1"/>
          </p:cNvSpPr>
          <p:nvPr>
            <p:ph idx="1"/>
          </p:nvPr>
        </p:nvSpPr>
        <p:spPr>
          <a:xfrm>
            <a:off x="838200" y="1766004"/>
            <a:ext cx="10515600" cy="4594692"/>
          </a:xfrm>
        </p:spPr>
        <p:txBody>
          <a:bodyPr>
            <a:normAutofit/>
          </a:bodyPr>
          <a:lstStyle/>
          <a:p>
            <a:r>
              <a:rPr lang="en-US" altLang="ko-KR" sz="2000" dirty="0" err="1">
                <a:latin typeface="NanumGothic" panose="020D0604000000000000" pitchFamily="34" charset="-127"/>
                <a:ea typeface="NanumGothic" panose="020D0604000000000000" pitchFamily="34" charset="-127"/>
              </a:rPr>
              <a:t>TransferKeeper</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IBC </a:t>
            </a:r>
            <a:r>
              <a:rPr lang="ko-KR" altLang="en-US" sz="1600" dirty="0">
                <a:latin typeface="NanumGothic" panose="020D0604000000000000" pitchFamily="34" charset="-127"/>
                <a:ea typeface="NanumGothic" panose="020D0604000000000000" pitchFamily="34" charset="-127"/>
              </a:rPr>
              <a:t>프로토콜을 기반으로 </a:t>
            </a:r>
            <a:r>
              <a:rPr lang="en-US" altLang="ko-KR" sz="1600" dirty="0" err="1">
                <a:latin typeface="NanumGothic" panose="020D0604000000000000" pitchFamily="34" charset="-127"/>
                <a:ea typeface="NanumGothic" panose="020D0604000000000000" pitchFamily="34" charset="-127"/>
              </a:rPr>
              <a:t>MsgTransfer</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통해 서로 다른 체인 간 자산</a:t>
            </a:r>
            <a:r>
              <a:rPr lang="en-US" altLang="ko-KR" sz="1600" dirty="0">
                <a:latin typeface="NanumGothic" panose="020D0604000000000000" pitchFamily="34" charset="-127"/>
                <a:ea typeface="NanumGothic" panose="020D0604000000000000" pitchFamily="34" charset="-127"/>
              </a:rPr>
              <a:t>(ICS-20</a:t>
            </a:r>
            <a:r>
              <a:rPr lang="ko-KR" altLang="en-US" sz="1600" dirty="0">
                <a:latin typeface="NanumGothic" panose="020D0604000000000000" pitchFamily="34" charset="-127"/>
                <a:ea typeface="NanumGothic" panose="020D0604000000000000" pitchFamily="34" charset="-127"/>
              </a:rPr>
              <a:t> 표준 준수</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을 전송</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체인 간 전송된 자산을 </a:t>
            </a:r>
            <a:r>
              <a:rPr lang="en-US" altLang="ko-KR" sz="1600" dirty="0">
                <a:latin typeface="NanumGothic" panose="020D0604000000000000" pitchFamily="34" charset="-127"/>
                <a:ea typeface="NanumGothic" panose="020D0604000000000000" pitchFamily="34" charset="-127"/>
              </a:rPr>
              <a:t>escrow(</a:t>
            </a:r>
            <a:r>
              <a:rPr lang="ko-KR" altLang="en-US" sz="1600" dirty="0">
                <a:latin typeface="NanumGothic" panose="020D0604000000000000" pitchFamily="34" charset="-127"/>
                <a:ea typeface="NanumGothic" panose="020D0604000000000000" pitchFamily="34" charset="-127"/>
              </a:rPr>
              <a:t>잠금</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또는 소각</a:t>
            </a:r>
            <a:r>
              <a:rPr lang="en-US" altLang="ko-KR" sz="1600" dirty="0">
                <a:latin typeface="NanumGothic" panose="020D0604000000000000" pitchFamily="34" charset="-127"/>
                <a:ea typeface="NanumGothic" panose="020D0604000000000000" pitchFamily="34" charset="-127"/>
              </a:rPr>
              <a:t>(burn)</a:t>
            </a:r>
            <a:r>
              <a:rPr lang="ko-KR" altLang="en-US" sz="1600" dirty="0">
                <a:latin typeface="NanumGothic" panose="020D0604000000000000" pitchFamily="34" charset="-127"/>
                <a:ea typeface="NanumGothic" panose="020D0604000000000000" pitchFamily="34" charset="-127"/>
              </a:rPr>
              <a:t>한 후</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해당 자산과 동일한 가치를 지니는 바우처 토큰을 상대 체인에서 발행</a:t>
            </a:r>
            <a:r>
              <a:rPr lang="en-US" altLang="ko-KR" sz="1600" dirty="0">
                <a:latin typeface="NanumGothic" panose="020D0604000000000000" pitchFamily="34" charset="-127"/>
                <a:ea typeface="NanumGothic" panose="020D0604000000000000" pitchFamily="34" charset="-127"/>
              </a:rPr>
              <a:t>(mint)</a:t>
            </a:r>
            <a:r>
              <a:rPr lang="ko-KR" altLang="en-US" sz="1600" dirty="0">
                <a:latin typeface="NanumGothic" panose="020D0604000000000000" pitchFamily="34" charset="-127"/>
                <a:ea typeface="NanumGothic" panose="020D0604000000000000" pitchFamily="34" charset="-127"/>
              </a:rPr>
              <a:t> </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자산 전송에 해당하는 </a:t>
            </a:r>
            <a:r>
              <a:rPr lang="en-US" altLang="ko-KR" sz="1600" dirty="0">
                <a:latin typeface="NanumGothic" panose="020D0604000000000000" pitchFamily="34" charset="-127"/>
                <a:ea typeface="NanumGothic" panose="020D0604000000000000" pitchFamily="34" charset="-127"/>
              </a:rPr>
              <a:t>IBC </a:t>
            </a:r>
            <a:r>
              <a:rPr lang="ko-KR" altLang="en-US" sz="1600" dirty="0">
                <a:latin typeface="NanumGothic" panose="020D0604000000000000" pitchFamily="34" charset="-127"/>
                <a:ea typeface="NanumGothic" panose="020D0604000000000000" pitchFamily="34" charset="-127"/>
              </a:rPr>
              <a:t>패킷을 생성하고</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해당 패킷에 대한 </a:t>
            </a:r>
            <a:r>
              <a:rPr lang="ko-KR" altLang="en-US" sz="1600" dirty="0" err="1">
                <a:latin typeface="NanumGothic" panose="020D0604000000000000" pitchFamily="34" charset="-127"/>
                <a:ea typeface="NanumGothic" panose="020D0604000000000000" pitchFamily="34" charset="-127"/>
              </a:rPr>
              <a:t>머클</a:t>
            </a:r>
            <a:r>
              <a:rPr lang="ko-KR" altLang="en-US" sz="1600" dirty="0">
                <a:latin typeface="NanumGothic" panose="020D0604000000000000" pitchFamily="34" charset="-127"/>
                <a:ea typeface="NanumGothic" panose="020D0604000000000000" pitchFamily="34" charset="-127"/>
              </a:rPr>
              <a:t> 증명을 통해 안전한 자산 전송 보장</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패킷은 </a:t>
            </a:r>
            <a:r>
              <a:rPr lang="ko-KR" altLang="en-US" sz="1600" dirty="0" err="1">
                <a:latin typeface="NanumGothic" panose="020D0604000000000000" pitchFamily="34" charset="-127"/>
                <a:ea typeface="NanumGothic" panose="020D0604000000000000" pitchFamily="34" charset="-127"/>
              </a:rPr>
              <a:t>릴레이어를</a:t>
            </a:r>
            <a:r>
              <a:rPr lang="ko-KR" altLang="en-US" sz="1600" dirty="0">
                <a:latin typeface="NanumGothic" panose="020D0604000000000000" pitchFamily="34" charset="-127"/>
                <a:ea typeface="NanumGothic" panose="020D0604000000000000" pitchFamily="34" charset="-127"/>
              </a:rPr>
              <a:t> 통해 소스 체인에서 싱크 체인으로 전달</a:t>
            </a:r>
            <a:endParaRPr lang="en-US" altLang="ko-KR" sz="1600" dirty="0">
              <a:latin typeface="NanumGothic" panose="020D0604000000000000" pitchFamily="34" charset="-127"/>
              <a:ea typeface="NanumGothic" panose="020D0604000000000000" pitchFamily="34" charset="-127"/>
            </a:endParaRPr>
          </a:p>
          <a:p>
            <a:r>
              <a:rPr lang="en-US" altLang="ko-KR" sz="2000" dirty="0" err="1">
                <a:latin typeface="NanumGothic" panose="020D0604000000000000" pitchFamily="34" charset="-127"/>
                <a:ea typeface="NanumGothic" panose="020D0604000000000000" pitchFamily="34" charset="-127"/>
              </a:rPr>
              <a:t>BankKeeper</a:t>
            </a:r>
            <a:endParaRPr lang="en-US" altLang="ko-KR" sz="2000" dirty="0">
              <a:latin typeface="NanumGothic" panose="020D0604000000000000" pitchFamily="34" charset="-127"/>
              <a:ea typeface="NanumGothic" panose="020D0604000000000000" pitchFamily="34" charset="-127"/>
            </a:endParaRPr>
          </a:p>
          <a:p>
            <a:pPr lvl="1"/>
            <a:r>
              <a:rPr lang="en-US" altLang="ko-KR" sz="1600" dirty="0">
                <a:latin typeface="NanumGothic" panose="020D0604000000000000" pitchFamily="34" charset="-127"/>
                <a:ea typeface="NanumGothic" panose="020D0604000000000000" pitchFamily="34" charset="-127"/>
              </a:rPr>
              <a:t>IBC </a:t>
            </a:r>
            <a:r>
              <a:rPr lang="ko-KR" altLang="en-US" sz="1600" dirty="0">
                <a:latin typeface="NanumGothic" panose="020D0604000000000000" pitchFamily="34" charset="-127"/>
                <a:ea typeface="NanumGothic" panose="020D0604000000000000" pitchFamily="34" charset="-127"/>
              </a:rPr>
              <a:t>프로토콜을 기반으로 </a:t>
            </a:r>
            <a:r>
              <a:rPr lang="en-US" altLang="ko-KR" sz="1600" dirty="0" err="1">
                <a:latin typeface="NanumGothic" panose="020D0604000000000000" pitchFamily="34" charset="-127"/>
                <a:ea typeface="NanumGothic" panose="020D0604000000000000" pitchFamily="34" charset="-127"/>
              </a:rPr>
              <a:t>MsgTransfer</a:t>
            </a:r>
            <a:r>
              <a:rPr lang="ko-KR" altLang="en-US" sz="1600" dirty="0" err="1">
                <a:latin typeface="NanumGothic" panose="020D0604000000000000" pitchFamily="34" charset="-127"/>
                <a:ea typeface="NanumGothic" panose="020D0604000000000000" pitchFamily="34" charset="-127"/>
              </a:rPr>
              <a:t>를</a:t>
            </a:r>
            <a:r>
              <a:rPr lang="ko-KR" altLang="en-US" sz="1600" dirty="0">
                <a:latin typeface="NanumGothic" panose="020D0604000000000000" pitchFamily="34" charset="-127"/>
                <a:ea typeface="NanumGothic" panose="020D0604000000000000" pitchFamily="34" charset="-127"/>
              </a:rPr>
              <a:t> 통해 서로 다른 체인 간 자산</a:t>
            </a:r>
            <a:r>
              <a:rPr lang="en-US" altLang="ko-KR" sz="1600" dirty="0">
                <a:latin typeface="NanumGothic" panose="020D0604000000000000" pitchFamily="34" charset="-127"/>
                <a:ea typeface="NanumGothic" panose="020D0604000000000000" pitchFamily="34" charset="-127"/>
              </a:rPr>
              <a:t>(ICS-20 </a:t>
            </a:r>
            <a:r>
              <a:rPr lang="ko-KR" altLang="en-US" sz="1600" dirty="0">
                <a:latin typeface="NanumGothic" panose="020D0604000000000000" pitchFamily="34" charset="-127"/>
                <a:ea typeface="NanumGothic" panose="020D0604000000000000" pitchFamily="34" charset="-127"/>
              </a:rPr>
              <a:t>표준 준수</a:t>
            </a:r>
            <a:r>
              <a:rPr lang="en-US" altLang="ko-KR" sz="1600" dirty="0">
                <a:latin typeface="NanumGothic" panose="020D0604000000000000" pitchFamily="34" charset="-127"/>
                <a:ea typeface="NanumGothic" panose="020D0604000000000000" pitchFamily="34" charset="-127"/>
              </a:rPr>
              <a:t>)</a:t>
            </a:r>
            <a:r>
              <a:rPr lang="ko-KR" altLang="en-US" sz="1600" dirty="0">
                <a:latin typeface="NanumGothic" panose="020D0604000000000000" pitchFamily="34" charset="-127"/>
                <a:ea typeface="NanumGothic" panose="020D0604000000000000" pitchFamily="34" charset="-127"/>
              </a:rPr>
              <a:t>을 전송</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체인 간 전송된 자산을 </a:t>
            </a:r>
            <a:r>
              <a:rPr lang="en-US" altLang="ko-KR" sz="1600" dirty="0">
                <a:latin typeface="NanumGothic" panose="020D0604000000000000" pitchFamily="34" charset="-127"/>
                <a:ea typeface="NanumGothic" panose="020D0604000000000000" pitchFamily="34" charset="-127"/>
              </a:rPr>
              <a:t>escrow(</a:t>
            </a:r>
            <a:r>
              <a:rPr lang="ko-KR" altLang="en-US" sz="1600" dirty="0">
                <a:latin typeface="NanumGothic" panose="020D0604000000000000" pitchFamily="34" charset="-127"/>
                <a:ea typeface="NanumGothic" panose="020D0604000000000000" pitchFamily="34" charset="-127"/>
              </a:rPr>
              <a:t>잠금</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또는 소각</a:t>
            </a:r>
            <a:r>
              <a:rPr lang="en-US" altLang="ko-KR" sz="1600" dirty="0">
                <a:latin typeface="NanumGothic" panose="020D0604000000000000" pitchFamily="34" charset="-127"/>
                <a:ea typeface="NanumGothic" panose="020D0604000000000000" pitchFamily="34" charset="-127"/>
              </a:rPr>
              <a:t>(burn)</a:t>
            </a:r>
            <a:r>
              <a:rPr lang="ko-KR" altLang="en-US" sz="1600" dirty="0">
                <a:latin typeface="NanumGothic" panose="020D0604000000000000" pitchFamily="34" charset="-127"/>
                <a:ea typeface="NanumGothic" panose="020D0604000000000000" pitchFamily="34" charset="-127"/>
              </a:rPr>
              <a:t>한 후</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해당 자산과 동일한 가치를 지니는 바우처 토큰을 상대 체인에서 발행</a:t>
            </a:r>
            <a:r>
              <a:rPr lang="en-US" altLang="ko-KR" sz="1600" dirty="0">
                <a:latin typeface="NanumGothic" panose="020D0604000000000000" pitchFamily="34" charset="-127"/>
                <a:ea typeface="NanumGothic" panose="020D0604000000000000" pitchFamily="34" charset="-127"/>
              </a:rPr>
              <a:t>(mint)</a:t>
            </a:r>
            <a:r>
              <a:rPr lang="ko-KR" altLang="en-US" sz="1600" dirty="0">
                <a:latin typeface="NanumGothic" panose="020D0604000000000000" pitchFamily="34" charset="-127"/>
                <a:ea typeface="NanumGothic" panose="020D0604000000000000" pitchFamily="34" charset="-127"/>
              </a:rPr>
              <a:t> </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자산 전송에 해당하는 </a:t>
            </a:r>
            <a:r>
              <a:rPr lang="en-US" altLang="ko-KR" sz="1600" dirty="0">
                <a:latin typeface="NanumGothic" panose="020D0604000000000000" pitchFamily="34" charset="-127"/>
                <a:ea typeface="NanumGothic" panose="020D0604000000000000" pitchFamily="34" charset="-127"/>
              </a:rPr>
              <a:t>IBC </a:t>
            </a:r>
            <a:r>
              <a:rPr lang="ko-KR" altLang="en-US" sz="1600" dirty="0">
                <a:latin typeface="NanumGothic" panose="020D0604000000000000" pitchFamily="34" charset="-127"/>
                <a:ea typeface="NanumGothic" panose="020D0604000000000000" pitchFamily="34" charset="-127"/>
              </a:rPr>
              <a:t>패킷을 생성하고</a:t>
            </a:r>
            <a:r>
              <a:rPr lang="en-US" altLang="ko-KR" sz="1600" dirty="0">
                <a:latin typeface="NanumGothic" panose="020D0604000000000000" pitchFamily="34" charset="-127"/>
                <a:ea typeface="NanumGothic" panose="020D0604000000000000" pitchFamily="34" charset="-127"/>
              </a:rPr>
              <a:t>, </a:t>
            </a:r>
            <a:r>
              <a:rPr lang="ko-KR" altLang="en-US" sz="1600" dirty="0">
                <a:latin typeface="NanumGothic" panose="020D0604000000000000" pitchFamily="34" charset="-127"/>
                <a:ea typeface="NanumGothic" panose="020D0604000000000000" pitchFamily="34" charset="-127"/>
              </a:rPr>
              <a:t>해당 패킷에 대한 </a:t>
            </a:r>
            <a:r>
              <a:rPr lang="ko-KR" altLang="en-US" sz="1600" dirty="0" err="1">
                <a:latin typeface="NanumGothic" panose="020D0604000000000000" pitchFamily="34" charset="-127"/>
                <a:ea typeface="NanumGothic" panose="020D0604000000000000" pitchFamily="34" charset="-127"/>
              </a:rPr>
              <a:t>머클</a:t>
            </a:r>
            <a:r>
              <a:rPr lang="ko-KR" altLang="en-US" sz="1600" dirty="0">
                <a:latin typeface="NanumGothic" panose="020D0604000000000000" pitchFamily="34" charset="-127"/>
                <a:ea typeface="NanumGothic" panose="020D0604000000000000" pitchFamily="34" charset="-127"/>
              </a:rPr>
              <a:t> 증명을 통해 안전한 자산 전송 보장</a:t>
            </a:r>
            <a:endParaRPr lang="en-US" altLang="ko-KR" sz="1600" dirty="0">
              <a:latin typeface="NanumGothic" panose="020D0604000000000000" pitchFamily="34" charset="-127"/>
              <a:ea typeface="NanumGothic" panose="020D0604000000000000" pitchFamily="34" charset="-127"/>
            </a:endParaRPr>
          </a:p>
          <a:p>
            <a:pPr lvl="1"/>
            <a:r>
              <a:rPr lang="ko-KR" altLang="en-US" sz="1600" dirty="0">
                <a:latin typeface="NanumGothic" panose="020D0604000000000000" pitchFamily="34" charset="-127"/>
                <a:ea typeface="NanumGothic" panose="020D0604000000000000" pitchFamily="34" charset="-127"/>
              </a:rPr>
              <a:t>패킷은 </a:t>
            </a:r>
            <a:r>
              <a:rPr lang="ko-KR" altLang="en-US" sz="1600" dirty="0" err="1">
                <a:latin typeface="NanumGothic" panose="020D0604000000000000" pitchFamily="34" charset="-127"/>
                <a:ea typeface="NanumGothic" panose="020D0604000000000000" pitchFamily="34" charset="-127"/>
              </a:rPr>
              <a:t>릴레이어를</a:t>
            </a:r>
            <a:r>
              <a:rPr lang="ko-KR" altLang="en-US" sz="1600" dirty="0">
                <a:latin typeface="NanumGothic" panose="020D0604000000000000" pitchFamily="34" charset="-127"/>
                <a:ea typeface="NanumGothic" panose="020D0604000000000000" pitchFamily="34" charset="-127"/>
              </a:rPr>
              <a:t> 통해 소스 체인에서 싱크 체인으로 전달</a:t>
            </a:r>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a:p>
            <a:pPr lvl="1"/>
            <a:endParaRPr lang="en-US" altLang="ko-KR" sz="1600" dirty="0">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941908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1039</TotalTime>
  <Words>5149</Words>
  <Application>Microsoft Macintosh PowerPoint</Application>
  <PresentationFormat>Widescreen</PresentationFormat>
  <Paragraphs>565</Paragraphs>
  <Slides>32</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-apple-system</vt:lpstr>
      <vt:lpstr>.SF NS</vt:lpstr>
      <vt:lpstr>Inter var</vt:lpstr>
      <vt:lpstr>NanumGothic</vt:lpstr>
      <vt:lpstr>Arial</vt:lpstr>
      <vt:lpstr>Calibri</vt:lpstr>
      <vt:lpstr>Calibri Light</vt:lpstr>
      <vt:lpstr>Menlo</vt:lpstr>
      <vt:lpstr>Times New Roman</vt:lpstr>
      <vt:lpstr>Office Theme</vt:lpstr>
      <vt:lpstr>Cosmos IBC 과제 발표</vt:lpstr>
      <vt:lpstr>목차</vt:lpstr>
      <vt:lpstr>IBC Overview [1/2]</vt:lpstr>
      <vt:lpstr>IBC Overview [2/2]</vt:lpstr>
      <vt:lpstr>Client [1/7]</vt:lpstr>
      <vt:lpstr>Client [2/7]</vt:lpstr>
      <vt:lpstr>Client [3/7]</vt:lpstr>
      <vt:lpstr>Client [4/7]</vt:lpstr>
      <vt:lpstr>Client [5/7]</vt:lpstr>
      <vt:lpstr>Client [6/7]</vt:lpstr>
      <vt:lpstr>Client [7/7]</vt:lpstr>
      <vt:lpstr>Bridge</vt:lpstr>
      <vt:lpstr>IBC</vt:lpstr>
      <vt:lpstr>IBC와 Bridge 기술 비교 [1/2]</vt:lpstr>
      <vt:lpstr>IBC와 Bridge 기술 비교 [2/2]</vt:lpstr>
      <vt:lpstr>ICS-20 Transfer Overview</vt:lpstr>
      <vt:lpstr>Connection[1/2]</vt:lpstr>
      <vt:lpstr>Connection[2/2]</vt:lpstr>
      <vt:lpstr>Channel[1/2]</vt:lpstr>
      <vt:lpstr>Channel[2/2]</vt:lpstr>
      <vt:lpstr>Token Transfer[1/5]</vt:lpstr>
      <vt:lpstr>Token Transfer[2/5]</vt:lpstr>
      <vt:lpstr>Token Transfer[3/5]</vt:lpstr>
      <vt:lpstr>Token Transfer[4/5]</vt:lpstr>
      <vt:lpstr>Token Transfer[5/5]</vt:lpstr>
      <vt:lpstr>트랜잭션 라이프사이클[1/7]</vt:lpstr>
      <vt:lpstr>트랜잭션 라이프사이클[2/7]</vt:lpstr>
      <vt:lpstr>트랜잭션 라이프사이클[3/7]</vt:lpstr>
      <vt:lpstr>트랜잭션 라이프사이클[4/7]</vt:lpstr>
      <vt:lpstr>트랜잭션 라이프사이클[5/]7</vt:lpstr>
      <vt:lpstr>트랜잭션 라이프사이클[6/7]</vt:lpstr>
      <vt:lpstr>트랜잭션 라이프사이클[7/7]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Cosmos IBC 과제 발표</dc:title>
  <dc:creator>wonjoon Lee</dc:creator>
  <cp:lastModifiedBy>wonjoon Lee</cp:lastModifiedBy>
  <cp:revision>39</cp:revision>
  <dcterms:created xsi:type="dcterms:W3CDTF">2024-08-27T12:03:46Z</dcterms:created>
  <dcterms:modified xsi:type="dcterms:W3CDTF">2024-08-28T05:22:48Z</dcterms:modified>
</cp:coreProperties>
</file>